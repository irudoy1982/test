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814415267041ce" /><Relationship Type="http://schemas.openxmlformats.org/officeDocument/2006/relationships/extended-properties" Target="/docProps/app.xml" Id="Rcc06f41b5f9b47fd" /><Relationship Type="http://schemas.openxmlformats.org/officeDocument/2006/relationships/officeDocument" Target="/ppt/presentation.xml" Id="Re4a127845fb04b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9e67b6107c4459"/>
  </p:sldMasterIdLst>
  <p:notesMasterIdLst>
    <p:notesMasterId xmlns:r="http://schemas.openxmlformats.org/officeDocument/2006/relationships" r:id="Rf14e5a019c254229"/>
  </p:notesMasterIdLst>
  <p:sldIdLst>
    <p:sldId xmlns:r="http://schemas.openxmlformats.org/officeDocument/2006/relationships" id="256" r:id="R91c332032cba45be"/>
    <p:sldId xmlns:r="http://schemas.openxmlformats.org/officeDocument/2006/relationships" id="257" r:id="R5b1519344b13476e"/>
    <p:sldId xmlns:r="http://schemas.openxmlformats.org/officeDocument/2006/relationships" id="258" r:id="R63544cd9cc5148ae"/>
    <p:sldId xmlns:r="http://schemas.openxmlformats.org/officeDocument/2006/relationships" id="259" r:id="Rec38b5e185ae44c3"/>
    <p:sldId xmlns:r="http://schemas.openxmlformats.org/officeDocument/2006/relationships" id="260" r:id="Rdd708a1a7ba34e4e"/>
    <p:sldId xmlns:r="http://schemas.openxmlformats.org/officeDocument/2006/relationships" id="261" r:id="Rc8e41e2155c24800"/>
    <p:sldId xmlns:r="http://schemas.openxmlformats.org/officeDocument/2006/relationships" id="262" r:id="Rcd478b1993fe4da1"/>
    <p:sldId xmlns:r="http://schemas.openxmlformats.org/officeDocument/2006/relationships" id="263" r:id="Rcaf8c626bfc748d1"/>
    <p:sldId xmlns:r="http://schemas.openxmlformats.org/officeDocument/2006/relationships" id="264" r:id="R08c3a7ac0fd8431d"/>
    <p:sldId xmlns:r="http://schemas.openxmlformats.org/officeDocument/2006/relationships" id="265" r:id="R2dd08e2acc0346d8"/>
    <p:sldId xmlns:r="http://schemas.openxmlformats.org/officeDocument/2006/relationships" id="266" r:id="R0ee9bc4a49c948f4"/>
    <p:sldId xmlns:r="http://schemas.openxmlformats.org/officeDocument/2006/relationships" id="267" r:id="Rd17dd1b7a4b24ac6"/>
    <p:sldId xmlns:r="http://schemas.openxmlformats.org/officeDocument/2006/relationships" id="268" r:id="R36052396f4bf4b5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454b0c44684438" /><Relationship Type="http://schemas.openxmlformats.org/officeDocument/2006/relationships/slideMaster" Target="/ppt/slideMasters/slideMaster1.xml" Id="Rc49e67b6107c4459" /><Relationship Type="http://schemas.openxmlformats.org/officeDocument/2006/relationships/notesMaster" Target="/ppt/notesMasters/notesMaster1.xml" Id="Rf14e5a019c254229" /><Relationship Type="http://schemas.openxmlformats.org/officeDocument/2006/relationships/presProps" Target="/ppt/presProps.xml" Id="Rb757eefa87954f54" /><Relationship Type="http://schemas.openxmlformats.org/officeDocument/2006/relationships/tableStyles" Target="/ppt/tableStyles.xml" Id="Rae3fcf5cb45648d1" /><Relationship Type="http://schemas.openxmlformats.org/officeDocument/2006/relationships/slide" Target="/ppt/slides/slide1.xml" Id="R91c332032cba45be" /><Relationship Type="http://schemas.openxmlformats.org/officeDocument/2006/relationships/slide" Target="/ppt/slides/slide2.xml" Id="R5b1519344b13476e" /><Relationship Type="http://schemas.openxmlformats.org/officeDocument/2006/relationships/slide" Target="/ppt/slides/slide3.xml" Id="R63544cd9cc5148ae" /><Relationship Type="http://schemas.openxmlformats.org/officeDocument/2006/relationships/slide" Target="/ppt/slides/slide4.xml" Id="Rec38b5e185ae44c3" /><Relationship Type="http://schemas.openxmlformats.org/officeDocument/2006/relationships/slide" Target="/ppt/slides/slide5.xml" Id="Rdd708a1a7ba34e4e" /><Relationship Type="http://schemas.openxmlformats.org/officeDocument/2006/relationships/slide" Target="/ppt/slides/slide6.xml" Id="Rc8e41e2155c24800" /><Relationship Type="http://schemas.openxmlformats.org/officeDocument/2006/relationships/slide" Target="/ppt/slides/slide7.xml" Id="Rcd478b1993fe4da1" /><Relationship Type="http://schemas.openxmlformats.org/officeDocument/2006/relationships/slide" Target="/ppt/slides/slide8.xml" Id="Rcaf8c626bfc748d1" /><Relationship Type="http://schemas.openxmlformats.org/officeDocument/2006/relationships/slide" Target="/ppt/slides/slide9.xml" Id="R08c3a7ac0fd8431d" /><Relationship Type="http://schemas.openxmlformats.org/officeDocument/2006/relationships/slide" Target="/ppt/slides/slide10.xml" Id="R2dd08e2acc0346d8" /><Relationship Type="http://schemas.openxmlformats.org/officeDocument/2006/relationships/slide" Target="/ppt/slides/slide11.xml" Id="R0ee9bc4a49c948f4" /><Relationship Type="http://schemas.openxmlformats.org/officeDocument/2006/relationships/slide" Target="/ppt/slides/slide12.xml" Id="Rd17dd1b7a4b24ac6" /><Relationship Type="http://schemas.openxmlformats.org/officeDocument/2006/relationships/slide" Target="/ppt/slides/slide13.xml" Id="R36052396f4bf4b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848ce9216241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0991dbe27448e1" /><Relationship Type="http://schemas.openxmlformats.org/officeDocument/2006/relationships/notesMaster" Target="/ppt/notesMasters/notesMaster1.xml" Id="R45f5c564574944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47697f64e44b59" /><Relationship Type="http://schemas.openxmlformats.org/officeDocument/2006/relationships/notesMaster" Target="/ppt/notesMasters/notesMaster1.xml" Id="Rfca79f6ba2f240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1ba86513a2497b" /><Relationship Type="http://schemas.openxmlformats.org/officeDocument/2006/relationships/notesMaster" Target="/ppt/notesMasters/notesMaster1.xml" Id="Rb92cb3f2d6114d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076becbea040f6" /><Relationship Type="http://schemas.openxmlformats.org/officeDocument/2006/relationships/notesMaster" Target="/ppt/notesMasters/notesMaster1.xml" Id="R62c397a7589443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f5118e410e4b1b" /><Relationship Type="http://schemas.openxmlformats.org/officeDocument/2006/relationships/notesMaster" Target="/ppt/notesMasters/notesMaster1.xml" Id="R6242e847df234f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c6cb334ae64a03" /><Relationship Type="http://schemas.openxmlformats.org/officeDocument/2006/relationships/notesMaster" Target="/ppt/notesMasters/notesMaster1.xml" Id="Rea3f435834b649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cffec9aee8409c" /><Relationship Type="http://schemas.openxmlformats.org/officeDocument/2006/relationships/notesMaster" Target="/ppt/notesMasters/notesMaster1.xml" Id="Rf3e1e7cf062d48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8abf0e47c74360" /><Relationship Type="http://schemas.openxmlformats.org/officeDocument/2006/relationships/notesMaster" Target="/ppt/notesMasters/notesMaster1.xml" Id="R02a80dfb878f4e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748fe5a8524935" /><Relationship Type="http://schemas.openxmlformats.org/officeDocument/2006/relationships/notesMaster" Target="/ppt/notesMasters/notesMaster1.xml" Id="Rd95a66807f6347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516d3d7ab84040" /><Relationship Type="http://schemas.openxmlformats.org/officeDocument/2006/relationships/notesMaster" Target="/ppt/notesMasters/notesMaster1.xml" Id="R964e26db4dae4f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4572a47cce48f8" /><Relationship Type="http://schemas.openxmlformats.org/officeDocument/2006/relationships/notesMaster" Target="/ppt/notesMasters/notesMaster1.xml" Id="R240d2e4f4b9648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fd3fb360614d96" /><Relationship Type="http://schemas.openxmlformats.org/officeDocument/2006/relationships/notesMaster" Target="/ppt/notesMasters/notesMaster1.xml" Id="R44ff4b15941045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e44af19e2542c1" /><Relationship Type="http://schemas.openxmlformats.org/officeDocument/2006/relationships/notesMaster" Target="/ppt/notesMasters/notesMaster1.xml" Id="R9ea6fc9ee7fa40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96afbc4b5d43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665c8e06e349d2" /><Relationship Type="http://schemas.openxmlformats.org/officeDocument/2006/relationships/slideLayout" Target="/ppt/slideLayouts/slideLayout1.xml" Id="R2f3dcdada9174c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3dcdada9174c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3fcdf7b6c4864" /><Relationship Type="http://schemas.openxmlformats.org/officeDocument/2006/relationships/image" Target="/ppt/media/image.jpeg" Id="R85d4810ab63243ad" /><Relationship Type="http://schemas.openxmlformats.org/officeDocument/2006/relationships/image" Target="/ppt/media/image.png" Id="R470b3534e3ce4f11" /><Relationship Type="http://schemas.openxmlformats.org/officeDocument/2006/relationships/notesSlide" Target="/ppt/notesSlides/notesSlide1.xml" Id="R49ba32688e6147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93e3907d7403e" /><Relationship Type="http://schemas.openxmlformats.org/officeDocument/2006/relationships/image" Target="/ppt/media/image2.png" Id="Re91870f2ecbe4cd3" /><Relationship Type="http://schemas.openxmlformats.org/officeDocument/2006/relationships/image" Target="/ppt/media/image3.png" Id="Rc1e19d0ee2574ab8" /><Relationship Type="http://schemas.openxmlformats.org/officeDocument/2006/relationships/notesSlide" Target="/ppt/notesSlides/notesSlide2.xml" Id="R8f3ba9ca4c4b48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247bcd9d94d47" /><Relationship Type="http://schemas.openxmlformats.org/officeDocument/2006/relationships/image" Target="/ppt/media/image4.png" Id="Rfde0ccccdf5540c5" /><Relationship Type="http://schemas.openxmlformats.org/officeDocument/2006/relationships/notesSlide" Target="/ppt/notesSlides/notesSlide3.xml" Id="R42dc4dd54a2548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6582f6fda4418" /><Relationship Type="http://schemas.openxmlformats.org/officeDocument/2006/relationships/image" Target="/ppt/media/image5.png" Id="R05ed4ae72f2d408d" /><Relationship Type="http://schemas.openxmlformats.org/officeDocument/2006/relationships/notesSlide" Target="/ppt/notesSlides/notesSlide4.xml" Id="Re966ead079784a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2520175da4c79" /><Relationship Type="http://schemas.openxmlformats.org/officeDocument/2006/relationships/image" Target="/ppt/media/image6.png" Id="R84c1b4b94bff4234" /><Relationship Type="http://schemas.openxmlformats.org/officeDocument/2006/relationships/notesSlide" Target="/ppt/notesSlides/notesSlide5.xml" Id="R0d726f90c2394f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816ef7c6440a3" /><Relationship Type="http://schemas.openxmlformats.org/officeDocument/2006/relationships/image" Target="/ppt/media/image7.png" Id="R4fdddceec39a4bc3" /><Relationship Type="http://schemas.openxmlformats.org/officeDocument/2006/relationships/notesSlide" Target="/ppt/notesSlides/notesSlide6.xml" Id="Red6c903af5f943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734c3e65f4124" /><Relationship Type="http://schemas.openxmlformats.org/officeDocument/2006/relationships/image" Target="/ppt/media/image8.png" Id="Ree190270a3c54207" /><Relationship Type="http://schemas.openxmlformats.org/officeDocument/2006/relationships/notesSlide" Target="/ppt/notesSlides/notesSlide7.xml" Id="R0ac5f70809a24c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64cc8e4284ce8" /><Relationship Type="http://schemas.openxmlformats.org/officeDocument/2006/relationships/image" Target="/ppt/media/image9.png" Id="R27c0c3cc5e1f4e62" /><Relationship Type="http://schemas.openxmlformats.org/officeDocument/2006/relationships/notesSlide" Target="/ppt/notesSlides/notesSlide8.xml" Id="R06a3576fe23c4c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44c751ba440ed" /><Relationship Type="http://schemas.openxmlformats.org/officeDocument/2006/relationships/image" Target="/ppt/media/image10.png" Id="R88668ab9163d4998" /><Relationship Type="http://schemas.openxmlformats.org/officeDocument/2006/relationships/notesSlide" Target="/ppt/notesSlides/notesSlide9.xml" Id="R2cebf6b7106145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dc4dfe3aa4e6b" /><Relationship Type="http://schemas.openxmlformats.org/officeDocument/2006/relationships/image" Target="/ppt/media/image11.png" Id="Rf101702623fe44e6" /><Relationship Type="http://schemas.openxmlformats.org/officeDocument/2006/relationships/notesSlide" Target="/ppt/notesSlides/notesSlide10.xml" Id="R4e8b640885774f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6787a38134948" /><Relationship Type="http://schemas.openxmlformats.org/officeDocument/2006/relationships/image" Target="/ppt/media/image12.png" Id="R48d8fca5b2764ba7" /><Relationship Type="http://schemas.openxmlformats.org/officeDocument/2006/relationships/notesSlide" Target="/ppt/notesSlides/notesSlide11.xml" Id="R2d839eb9743b4e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96fa961df409c" /><Relationship Type="http://schemas.openxmlformats.org/officeDocument/2006/relationships/image" Target="/ppt/media/image13.png" Id="R70b475b9ead84141" /><Relationship Type="http://schemas.openxmlformats.org/officeDocument/2006/relationships/notesSlide" Target="/ppt/notesSlides/notesSlide12.xml" Id="Ra70e931d594f47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af95a5d714686" /><Relationship Type="http://schemas.openxmlformats.org/officeDocument/2006/relationships/image" Target="/ppt/media/image14.png" Id="Rd035fb96003a4ee1" /><Relationship Type="http://schemas.openxmlformats.org/officeDocument/2006/relationships/image" Target="/ppt/media/image15.png" Id="R4325c8278ed84b6f" /><Relationship Type="http://schemas.openxmlformats.org/officeDocument/2006/relationships/notesSlide" Target="/ppt/notesSlides/notesSlide13.xml" Id="R28472e883f5d49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CFD994-D3A8-44B5-851F-5CEC9308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CB630-AC0D-416D-98A1-CE23AC3A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7010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4810ab63243ad"/>
          <a:srcRect xmlns:a="http://schemas.openxmlformats.org/drawingml/2006/main" l="0" t="11037" r="0" b="110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FB138-B965-4B30-9E1C-54ED6B8F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b3534e3ce4f11"/>
          <a:stretch xmlns:a="http://schemas.openxmlformats.org/drawingml/2006/main"/>
        </p:blipFill>
        <p:spPr>
          <a:xfrm xmlns:a="http://schemas.openxmlformats.org/drawingml/2006/main">
            <a:off x="754908" y="514350"/>
            <a:ext cx="2243034" cy="838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E2DC1-39EF-4CE2-BB59-5E0664B4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412"/>
                </a:solidFill>
              </a:defRPr>
            </a:pPr>
            <a:r>
              <a:rPr sz="1200" b="1">
                <a:solidFill>
                  <a:srgbClr val="FF6412"/>
                </a:solidFill>
              </a:rPr>
              <a:t>ЭКСПЕРТНЫЙ АУДИТ ИТ И ИБ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9A08F-D069-4DF0-A2A8-A6055CC3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1616"/>
                </a:solidFill>
              </a:defRPr>
            </a:pPr>
            <a:r>
              <a:rPr sz="3600" b="1">
                <a:solidFill>
                  <a:srgbClr val="161616"/>
                </a:solidFill>
              </a:rPr>
              <a:t>{{COMPANY}}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BD8CA-FF79-4923-9C7B-F7646A4A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085"/>
                </a:solidFill>
              </a:defRPr>
            </a:pPr>
            <a:r>
              <a:rPr sz="1500">
                <a:solidFill>
                  <a:srgbClr val="667085"/>
                </a:solidFill>
              </a:rPr>
              <a:t>{{INDUSTRY}}  •  {{CITY}}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2C361-D15D-4859-8F7F-8F7438BF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885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C10001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952AB-A482-442A-9AF6-66BBE774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20001"/>
                </a:solidFill>
              </a:defRPr>
            </a:pPr>
            <a:r>
              <a:rPr sz="1050" b="1">
                <a:solidFill>
                  <a:srgbClr val="C20001"/>
                </a:solidFill>
              </a:rPr>
              <a:t>Зрелость ИТ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E3A16-3ADC-4977-9C60-BABCB18A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20001"/>
                </a:solidFill>
              </a:defRPr>
            </a:pPr>
            <a:r>
              <a:rPr sz="2400" b="1">
                <a:solidFill>
                  <a:srgbClr val="C20001"/>
                </a:solidFill>
              </a:rPr>
              <a:t>{{IT_SCORE}}%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26307-7FA2-4AEE-9417-3F8A6FD8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62500"/>
            <a:ext cx="1885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C10002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7AC39-634E-4341-BBE3-94F10B81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339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20002"/>
                </a:solidFill>
              </a:defRPr>
            </a:pPr>
            <a:r>
              <a:rPr sz="1050" b="1">
                <a:solidFill>
                  <a:srgbClr val="C20002"/>
                </a:solidFill>
              </a:rPr>
              <a:t>Зрелость ИБ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DF2D94-08E9-440E-B5A7-C3CAFE80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1970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20002"/>
                </a:solidFill>
              </a:defRPr>
            </a:pPr>
            <a:r>
              <a:rPr sz="2400" b="1">
                <a:solidFill>
                  <a:srgbClr val="C20002"/>
                </a:solidFill>
              </a:rPr>
              <a:t>{{SCORE}}%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B74C4-1F38-41F5-8618-141CA048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578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{{DATE}}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E89E6B-EFAB-4F0D-8752-AC0B32DC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by Ivan Rudoy</a:t>
            </a:r>
          </a:p>
        </p:txBody>
      </p:sp>
    </p:spTree>
    <p:extLst>
      <p:ext uri="{BB962C8B-B14F-4D97-AF65-F5344CB8AC3E}">
        <p14:creationId xmlns:p14="http://schemas.microsoft.com/office/powerpoint/2010/main" val="13650109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049769-9221-405A-A52E-2F9E5D33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870f2ecbe4cd3"/>
          <a:stretch xmlns:a="http://schemas.openxmlformats.org/drawingml/2006/main"/>
        </p:blipFill>
        <p:spPr>
          <a:xfrm xmlns:a="http://schemas.openxmlformats.org/drawingml/2006/main">
            <a:off x="9950954" y="247650"/>
            <a:ext cx="1529341" cy="57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025BC-8E5E-4BE1-B502-C27B2BC5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616"/>
                </a:solidFill>
              </a:defRPr>
            </a:pPr>
            <a:r>
              <a:rPr sz="2550" b="1">
                <a:solidFill>
                  <a:srgbClr val="161616"/>
                </a:solidFill>
              </a:rPr>
              <a:t>Кто стоит за аудитом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408EE-3105-4F79-AFFD-7E909122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928FE-B14F-400C-BC5B-C29E0002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D6163-6A8D-49AB-B232-EC2C5A0C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Khalil Audit System  |  by Ivan Rudoy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5B748-F142-4C9D-A25C-64334920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C1B93-1F78-425F-A9CC-AB574649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6412"/>
                </a:solidFill>
              </a:defRPr>
            </a:pPr>
            <a:r>
              <a:rPr sz="1875" b="1">
                <a:solidFill>
                  <a:srgbClr val="FF6412"/>
                </a:solidFill>
              </a:rPr>
              <a:t>ТОО «Khalil Trade»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47EBB-0C63-4EFB-8BB7-C6988110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1616"/>
                </a:solidFill>
              </a:defRPr>
            </a:pPr>
            <a:r>
              <a:rPr sz="1350">
                <a:solidFill>
                  <a:srgbClr val="161616"/>
                </a:solidFill>
              </a:rPr>
              <a:t>Системный интегратор и поставщик ИТ-решений для государственных и корпоративных организаций.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355B4-5397-48F4-94DB-211A58A2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1616"/>
                </a:solidFill>
              </a:defRPr>
            </a:pPr>
            <a:r>
              <a:rPr sz="1500" b="1">
                <a:solidFill>
                  <a:srgbClr val="161616"/>
                </a:solidFill>
              </a:rPr>
              <a:t>От аудита и проектирования - до внедрения, поддержки и развития.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9AFA0-B996-4126-A233-616883B8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1616"/>
                </a:solidFill>
              </a:defRPr>
            </a:pPr>
            <a:r>
              <a:rPr sz="2325" b="1">
                <a:solidFill>
                  <a:srgbClr val="161616"/>
                </a:solidFill>
              </a:rPr>
              <a:t>2020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03634F-FA17-4A82-8C74-994CC627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81525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год основания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F49B1-2BF3-4B45-8C52-64938785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114800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1616"/>
                </a:solidFill>
              </a:defRPr>
            </a:pPr>
            <a:r>
              <a:rPr sz="2700" b="1">
                <a:solidFill>
                  <a:srgbClr val="161616"/>
                </a:solidFill>
              </a:rPr>
              <a:t>70+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13CD4-7A48-43E6-809F-B1E88CDC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81525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крупных проектов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DCC0F-3B1F-46D9-9E27-CA8A999A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14800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1616"/>
                </a:solidFill>
              </a:defRPr>
            </a:pPr>
            <a:r>
              <a:rPr sz="2325" b="1">
                <a:solidFill>
                  <a:srgbClr val="161616"/>
                </a:solidFill>
              </a:rPr>
              <a:t>40+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8ACDE-E53B-46B1-8313-FA2B5487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581525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технологических партнеров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1E7CE-4664-4BF6-8D55-0B4C5180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0C20E9-76B9-49DD-A0E9-BF3B3B1D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483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1616"/>
                </a:solidFill>
              </a:defRPr>
            </a:pPr>
            <a:r>
              <a:rPr sz="1125" b="1">
                <a:solidFill>
                  <a:srgbClr val="161616"/>
                </a:solidFill>
              </a:rPr>
              <a:t>Одна команда отвечает за архитектуру, безопасность и практическую реализацию.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C0CE0A-B709-4BBA-9E9E-7B85BCCB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412"/>
                </a:solidFill>
              </a:defRPr>
            </a:pPr>
            <a:r>
              <a:rPr sz="1200" b="1">
                <a:solidFill>
                  <a:srgbClr val="FF6412"/>
                </a:solidFill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A59E1-9E9A-465D-89DD-FF12A77F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1616"/>
                </a:solidFill>
              </a:defRPr>
            </a:pPr>
            <a:r>
              <a:rPr sz="1425" b="1">
                <a:solidFill>
                  <a:srgbClr val="161616"/>
                </a:solidFill>
              </a:rPr>
              <a:t>Информационная безопасность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653A26-F3F7-4C19-9EBE-EB83F594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7165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Аудит, проектирование защиты, внедрение, поддержка и обучение.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DD8F4F-1BBC-42BC-A69C-6AF4F0FD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98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CEA1FA-6836-48F6-A414-73F59263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003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412"/>
                </a:solidFill>
              </a:defRPr>
            </a:pPr>
            <a:r>
              <a:rPr sz="1200" b="1">
                <a:solidFill>
                  <a:srgbClr val="FF6412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DFB10E-B96B-4DAF-A96B-3C1B48E0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62225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1616"/>
                </a:solidFill>
              </a:defRPr>
            </a:pPr>
            <a:r>
              <a:rPr sz="1425" b="1">
                <a:solidFill>
                  <a:srgbClr val="161616"/>
                </a:solidFill>
              </a:rPr>
              <a:t>Системная интеграция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22009B-0A2C-449D-BAD8-41B58381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05125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Сетевая, серверная и вычислительная инфраструктура под ключ.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29C461-E4AE-4DED-A721-18BE60D0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43300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ADA8C3-0569-421A-822E-708FE638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33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412"/>
                </a:solidFill>
              </a:defRPr>
            </a:pPr>
            <a:r>
              <a:rPr sz="1200" b="1">
                <a:solidFill>
                  <a:srgbClr val="FF6412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462ECB-C36A-4739-8D59-6E7F293A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1616"/>
                </a:solidFill>
              </a:defRPr>
            </a:pPr>
            <a:r>
              <a:rPr sz="1425" b="1">
                <a:solidFill>
                  <a:srgbClr val="161616"/>
                </a:solidFill>
              </a:rPr>
              <a:t>Автоматизация процессов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26A559-9F55-48C4-947F-FAC998FC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СЭД, low-code, ESM/BPM и цифровые решения для бизнеса.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37FC7B-7824-4BCA-98E7-617A6463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76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038EF9-A4B0-4DC2-9ACC-4D464DA4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672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412"/>
                </a:solidFill>
              </a:defRPr>
            </a:pPr>
            <a:r>
              <a:rPr sz="1200" b="1">
                <a:solidFill>
                  <a:srgbClr val="FF6412"/>
                </a:solidFill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3FBBE3-65AE-4CA3-91ED-59134D7B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29175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1616"/>
                </a:solidFill>
              </a:defRPr>
            </a:pPr>
            <a:r>
              <a:rPr sz="1425" b="1">
                <a:solidFill>
                  <a:srgbClr val="161616"/>
                </a:solidFill>
              </a:rPr>
              <a:t>Сопровождение и развитие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39A7AE-48CB-481C-84AD-7E7C5B01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72075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Рабочие сессии, внедрение, поддержка и передача знаний команде.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2F6D0F-3828-4817-B86C-156FED63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9EE3E2-8CFC-497D-93C0-2BAB934A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19d0ee2574ab8"/>
          <a:stretch xmlns:a="http://schemas.openxmlformats.org/drawingml/2006/main"/>
        </p:blipFill>
        <p:spPr>
          <a:xfrm xmlns:a="http://schemas.openxmlformats.org/drawingml/2006/main">
            <a:off x="9950954" y="247650"/>
            <a:ext cx="1529341" cy="57150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9586D3-4A31-43B3-BC05-A8669370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616"/>
                </a:solidFill>
              </a:defRPr>
            </a:pPr>
            <a:r>
              <a:rPr sz="2550" b="1">
                <a:solidFill>
                  <a:srgbClr val="161616"/>
                </a:solidFill>
              </a:rPr>
              <a:t>Аудит в одном экране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A86CF0-2530-4BF9-B000-21244784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072BBE-E1EC-448B-A281-DE5C3759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ECF964-02F5-4EAA-ACE6-1E7E742D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Khalil Audit System  |  by Ivan Rudoy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815130-77F1-4C7D-B6A4-AFEFA74B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025C5B-607D-43D5-9036-85C0EFD7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1616"/>
                </a:solidFill>
              </a:defRPr>
            </a:pPr>
            <a:r>
              <a:rPr sz="2175" b="1">
                <a:solidFill>
                  <a:srgbClr val="161616"/>
                </a:solidFill>
              </a:rPr>
              <a:t>{{SUMMARY_TITLE}}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9C52F8-EE6F-4D1E-81AE-807EBFF6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09700"/>
            <a:ext cx="1504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C1000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6DD3BB-E514-4000-A35C-25431FF6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20001"/>
                </a:solidFill>
              </a:defRPr>
            </a:pPr>
            <a:r>
              <a:rPr sz="900" b="1">
                <a:solidFill>
                  <a:srgbClr val="C20001"/>
                </a:solidFill>
              </a:rPr>
              <a:t>ЗРЕЛОСТЬ ИТ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A564C4-4647-4F3B-84AC-1446901D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14525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20001"/>
                </a:solidFill>
              </a:defRPr>
            </a:pPr>
            <a:r>
              <a:rPr sz="2550" b="1">
                <a:solidFill>
                  <a:srgbClr val="C20001"/>
                </a:solidFill>
              </a:rPr>
              <a:t>{{IT_SCORE}}%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6CE96B-2BA9-410A-A46D-650FDE34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409700"/>
            <a:ext cx="1504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C100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7D19AC-9E37-42DB-8BB8-979B14D0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6192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20002"/>
                </a:solidFill>
              </a:defRPr>
            </a:pPr>
            <a:r>
              <a:rPr sz="900" b="1">
                <a:solidFill>
                  <a:srgbClr val="C20002"/>
                </a:solidFill>
              </a:rPr>
              <a:t>ЗРЕЛОСТЬ ИБ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4BADA2-EDDE-4952-A8CC-43C7641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14525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20002"/>
                </a:solidFill>
              </a:defRPr>
            </a:pPr>
            <a:r>
              <a:rPr sz="2550" b="1">
                <a:solidFill>
                  <a:srgbClr val="C20002"/>
                </a:solidFill>
              </a:rPr>
              <a:t>{{SCORE}}%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027154-2AE3-4CBC-860E-14A9CAC5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6412"/>
                </a:solidFill>
              </a:defRPr>
            </a:pPr>
            <a:r>
              <a:rPr sz="1425" b="1">
                <a:solidFill>
                  <a:srgbClr val="FF6412"/>
                </a:solidFill>
              </a:rPr>
              <a:t>Ключевые наблюдения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D17894-C557-4962-AA5D-4E1D3E80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412"/>
                </a:solidFill>
              </a:defRPr>
            </a:pPr>
            <a:r>
              <a:rPr sz="1275" b="1">
                <a:solidFill>
                  <a:srgbClr val="FF6412"/>
                </a:solidFill>
              </a:rPr>
              <a:t>01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8F80BB-51E5-4D9D-8C79-D8C46853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90900"/>
            <a:ext cx="10048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1616"/>
                </a:solidFill>
              </a:defRPr>
            </a:pPr>
            <a:r>
              <a:rPr sz="1350">
                <a:solidFill>
                  <a:srgbClr val="161616"/>
                </a:solidFill>
              </a:rPr>
              <a:t>{{SUMMARY_1}}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963663-7532-4129-8178-E6D490A3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66F198-EE5D-4694-8BF3-B85E85E2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412"/>
                </a:solidFill>
              </a:defRPr>
            </a:pPr>
            <a:r>
              <a:rPr sz="1275" b="1">
                <a:solidFill>
                  <a:srgbClr val="FF6412"/>
                </a:solidFill>
              </a:rPr>
              <a:t>02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04CF933-58A4-4CA0-9876-9293C867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67200"/>
            <a:ext cx="10048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1616"/>
                </a:solidFill>
              </a:defRPr>
            </a:pPr>
            <a:r>
              <a:rPr sz="1350">
                <a:solidFill>
                  <a:srgbClr val="161616"/>
                </a:solidFill>
              </a:rPr>
              <a:t>{{SUMMARY_2}}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FD8F9B-3C4B-4AC3-A1D2-5D46FC2E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927BD25-B25B-467B-91ED-863B3452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412"/>
                </a:solidFill>
              </a:defRPr>
            </a:pPr>
            <a:r>
              <a:rPr sz="1275" b="1">
                <a:solidFill>
                  <a:srgbClr val="FF6412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ECF5B02-BF40-451B-A29B-03EDFA92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0"/>
            <a:ext cx="10048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1616"/>
                </a:solidFill>
              </a:defRPr>
            </a:pPr>
            <a:r>
              <a:rPr sz="1350">
                <a:solidFill>
                  <a:srgbClr val="161616"/>
                </a:solidFill>
              </a:rPr>
              <a:t>{{SUMMARY_3}}</a:t>
            </a:r>
          </a:p>
        </p:txBody>
      </p:sp>
    </p:spTree>
    <p:extLst>
      <p:ext uri="{BB962C8B-B14F-4D97-AF65-F5344CB8AC3E}">
        <p14:creationId xmlns:p14="http://schemas.microsoft.com/office/powerpoint/2010/main" val="11369387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FE978F-3FA8-486C-8D1B-86BA97D1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0ccccdf5540c5"/>
          <a:stretch xmlns:a="http://schemas.openxmlformats.org/drawingml/2006/main"/>
        </p:blipFill>
        <p:spPr>
          <a:xfrm xmlns:a="http://schemas.openxmlformats.org/drawingml/2006/main">
            <a:off x="9950954" y="247650"/>
            <a:ext cx="1529341" cy="57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316D9-C83C-4E26-9853-DBC31FCC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616"/>
                </a:solidFill>
              </a:defRPr>
            </a:pPr>
            <a:r>
              <a:rPr sz="2550" b="1">
                <a:solidFill>
                  <a:srgbClr val="161616"/>
                </a:solidFill>
              </a:rPr>
              <a:t>Профиль угроз и разрывов контроля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027BB-3628-41F3-948B-1CBAF2AD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B76BD-DC35-4416-8A32-680FE63B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BF54D-32C6-4859-9CC3-A79D512A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Khalil Audit System  |  by Ivan Rudoy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6AC5F-3073-445D-8ADA-F6A6C672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5517D-ABEE-4E2B-BE58-62323144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064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6412"/>
                </a:solidFill>
              </a:defRPr>
            </a:pPr>
            <a:r>
              <a:rPr sz="1425" b="1">
                <a:solidFill>
                  <a:srgbClr val="FF6412"/>
                </a:solidFill>
              </a:rPr>
              <a:t>Доля незакрытых контрольных зон по данным анкеты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7B63D-C33F-481A-8638-DB5FFECC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1064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Красный требует первоочередного решения, желтый — управляемого плана, зеленый — контроля эффективности.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01222F-5E32-457C-86D1-6DA65DF2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000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A9057-38BA-4504-B8C6-D1318D92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7BFC9B-B91C-4219-828C-E82B38F1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95575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1616"/>
                </a:solidFill>
              </a:defRPr>
            </a:pPr>
            <a:r>
              <a:rPr sz="1800" b="1">
                <a:solidFill>
                  <a:srgbClr val="161616"/>
                </a:solidFill>
              </a:rPr>
              <a:t>{{THREAT_1_VALUE}}%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8753B-1D9E-48A5-A1E6-79CEEF9A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1616"/>
                </a:solidFill>
              </a:defRPr>
            </a:pPr>
            <a:r>
              <a:rPr sz="1200" b="1">
                <a:solidFill>
                  <a:srgbClr val="161616"/>
                </a:solidFill>
              </a:rPr>
              <a:t>{{THREAT_1_LABEL}}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BDDED-42CE-41DB-9C68-0E1383A2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33825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разрыв контроля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2ABB74-099F-44D3-95ED-843FDD6F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4790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00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D76DB6-8678-4C0C-A172-7CE44E0A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193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5DAA6-0B43-4CB6-A0DF-E5162935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95575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1616"/>
                </a:solidFill>
              </a:defRPr>
            </a:pPr>
            <a:r>
              <a:rPr sz="1800" b="1">
                <a:solidFill>
                  <a:srgbClr val="161616"/>
                </a:solidFill>
              </a:rPr>
              <a:t>{{THREAT_2_VALUE}}%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777C4B-A570-46EE-B916-9E1B0DAC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385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1616"/>
                </a:solidFill>
              </a:defRPr>
            </a:pPr>
            <a:r>
              <a:rPr sz="1200" b="1">
                <a:solidFill>
                  <a:srgbClr val="161616"/>
                </a:solidFill>
              </a:rPr>
              <a:t>{{THREAT_2_LABEL}}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017ACF-5F21-4987-B2D4-494760D9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разрыв контроля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7D1A55-E53B-43AB-B1FF-CD5EAA34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4790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00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412591-1B3C-4573-8E11-E18A882B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193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7ED941-B15E-4AC8-9F38-86BF1F2F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95575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1616"/>
                </a:solidFill>
              </a:defRPr>
            </a:pPr>
            <a:r>
              <a:rPr sz="1800" b="1">
                <a:solidFill>
                  <a:srgbClr val="161616"/>
                </a:solidFill>
              </a:rPr>
              <a:t>{{THREAT_3_VALUE}}%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5D781E-2CB7-4CE1-B363-5F0C383D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385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1616"/>
                </a:solidFill>
              </a:defRPr>
            </a:pPr>
            <a:r>
              <a:rPr sz="1200" b="1">
                <a:solidFill>
                  <a:srgbClr val="161616"/>
                </a:solidFill>
              </a:rPr>
              <a:t>{{THREAT_3_LABEL}}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A4F4A5-208E-485A-9672-6785350E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33825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разрыв контроля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0E1A50-CEA1-4A92-8BE7-893525F1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481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00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B30B7C-3C37-4EA3-B0B9-15FF6380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196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0FDA89-3B2C-45F2-AD6B-2A3602E5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95825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1616"/>
                </a:solidFill>
              </a:defRPr>
            </a:pPr>
            <a:r>
              <a:rPr sz="1800" b="1">
                <a:solidFill>
                  <a:srgbClr val="161616"/>
                </a:solidFill>
              </a:rPr>
              <a:t>{{THREAT_4_VALUE}}%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489D4D-0297-49FD-A306-687B14AB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388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1616"/>
                </a:solidFill>
              </a:defRPr>
            </a:pPr>
            <a:r>
              <a:rPr sz="1200" b="1">
                <a:solidFill>
                  <a:srgbClr val="161616"/>
                </a:solidFill>
              </a:rPr>
              <a:t>{{THREAT_4_LABEL}}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D596EB-CEED-4232-8105-74AD9FCC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разрыв контроля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1B82F6-07D5-4364-A91C-E61A84B6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481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00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D7559E-4E8D-4752-8969-C60321DA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196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B23412-F58C-407F-88CD-BD0E1D12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95825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1616"/>
                </a:solidFill>
              </a:defRPr>
            </a:pPr>
            <a:r>
              <a:rPr sz="1800" b="1">
                <a:solidFill>
                  <a:srgbClr val="161616"/>
                </a:solidFill>
              </a:rPr>
              <a:t>{{THREAT_5_VALUE}}%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4D466E-148E-4A60-B2FB-18836F0C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6388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1616"/>
                </a:solidFill>
              </a:defRPr>
            </a:pPr>
            <a:r>
              <a:rPr sz="1200" b="1">
                <a:solidFill>
                  <a:srgbClr val="161616"/>
                </a:solidFill>
              </a:rPr>
              <a:t>{{THREAT_5_LABEL}}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F89F8C-B16E-43E8-B73C-2DB66F36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934075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разрыв контроля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6F7C90-7D80-4F0D-8CE3-09BD8FD0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481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00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9A19A0-D38C-4B04-96C0-09F5F98C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196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304725-A77F-47BF-9DE8-C67FE539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1616"/>
                </a:solidFill>
              </a:defRPr>
            </a:pPr>
            <a:r>
              <a:rPr sz="1800" b="1">
                <a:solidFill>
                  <a:srgbClr val="161616"/>
                </a:solidFill>
              </a:rPr>
              <a:t>{{THREAT_6_VALUE}}%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251EE8-1984-43C8-9537-F3A2F07F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6388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1616"/>
                </a:solidFill>
              </a:defRPr>
            </a:pPr>
            <a:r>
              <a:rPr sz="1200" b="1">
                <a:solidFill>
                  <a:srgbClr val="161616"/>
                </a:solidFill>
              </a:rPr>
              <a:t>{{THREAT_6_LABEL}}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C1C500-F7EB-425F-B5EA-413137EF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934075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разрыв контроля</a:t>
            </a:r>
          </a:p>
        </p:txBody>
      </p:sp>
    </p:spTree>
    <p:extLst>
      <p:ext uri="{BB962C8B-B14F-4D97-AF65-F5344CB8AC3E}">
        <p14:creationId xmlns:p14="http://schemas.microsoft.com/office/powerpoint/2010/main" val="20080452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619A96-3FD5-4531-BFAA-95FCFA51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ed4ae72f2d408d"/>
          <a:stretch xmlns:a="http://schemas.openxmlformats.org/drawingml/2006/main"/>
        </p:blipFill>
        <p:spPr>
          <a:xfrm xmlns:a="http://schemas.openxmlformats.org/drawingml/2006/main">
            <a:off x="9950954" y="247650"/>
            <a:ext cx="1529341" cy="57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DFC2F-CEEC-4E9F-A5E2-EB0967EB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616"/>
                </a:solidFill>
              </a:defRPr>
            </a:pPr>
            <a:r>
              <a:rPr sz="2550" b="1">
                <a:solidFill>
                  <a:srgbClr val="161616"/>
                </a:solidFill>
              </a:rPr>
              <a:t>Контекст среды и уже работающие контроли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D5111-6941-4B24-B26D-AAE56658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AB70F-4997-4444-9381-660052FA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87E10-2AA9-43C9-8CF5-092DFEB2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Khalil Audit System  |  by Ivan Rudoy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B2CFB-1740-4646-B20C-930E90F4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E9179-F5B6-4008-92BD-7CC9D7A0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2476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6412"/>
          </a:solidFill>
          <a:ln xmlns:a="http://schemas.openxmlformats.org/drawingml/2006/main" w="9525">
            <a:solidFill>
              <a:srgbClr val="FF64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7C9C1-05BA-42DD-8326-21C4263F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{{USERS}}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28755-467C-465A-A897-AB505DA3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рабочих мест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FC21C-CED3-4F6F-8731-84CB39D0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76375"/>
            <a:ext cx="2476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002FD-CF61-4C24-A40C-6454E138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573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61616"/>
                </a:solidFill>
              </a:defRPr>
            </a:pPr>
            <a:r>
              <a:rPr sz="2400" b="1">
                <a:solidFill>
                  <a:srgbClr val="161616"/>
                </a:solidFill>
              </a:rPr>
              <a:t>{{SERVERS}}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74392-E19F-4CB9-9133-E9D724EC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812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серверов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8054B-B0ED-4500-BCDC-3B83C6FB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476375"/>
            <a:ext cx="2476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9BA60F-40D0-4A8F-9B2B-3348855E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573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61616"/>
                </a:solidFill>
              </a:defRPr>
            </a:pPr>
            <a:r>
              <a:rPr sz="2400" b="1">
                <a:solidFill>
                  <a:srgbClr val="161616"/>
                </a:solidFill>
              </a:rPr>
              <a:t>{{PUBLIC}}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BAD5DA-90D4-42C2-B465-96ECF9B9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812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публичные сервисы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AD8A8B-D89D-4430-8662-57049389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476375"/>
            <a:ext cx="2476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DA70B-F768-44AC-A58D-5156BE26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573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61616"/>
                </a:solidFill>
              </a:defRPr>
            </a:pPr>
            <a:r>
              <a:rPr sz="2400" b="1">
                <a:solidFill>
                  <a:srgbClr val="161616"/>
                </a:solidFill>
              </a:rPr>
              <a:t>{{BUSINESS}}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900ADA-D18D-403B-A65E-D16278B4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812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бизнес-системы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ED842-9C56-45FF-A1FD-7D60491B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412"/>
                </a:solidFill>
              </a:defRPr>
            </a:pPr>
            <a:r>
              <a:rPr sz="1275" b="1">
                <a:solidFill>
                  <a:srgbClr val="FF6412"/>
                </a:solidFill>
              </a:rPr>
              <a:t>Профиль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5C8D25-4283-48C9-A338-809516B1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1064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1616"/>
                </a:solidFill>
              </a:defRPr>
            </a:pPr>
            <a:r>
              <a:rPr sz="1350" b="1">
                <a:solidFill>
                  <a:srgbClr val="161616"/>
                </a:solidFill>
              </a:rPr>
              <a:t>{{PROFILE}}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474F6B-E209-4622-9815-769F7AD2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412"/>
                </a:solidFill>
              </a:defRPr>
            </a:pPr>
            <a:r>
              <a:rPr sz="1350" b="1">
                <a:solidFill>
                  <a:srgbClr val="FF6412"/>
                </a:solidFill>
              </a:rPr>
              <a:t>Подтвержденные сильные стороны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F436B3-82C8-4A95-ACF8-A75EDAF5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6667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B8DA0-CAB6-479E-A560-E48631D0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3105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1616"/>
                </a:solidFill>
              </a:defRPr>
            </a:pPr>
            <a:r>
              <a:rPr sz="1275" b="1">
                <a:solidFill>
                  <a:srgbClr val="161616"/>
                </a:solidFill>
              </a:rPr>
              <a:t>{{STRENGTH_1}}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71C055-AF9B-4C15-957A-DF216E6C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91050"/>
            <a:ext cx="6667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6C0DDE-C583-4CDE-840A-6A7B3BCA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67250"/>
            <a:ext cx="3105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1616"/>
                </a:solidFill>
              </a:defRPr>
            </a:pPr>
            <a:r>
              <a:rPr sz="1275" b="1">
                <a:solidFill>
                  <a:srgbClr val="161616"/>
                </a:solidFill>
              </a:rPr>
              <a:t>{{STRENGTH_2}}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7FB19B-2B23-45CB-B274-F8257F20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91050"/>
            <a:ext cx="6667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0E9338-E88E-4923-B9A4-DBACE30D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67250"/>
            <a:ext cx="3105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1616"/>
                </a:solidFill>
              </a:defRPr>
            </a:pPr>
            <a:r>
              <a:rPr sz="1275" b="1">
                <a:solidFill>
                  <a:srgbClr val="161616"/>
                </a:solidFill>
              </a:rPr>
              <a:t>{{STRENGTH_3}}</a:t>
            </a:r>
          </a:p>
        </p:txBody>
      </p:sp>
    </p:spTree>
    <p:extLst>
      <p:ext uri="{BB962C8B-B14F-4D97-AF65-F5344CB8AC3E}">
        <p14:creationId xmlns:p14="http://schemas.microsoft.com/office/powerpoint/2010/main" val="19519512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FF5E19-D1DB-483F-9749-98FBEA39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1b4b94bff4234"/>
          <a:stretch xmlns:a="http://schemas.openxmlformats.org/drawingml/2006/main"/>
        </p:blipFill>
        <p:spPr>
          <a:xfrm xmlns:a="http://schemas.openxmlformats.org/drawingml/2006/main">
            <a:off x="9950954" y="247650"/>
            <a:ext cx="1529341" cy="57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BBAB5-9619-40C2-A7BC-8FFE729D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616"/>
                </a:solidFill>
              </a:defRPr>
            </a:pPr>
            <a:r>
              <a:rPr sz="2550" b="1">
                <a:solidFill>
                  <a:srgbClr val="161616"/>
                </a:solidFill>
              </a:rPr>
              <a:t>Карта подтвержденных рисков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BD1B6-104A-4945-A379-EDEE9221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B2070-7250-4CFE-AFA5-E6EAED68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E430F-082D-4DDA-B715-368421E2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Khalil Audit System  |  by Ivan Rudoy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E5504-FCD4-4120-8636-400CF9D3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C575D-32FC-4FC6-9996-1EDB889F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51625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14B60-C103-4B92-9E7A-40FDC0E8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028700" cy="1352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A1000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1C5A2-B66A-407C-A0F5-8789338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20001"/>
                </a:solidFill>
              </a:defRPr>
            </a:pPr>
            <a:r>
              <a:rPr sz="900" b="1">
                <a:solidFill>
                  <a:srgbClr val="A20001"/>
                </a:solidFill>
              </a:rPr>
              <a:t>{{RISK_1_LEVEL}}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A86FA-78CF-4BCC-9C02-A480AC74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54305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1616"/>
                </a:solidFill>
              </a:defRPr>
            </a:pPr>
            <a:r>
              <a:rPr sz="1275" b="1">
                <a:solidFill>
                  <a:srgbClr val="161616"/>
                </a:solidFill>
              </a:rPr>
              <a:t>{{RISK_1_TITLE}}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E76C1-5B96-42AD-AFFD-60B28FAB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19300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{{RISK_1_IMPACT}}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3AB2A-2313-4334-A63D-24C25590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390650"/>
            <a:ext cx="51625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C9A50-1189-4F31-8CA0-277B300F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390650"/>
            <a:ext cx="1028700" cy="1352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A100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3E379-6FC0-478A-A0EF-1085EEF0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050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20002"/>
                </a:solidFill>
              </a:defRPr>
            </a:pPr>
            <a:r>
              <a:rPr sz="900" b="1">
                <a:solidFill>
                  <a:srgbClr val="A20002"/>
                </a:solidFill>
              </a:rPr>
              <a:t>{{RISK_2_LEVEL}}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7044CE-AED8-4134-9F47-C547763F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54305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1616"/>
                </a:solidFill>
              </a:defRPr>
            </a:pPr>
            <a:r>
              <a:rPr sz="1275" b="1">
                <a:solidFill>
                  <a:srgbClr val="161616"/>
                </a:solidFill>
              </a:rPr>
              <a:t>{{RISK_2_TITLE}}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9C4B3-C27A-4C15-B412-717C3328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19300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{{RISK_2_IMPACT}}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B33A60-3671-4F87-A957-A5DB0613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51625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DBCAF4-FFA6-45DF-BCD4-34BC9B2C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1028700" cy="1352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A100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873E5B-B73E-40E7-8C1A-897CADFB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20003"/>
                </a:solidFill>
              </a:defRPr>
            </a:pPr>
            <a:r>
              <a:rPr sz="900" b="1">
                <a:solidFill>
                  <a:srgbClr val="A20003"/>
                </a:solidFill>
              </a:rPr>
              <a:t>{{RISK_3_LEVEL}}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F88E35-DE5D-412B-890E-4E361168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0515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1616"/>
                </a:solidFill>
              </a:defRPr>
            </a:pPr>
            <a:r>
              <a:rPr sz="1275" b="1">
                <a:solidFill>
                  <a:srgbClr val="161616"/>
                </a:solidFill>
              </a:rPr>
              <a:t>{{RISK_3_TITLE}}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DF4C9B-9870-461B-A9DE-2BF050D1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581400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{{RISK_3_IMPACT}}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70591C-0121-485D-A52B-AAFE839A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52750"/>
            <a:ext cx="51625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056F5C-F6A3-4059-9A4E-C98E39A4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52750"/>
            <a:ext cx="1028700" cy="1352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A100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ABB99A-909C-4A60-BE12-5FB16578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20004"/>
                </a:solidFill>
              </a:defRPr>
            </a:pPr>
            <a:r>
              <a:rPr sz="900" b="1">
                <a:solidFill>
                  <a:srgbClr val="A20004"/>
                </a:solidFill>
              </a:rPr>
              <a:t>{{RISK_4_LEVEL}}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B3DFB9-1CC9-4008-B021-1286D754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0515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1616"/>
                </a:solidFill>
              </a:defRPr>
            </a:pPr>
            <a:r>
              <a:rPr sz="1275" b="1">
                <a:solidFill>
                  <a:srgbClr val="161616"/>
                </a:solidFill>
              </a:rPr>
              <a:t>{{RISK_4_TITLE}}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237989-F4E3-4611-9237-6A280586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81400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{{RISK_4_IMPACT}}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71635C-1A8A-44E9-BCE0-251C3197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51625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4417F2-DA0F-4909-8111-8CD504CC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028700" cy="1352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A100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A7590D-1EA6-4D4E-9201-6AECBC7B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20005"/>
                </a:solidFill>
              </a:defRPr>
            </a:pPr>
            <a:r>
              <a:rPr sz="900" b="1">
                <a:solidFill>
                  <a:srgbClr val="A20005"/>
                </a:solidFill>
              </a:rPr>
              <a:t>{{RISK_5_LEVEL}}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8EF6FF-1340-4060-B4D5-68862AEA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6725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1616"/>
                </a:solidFill>
              </a:defRPr>
            </a:pPr>
            <a:r>
              <a:rPr sz="1275" b="1">
                <a:solidFill>
                  <a:srgbClr val="161616"/>
                </a:solidFill>
              </a:rPr>
              <a:t>{{RISK_5_TITLE}}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EDE12C-592A-416A-803A-EDDEBF49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143500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{{RISK_5_IMPACT}}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6C22B9-D648-44F9-8806-C61085BC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14850"/>
            <a:ext cx="51625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CA634B-9773-4797-AE80-A11D677A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14850"/>
            <a:ext cx="1028700" cy="1352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A100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90AF49-9630-4ABE-9D26-D2476D97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29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20006"/>
                </a:solidFill>
              </a:defRPr>
            </a:pPr>
            <a:r>
              <a:rPr sz="900" b="1">
                <a:solidFill>
                  <a:srgbClr val="A20006"/>
                </a:solidFill>
              </a:rPr>
              <a:t>{{RISK_6_LEVEL}}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34D678-C570-453D-89F7-445B5525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6725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1616"/>
                </a:solidFill>
              </a:defRPr>
            </a:pPr>
            <a:r>
              <a:rPr sz="1275" b="1">
                <a:solidFill>
                  <a:srgbClr val="161616"/>
                </a:solidFill>
              </a:rPr>
              <a:t>{{RISK_6_TITLE}}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438686-2FC9-47E2-830F-5F403C1E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143500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{{RISK_6_IMPACT}}</a:t>
            </a:r>
          </a:p>
        </p:txBody>
      </p:sp>
    </p:spTree>
    <p:extLst>
      <p:ext uri="{BB962C8B-B14F-4D97-AF65-F5344CB8AC3E}">
        <p14:creationId xmlns:p14="http://schemas.microsoft.com/office/powerpoint/2010/main" val="9969685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17C798-6A1A-43CC-B42D-5DDDA979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ddceec39a4bc3"/>
          <a:stretch xmlns:a="http://schemas.openxmlformats.org/drawingml/2006/main"/>
        </p:blipFill>
        <p:spPr>
          <a:xfrm xmlns:a="http://schemas.openxmlformats.org/drawingml/2006/main">
            <a:off x="9950954" y="247650"/>
            <a:ext cx="1529341" cy="57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5B1FE-7473-4326-B7CF-5DF39B80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616"/>
                </a:solidFill>
              </a:defRPr>
            </a:pPr>
            <a:r>
              <a:rPr sz="2550" b="1">
                <a:solidFill>
                  <a:srgbClr val="161616"/>
                </a:solidFill>
              </a:rPr>
              <a:t>Почему требования применимы к вашей организации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59360-9FBC-43BD-B93E-14D87055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76E0E-D42B-4D6C-803C-7112E084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B7875-0281-4C9C-B2A1-BA00F8CB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Khalil Audit System  |  by Ivan Rudoy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8165F-B04C-4FAE-AD6E-99DF768A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E1EBC-195D-47B3-A515-6F658703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6412"/>
                </a:solidFill>
              </a:defRPr>
            </a:pPr>
            <a:r>
              <a:rPr sz="2025" b="1">
                <a:solidFill>
                  <a:srgbClr val="FF6412"/>
                </a:solidFill>
              </a:rPr>
              <a:t>{{REG_TITLE}}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8F031-DCFD-4BD3-926A-7395AB99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412"/>
                </a:solidFill>
              </a:defRPr>
            </a:pPr>
            <a:r>
              <a:rPr sz="1125" b="1">
                <a:solidFill>
                  <a:srgbClr val="FF6412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4A397-CED8-4D47-BB0E-A847F729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1616"/>
                </a:solidFill>
              </a:defRPr>
            </a:pPr>
            <a:r>
              <a:rPr sz="1500" b="1">
                <a:solidFill>
                  <a:srgbClr val="161616"/>
                </a:solidFill>
              </a:rPr>
              <a:t>Основание профиля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3F6FF-78A5-426C-93D0-6EE58E5F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{{REG_APPLICABILITY}}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F8B94E-8AD7-4577-A2D7-DC02A0A9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00300"/>
            <a:ext cx="95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0470E-B9C7-4125-AE65-CA275059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193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412"/>
                </a:solidFill>
              </a:defRPr>
            </a:pPr>
            <a:r>
              <a:rPr sz="1125" b="1">
                <a:solidFill>
                  <a:srgbClr val="FF6412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D7D5F-9239-485E-B49C-ED852688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8130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1616"/>
                </a:solidFill>
              </a:defRPr>
            </a:pPr>
            <a:r>
              <a:rPr sz="1500" b="1">
                <a:solidFill>
                  <a:srgbClr val="161616"/>
                </a:solidFill>
              </a:rPr>
              <a:t>Что требуется подтвердить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DF2797-0DEB-46B8-B8C6-99C8C2E1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2900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{{REG_EXPECTATIONS}}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387BC-432B-4BC1-B644-1D560117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00300"/>
            <a:ext cx="95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F2F4B7-0A4D-451C-858B-F4A883EE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193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412"/>
                </a:solidFill>
              </a:defRPr>
            </a:pPr>
            <a:r>
              <a:rPr sz="1125" b="1">
                <a:solidFill>
                  <a:srgbClr val="FF6412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600BF5-C6F6-45E0-8C6C-20AC484C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8130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1616"/>
                </a:solidFill>
              </a:defRPr>
            </a:pPr>
            <a:r>
              <a:rPr sz="1500" b="1">
                <a:solidFill>
                  <a:srgbClr val="161616"/>
                </a:solidFill>
              </a:rPr>
              <a:t>Как читать рекомендации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B1FA81-6D6A-4947-A7C3-53582AD6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2900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{{REG_IMPLEMENTATION}}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3AD103-A087-4BCC-B322-005C5264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106489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362A46-E5E8-4F20-9249-63C9C3AB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Нормы Республики Казахстан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42C116-202E-4D98-934A-592E2C2C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1616"/>
                </a:solidFill>
              </a:defRPr>
            </a:pPr>
            <a:r>
              <a:rPr sz="900" b="1">
                <a:solidFill>
                  <a:srgbClr val="161616"/>
                </a:solidFill>
              </a:rPr>
              <a:t>{{REG_ANCHORS}}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9B8B9C-4F0F-4AE9-9C66-9ABE8110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0648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575E81-7EF3-4934-8A0B-44A8A495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769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Стандарты при подтверждении применимости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2B6AA9-106A-4F93-8B42-2AADC827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769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1616"/>
                </a:solidFill>
              </a:defRPr>
            </a:pPr>
            <a:r>
              <a:rPr sz="900" b="1">
                <a:solidFill>
                  <a:srgbClr val="161616"/>
                </a:solidFill>
              </a:rPr>
              <a:t>{{FRAMEWORKS}}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8DD0A9-419E-4521-8636-3C4C7619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064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</a:defRPr>
            </a:pPr>
            <a:r>
              <a:rPr sz="750">
                <a:solidFill>
                  <a:srgbClr val="667085"/>
                </a:solidFill>
              </a:rPr>
              <a:t>PCI DSS и GDPR применяются только при наличии соответствующих данных и операций.</a:t>
            </a:r>
          </a:p>
        </p:txBody>
      </p:sp>
    </p:spTree>
    <p:extLst>
      <p:ext uri="{BB962C8B-B14F-4D97-AF65-F5344CB8AC3E}">
        <p14:creationId xmlns:p14="http://schemas.microsoft.com/office/powerpoint/2010/main" val="3969317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9DEC48-D6EE-4AC5-9ECC-FDEB1EFE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90270a3c54207"/>
          <a:stretch xmlns:a="http://schemas.openxmlformats.org/drawingml/2006/main"/>
        </p:blipFill>
        <p:spPr>
          <a:xfrm xmlns:a="http://schemas.openxmlformats.org/drawingml/2006/main">
            <a:off x="9950954" y="247650"/>
            <a:ext cx="1529341" cy="57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991B6-0F5A-45E6-A600-FD1C42AD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616"/>
                </a:solidFill>
              </a:defRPr>
            </a:pPr>
            <a:r>
              <a:rPr sz="2550" b="1">
                <a:solidFill>
                  <a:srgbClr val="161616"/>
                </a:solidFill>
              </a:rPr>
              <a:t>Рекомендации: первоочередные меры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2ED18-A009-4918-A874-FD232E54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5A36A-7CBE-4297-B86A-73CC24B7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0485E-FE86-4A28-9E74-D1BC37E4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Khalil Audit System  |  by Ivan Rudoy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5A785-603D-4FCC-B273-37100143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FDE67-8722-450E-B18B-A9DF3975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06680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2B7CC-EC07-4A19-9646-3CCF5154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23950" cy="20764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B1000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6DC38-0CC0-48DF-A580-4EEA3389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20001"/>
                </a:solidFill>
              </a:defRPr>
            </a:pPr>
            <a:r>
              <a:rPr sz="900" b="1">
                <a:solidFill>
                  <a:srgbClr val="B20001"/>
                </a:solidFill>
              </a:rPr>
              <a:t>{{REC_1_LEVEL}}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CAD3C-4D41-46BB-B8DA-48FF68DE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74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20001"/>
                </a:solidFill>
              </a:defRPr>
            </a:pPr>
            <a:r>
              <a:rPr sz="2550" b="1">
                <a:solidFill>
                  <a:srgbClr val="B20001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FB8754-95E4-4B18-806D-BC7DFBF9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524000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1616"/>
                </a:solidFill>
              </a:defRPr>
            </a:pPr>
            <a:r>
              <a:rPr sz="1425" b="1">
                <a:solidFill>
                  <a:srgbClr val="161616"/>
                </a:solidFill>
              </a:rPr>
              <a:t>{{REC_1_TITLE}}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72FA5-6742-4C1E-9EDE-2A130511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33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Основание приоритета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055EB2-D21E-4DA2-9040-0F516A10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240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{{REC_1_EVIDENCE}}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ABE41-876C-42D2-9F05-7AE0912E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384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Что сделать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0F43D-79C9-4497-8EC0-78A33045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2892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1616"/>
                </a:solidFill>
              </a:defRPr>
            </a:pPr>
            <a:r>
              <a:rPr sz="975" b="1">
                <a:solidFill>
                  <a:srgbClr val="161616"/>
                </a:solidFill>
              </a:rPr>
              <a:t>{{REC_1_ACTION}}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EEA417-8D61-4BE7-B215-F2DCD9D6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52575"/>
            <a:ext cx="95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E95F2-3DF1-43E9-8630-E87286A0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525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Решение и производители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AEFE46-1735-437B-889E-D0274DA8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621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1616"/>
                </a:solidFill>
              </a:defRPr>
            </a:pPr>
            <a:r>
              <a:rPr sz="975" b="1">
                <a:solidFill>
                  <a:srgbClr val="161616"/>
                </a:solidFill>
              </a:rPr>
              <a:t>{{REC_1_SOLUTION}} · {{REC_1_VENDORS}}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CA9037-2C89-4912-B9BC-A67035A7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Основание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A7BC7-6000-4E0C-9D98-FD15DE44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860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{{REC_1_LEGAL}}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936B83-833E-4C54-9279-C4D45527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051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Критерий результата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6F17B9-2972-450F-81CA-CACA1EAF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1616"/>
                </a:solidFill>
              </a:defRPr>
            </a:pPr>
            <a:r>
              <a:rPr sz="900" b="1">
                <a:solidFill>
                  <a:srgbClr val="161616"/>
                </a:solidFill>
              </a:rPr>
              <a:t>{{REC_1_METRIC}}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C01E59-5F20-4BCE-8E43-E2B9A444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06680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805983-3F93-4992-8CA4-161D88CC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123950" cy="20764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B100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396C19-CA87-4B3B-9A0F-9099B937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20002"/>
                </a:solidFill>
              </a:defRPr>
            </a:pPr>
            <a:r>
              <a:rPr sz="900" b="1">
                <a:solidFill>
                  <a:srgbClr val="B20002"/>
                </a:solidFill>
              </a:rPr>
              <a:t>{{REC_2_LEVEL}}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EE367D-6164-4258-9751-39BCE33B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74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20002"/>
                </a:solidFill>
              </a:defRPr>
            </a:pPr>
            <a:r>
              <a:rPr sz="2550" b="1">
                <a:solidFill>
                  <a:srgbClr val="B20002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6D8B4D-3F63-47A1-8DC3-60472629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76675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1616"/>
                </a:solidFill>
              </a:defRPr>
            </a:pPr>
            <a:r>
              <a:rPr sz="1425" b="1">
                <a:solidFill>
                  <a:srgbClr val="161616"/>
                </a:solidFill>
              </a:rPr>
              <a:t>{{REC_2_TITLE}}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E0DF85-CCA3-45FE-8DF9-B5E095E5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86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Основание приоритета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3C480C-B983-47E3-BBC3-40C2DB19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767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{{REC_2_EVIDENCE}}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BFA739-36D5-4D74-A2F1-6C3225F6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911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Что сделать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C6AE76-FDC5-49B1-82DB-2AD51C27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81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1616"/>
                </a:solidFill>
              </a:defRPr>
            </a:pPr>
            <a:r>
              <a:rPr sz="975" b="1">
                <a:solidFill>
                  <a:srgbClr val="161616"/>
                </a:solidFill>
              </a:rPr>
              <a:t>{{REC_2_ACTION}}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B7232F-9CE7-47BF-A85A-5E0709E0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05250"/>
            <a:ext cx="95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43B384-EE66-4ECE-8786-D8A503EC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Решение и производители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93399F-42DA-4526-B3E1-B188A9B7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148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1616"/>
                </a:solidFill>
              </a:defRPr>
            </a:pPr>
            <a:r>
              <a:rPr sz="975" b="1">
                <a:solidFill>
                  <a:srgbClr val="161616"/>
                </a:solidFill>
              </a:rPr>
              <a:t>{{REC_2_SOLUTION}} · {{REC_2_VENDORS}}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8BDE0F-83FC-4761-9EA4-CF8E4F96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386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Основание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3C71A8-B71A-4829-B953-89DCC77A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38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{{REC_2_LEGAL}}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61BCC7-0F8E-4C2D-AAFE-54E44666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57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Критерий результата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F8D418-7ED9-433A-A405-53120B1C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578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1616"/>
                </a:solidFill>
              </a:defRPr>
            </a:pPr>
            <a:r>
              <a:rPr sz="900" b="1">
                <a:solidFill>
                  <a:srgbClr val="161616"/>
                </a:solidFill>
              </a:rPr>
              <a:t>{{REC_2_METRIC}}</a:t>
            </a:r>
          </a:p>
        </p:txBody>
      </p:sp>
    </p:spTree>
    <p:extLst>
      <p:ext uri="{BB962C8B-B14F-4D97-AF65-F5344CB8AC3E}">
        <p14:creationId xmlns:p14="http://schemas.microsoft.com/office/powerpoint/2010/main" val="7866001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807019-7557-421B-AE91-A1C019E9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0c3cc5e1f4e62"/>
          <a:stretch xmlns:a="http://schemas.openxmlformats.org/drawingml/2006/main"/>
        </p:blipFill>
        <p:spPr>
          <a:xfrm xmlns:a="http://schemas.openxmlformats.org/drawingml/2006/main">
            <a:off x="9950954" y="247650"/>
            <a:ext cx="1529341" cy="57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741A29-FCBC-488E-8CE4-5E2E1670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616"/>
                </a:solidFill>
              </a:defRPr>
            </a:pPr>
            <a:r>
              <a:rPr sz="2550" b="1">
                <a:solidFill>
                  <a:srgbClr val="161616"/>
                </a:solidFill>
              </a:rPr>
              <a:t>Рекомендации: снижение основных рисков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C5DBC-F19E-4255-AF45-EC63A33A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6776A-479E-47C9-A497-7411137F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90230-61EB-4E1B-B08F-0E2D4F77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Khalil Audit System  |  by Ivan Rudoy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3CF6E-A3F4-4E9B-BFE4-63B3A6B1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07149-BF28-4F13-B521-8B7C1547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06680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E3ECB-78FE-4FD4-82F2-8C571D26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23950" cy="20764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B100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732B2-AA4A-4467-9C72-19DD0318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20003"/>
                </a:solidFill>
              </a:defRPr>
            </a:pPr>
            <a:r>
              <a:rPr sz="900" b="1">
                <a:solidFill>
                  <a:srgbClr val="B20003"/>
                </a:solidFill>
              </a:rPr>
              <a:t>{{REC_3_LEVEL}}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6F545-CBF1-4904-98AF-D7BFE556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74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20003"/>
                </a:solidFill>
              </a:defRPr>
            </a:pPr>
            <a:r>
              <a:rPr sz="2550" b="1">
                <a:solidFill>
                  <a:srgbClr val="B20003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4114F-8532-4222-A7DE-DB9CF716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524000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1616"/>
                </a:solidFill>
              </a:defRPr>
            </a:pPr>
            <a:r>
              <a:rPr sz="1425" b="1">
                <a:solidFill>
                  <a:srgbClr val="161616"/>
                </a:solidFill>
              </a:rPr>
              <a:t>{{REC_3_TITLE}}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8D12E7-1D15-4588-8DE8-BE172758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33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Основание приоритета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E5692-F623-4CE5-9955-FF9DEC84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240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{{REC_3_EVIDENCE}}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AC041-AD94-44D2-835E-B5604F19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384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Что сделать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1A2026-0303-48B3-96B0-4FEB707C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2892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1616"/>
                </a:solidFill>
              </a:defRPr>
            </a:pPr>
            <a:r>
              <a:rPr sz="975" b="1">
                <a:solidFill>
                  <a:srgbClr val="161616"/>
                </a:solidFill>
              </a:rPr>
              <a:t>{{REC_3_ACTION}}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3387C-B74C-42AF-B495-75D1A081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52575"/>
            <a:ext cx="95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84B5F-29C5-4728-AE55-C97A1C55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525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Решение и производители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5737E9-F7ED-4FD5-8131-A350206C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621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1616"/>
                </a:solidFill>
              </a:defRPr>
            </a:pPr>
            <a:r>
              <a:rPr sz="975" b="1">
                <a:solidFill>
                  <a:srgbClr val="161616"/>
                </a:solidFill>
              </a:rPr>
              <a:t>{{REC_3_SOLUTION}} · {{REC_3_VENDORS}}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F8CB7-3503-48FD-8145-06DD7F44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Основание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851788-D652-449D-899E-190BB94E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860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{{REC_3_LEGAL}}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12A5B8-9CA1-4A45-BEAB-3C8B3D24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051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Критерий результата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3D5918-2413-4970-87C9-D102696D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1616"/>
                </a:solidFill>
              </a:defRPr>
            </a:pPr>
            <a:r>
              <a:rPr sz="900" b="1">
                <a:solidFill>
                  <a:srgbClr val="161616"/>
                </a:solidFill>
              </a:rPr>
              <a:t>{{REC_3_METRIC}}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45C5E2-01AD-4D16-8A5F-78B3BEBF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06680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A041C3-3AFD-49EC-B57E-99C7E573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123950" cy="20764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B100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5C2693-DE60-434B-B913-A02CBD57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20004"/>
                </a:solidFill>
              </a:defRPr>
            </a:pPr>
            <a:r>
              <a:rPr sz="900" b="1">
                <a:solidFill>
                  <a:srgbClr val="B20004"/>
                </a:solidFill>
              </a:rPr>
              <a:t>{{REC_4_LEVEL}}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9AB834-1B7A-476F-88C2-6E340EBF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74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20004"/>
                </a:solidFill>
              </a:defRPr>
            </a:pPr>
            <a:r>
              <a:rPr sz="2550" b="1">
                <a:solidFill>
                  <a:srgbClr val="B20004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8C5461-9CD4-4E10-820D-F7CBB7C7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76675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1616"/>
                </a:solidFill>
              </a:defRPr>
            </a:pPr>
            <a:r>
              <a:rPr sz="1425" b="1">
                <a:solidFill>
                  <a:srgbClr val="161616"/>
                </a:solidFill>
              </a:rPr>
              <a:t>{{REC_4_TITLE}}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D3C147-A227-4FDE-8E21-2E2071CA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86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Основание приоритета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5822AE-F70B-401E-BF34-1B128876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767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{{REC_4_EVIDENCE}}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B74832-BFAC-49BE-822C-97A5B79D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911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Что сделать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2545A5-5699-4633-ABCB-710B43DE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81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1616"/>
                </a:solidFill>
              </a:defRPr>
            </a:pPr>
            <a:r>
              <a:rPr sz="975" b="1">
                <a:solidFill>
                  <a:srgbClr val="161616"/>
                </a:solidFill>
              </a:rPr>
              <a:t>{{REC_4_ACTION}}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296E79-D11F-46D3-8381-1841F4F3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05250"/>
            <a:ext cx="95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A4754E-0AF7-42C6-B7BE-F5FB82E4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Решение и производители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628227-8BEA-43DC-A940-D35388A8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148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1616"/>
                </a:solidFill>
              </a:defRPr>
            </a:pPr>
            <a:r>
              <a:rPr sz="975" b="1">
                <a:solidFill>
                  <a:srgbClr val="161616"/>
                </a:solidFill>
              </a:rPr>
              <a:t>{{REC_4_SOLUTION}} · {{REC_4_VENDORS}}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F63A4C-8FFA-4F4E-9F2A-E79A710F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386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Основание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754742-F160-4152-8AFC-843A2931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38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{{REC_4_LEGAL}}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C6BE1B-3013-47F9-A5FB-BD86388C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57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Критерий результата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B3FF22-7827-4ECD-A5E6-A2943D18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578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1616"/>
                </a:solidFill>
              </a:defRPr>
            </a:pPr>
            <a:r>
              <a:rPr sz="900" b="1">
                <a:solidFill>
                  <a:srgbClr val="161616"/>
                </a:solidFill>
              </a:rPr>
              <a:t>{{REC_4_METRIC}}</a:t>
            </a:r>
          </a:p>
        </p:txBody>
      </p:sp>
    </p:spTree>
    <p:extLst>
      <p:ext uri="{BB962C8B-B14F-4D97-AF65-F5344CB8AC3E}">
        <p14:creationId xmlns:p14="http://schemas.microsoft.com/office/powerpoint/2010/main" val="16960805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AF8D39-3B69-4E10-BECF-19C0F9E1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68ab9163d4998"/>
          <a:stretch xmlns:a="http://schemas.openxmlformats.org/drawingml/2006/main"/>
        </p:blipFill>
        <p:spPr>
          <a:xfrm xmlns:a="http://schemas.openxmlformats.org/drawingml/2006/main">
            <a:off x="9950954" y="247650"/>
            <a:ext cx="1529341" cy="57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7FADF-8EFA-41AE-869F-50F5DF8E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616"/>
                </a:solidFill>
              </a:defRPr>
            </a:pPr>
            <a:r>
              <a:rPr sz="2550" b="1">
                <a:solidFill>
                  <a:srgbClr val="161616"/>
                </a:solidFill>
              </a:rPr>
              <a:t>Рекомендации: устойчивость ИТ и ИБ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54B80-CC02-4405-97F5-D61729A2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11522-778B-41C6-8E6B-A8FB21EA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A6958-D371-495B-9468-8E002728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Khalil Audit System  |  by Ivan Rudoy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EB582-12CA-4C8E-9F0D-AD11CD0F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0EA51-4028-40BD-BD4F-1DB50E85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06680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07740-65E2-4408-A95E-E8F30FE7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23950" cy="20764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B100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2782C-5A9E-4EC2-9361-DFF64DAF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20005"/>
                </a:solidFill>
              </a:defRPr>
            </a:pPr>
            <a:r>
              <a:rPr sz="900" b="1">
                <a:solidFill>
                  <a:srgbClr val="B20005"/>
                </a:solidFill>
              </a:rPr>
              <a:t>{{REC_5_LEVEL}}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1C7B9-9599-4A17-9CE7-06699C95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74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20005"/>
                </a:solidFill>
              </a:defRPr>
            </a:pPr>
            <a:r>
              <a:rPr sz="2550" b="1">
                <a:solidFill>
                  <a:srgbClr val="B20005"/>
                </a:solidFill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059F9-CF2C-473B-8988-4AE0727F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524000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1616"/>
                </a:solidFill>
              </a:defRPr>
            </a:pPr>
            <a:r>
              <a:rPr sz="1425" b="1">
                <a:solidFill>
                  <a:srgbClr val="161616"/>
                </a:solidFill>
              </a:rPr>
              <a:t>{{REC_5_TITLE}}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365C3-CCE8-432B-B477-2FA51A80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33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Основание приоритета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193AB-4578-49A2-87DC-34183A0B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240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{{REC_5_EVIDENCE}}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EB4E1-4149-4651-A90D-5671EAB4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384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Что сделать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D1CE1D-AF4E-45AE-A3D7-E08BAEF7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2892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1616"/>
                </a:solidFill>
              </a:defRPr>
            </a:pPr>
            <a:r>
              <a:rPr sz="975" b="1">
                <a:solidFill>
                  <a:srgbClr val="161616"/>
                </a:solidFill>
              </a:rPr>
              <a:t>{{REC_5_ACTION}}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BBB851-0575-4A57-B53A-431D2406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52575"/>
            <a:ext cx="95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93818-ADE5-48DC-813E-EDF2D96E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525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Решение и производители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ECE3C8-F281-4AEC-AB54-AB513936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621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1616"/>
                </a:solidFill>
              </a:defRPr>
            </a:pPr>
            <a:r>
              <a:rPr sz="975" b="1">
                <a:solidFill>
                  <a:srgbClr val="161616"/>
                </a:solidFill>
              </a:rPr>
              <a:t>{{REC_5_SOLUTION}} · {{REC_5_VENDORS}}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90D700-A0D8-42BE-97BA-A195396E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Основание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76DE5-71E0-4D31-9273-667B3CF3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860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{{REC_5_LEGAL}}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FF2A14-A237-4028-A670-89BF9774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051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Критерий результата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8B55FB-5591-4795-96C9-99401A80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1616"/>
                </a:solidFill>
              </a:defRPr>
            </a:pPr>
            <a:r>
              <a:rPr sz="900" b="1">
                <a:solidFill>
                  <a:srgbClr val="161616"/>
                </a:solidFill>
              </a:rPr>
              <a:t>{{REC_5_METRIC}}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D4AC51-1E93-4805-91B3-01B7D1DB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06680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584B23-940E-4B7F-A8A7-0F7023AC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123950" cy="20764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B100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0ACFA6-2390-4D49-9EAF-DE60AFDE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20006"/>
                </a:solidFill>
              </a:defRPr>
            </a:pPr>
            <a:r>
              <a:rPr sz="900" b="1">
                <a:solidFill>
                  <a:srgbClr val="B20006"/>
                </a:solidFill>
              </a:rPr>
              <a:t>{{REC_6_LEVEL}}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0B6AF3-FA61-44E3-BD42-DEEF9226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74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20006"/>
                </a:solidFill>
              </a:defRPr>
            </a:pPr>
            <a:r>
              <a:rPr sz="2550" b="1">
                <a:solidFill>
                  <a:srgbClr val="B20006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1D8EA9-FA87-4AAF-AB50-20CB9B9C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76675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1616"/>
                </a:solidFill>
              </a:defRPr>
            </a:pPr>
            <a:r>
              <a:rPr sz="1425" b="1">
                <a:solidFill>
                  <a:srgbClr val="161616"/>
                </a:solidFill>
              </a:rPr>
              <a:t>{{REC_6_TITLE}}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0FB69C-94F9-4E7D-B005-9DC6CCDA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86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Основание приоритета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D20C34-5B19-49C9-BDA2-C87C4C68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767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{{REC_6_EVIDENCE}}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0CA806-E161-4DDA-95AF-6CDF67C2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911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Что сделать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AD71A5-6CC7-456E-8219-4E29A593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81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1616"/>
                </a:solidFill>
              </a:defRPr>
            </a:pPr>
            <a:r>
              <a:rPr sz="975" b="1">
                <a:solidFill>
                  <a:srgbClr val="161616"/>
                </a:solidFill>
              </a:rPr>
              <a:t>{{REC_6_ACTION}}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2838D4-91D9-4045-94C3-09353314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05250"/>
            <a:ext cx="95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577AE1-0E5A-462B-BEB7-CE453391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Решение и производители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0299DA-E905-4CAA-9CD6-3D5FFE9D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148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1616"/>
                </a:solidFill>
              </a:defRPr>
            </a:pPr>
            <a:r>
              <a:rPr sz="975" b="1">
                <a:solidFill>
                  <a:srgbClr val="161616"/>
                </a:solidFill>
              </a:rPr>
              <a:t>{{REC_6_SOLUTION}} · {{REC_6_VENDORS}}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35CCA0-6986-4272-902D-D9DDDFEF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386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Основание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FEC948-7EF7-4187-9666-FE710DE7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38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{{REC_6_LEGAL}}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E13500-D498-4C14-A5CC-0E8BCEF8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57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Критерий результата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542E4E-844F-473B-B1E3-153760E1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578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1616"/>
                </a:solidFill>
              </a:defRPr>
            </a:pPr>
            <a:r>
              <a:rPr sz="900" b="1">
                <a:solidFill>
                  <a:srgbClr val="161616"/>
                </a:solidFill>
              </a:rPr>
              <a:t>{{REC_6_METRIC}}</a:t>
            </a:r>
          </a:p>
        </p:txBody>
      </p:sp>
    </p:spTree>
    <p:extLst>
      <p:ext uri="{BB962C8B-B14F-4D97-AF65-F5344CB8AC3E}">
        <p14:creationId xmlns:p14="http://schemas.microsoft.com/office/powerpoint/2010/main" val="13582592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9F86F7-3180-4120-AFA3-D4518E00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1702623fe44e6"/>
          <a:stretch xmlns:a="http://schemas.openxmlformats.org/drawingml/2006/main"/>
        </p:blipFill>
        <p:spPr>
          <a:xfrm xmlns:a="http://schemas.openxmlformats.org/drawingml/2006/main">
            <a:off x="9950954" y="247650"/>
            <a:ext cx="1529341" cy="57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F9245-4653-4B66-826A-5D403A78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616"/>
                </a:solidFill>
              </a:defRPr>
            </a:pPr>
            <a:r>
              <a:rPr sz="2550" b="1">
                <a:solidFill>
                  <a:srgbClr val="161616"/>
                </a:solidFill>
              </a:rPr>
              <a:t>Рекомендации: следующий уровень зрелости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86675-3B25-4382-BE52-B7C8B66A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60340-E1DB-4FE1-9716-2104E126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2D70C-FFD5-4999-ABF5-A97A397D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Khalil Audit System  |  by Ivan Rudoy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B4022F-0EAE-4ED8-A6CC-04F79497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C68F7-983B-4461-9892-0BFDBCDF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06680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C0898-2706-4F93-ABD7-7E566AA3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23950" cy="20764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B100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05C82-EFC5-4D1D-A680-330559AE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20007"/>
                </a:solidFill>
              </a:defRPr>
            </a:pPr>
            <a:r>
              <a:rPr sz="900" b="1">
                <a:solidFill>
                  <a:srgbClr val="B20007"/>
                </a:solidFill>
              </a:rPr>
              <a:t>{{REC_7_LEVEL}}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C3235-EDA1-48F3-93B4-EAB9CF02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74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20007"/>
                </a:solidFill>
              </a:defRPr>
            </a:pPr>
            <a:r>
              <a:rPr sz="2550" b="1">
                <a:solidFill>
                  <a:srgbClr val="B20007"/>
                </a:solidFill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0F641-107A-4BAA-92B8-5C273275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524000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1616"/>
                </a:solidFill>
              </a:defRPr>
            </a:pPr>
            <a:r>
              <a:rPr sz="1425" b="1">
                <a:solidFill>
                  <a:srgbClr val="161616"/>
                </a:solidFill>
              </a:rPr>
              <a:t>{{REC_7_TITLE}}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920BE-5B0F-4E2D-86B4-2191EC3B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33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Основание приоритета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B5333-BBEF-4200-8F70-90482C69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240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{{REC_7_EVIDENCE}}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70C19B-2583-475F-A385-846E69A4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384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Что сделать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7FBB3D-64A3-4630-AE32-AAAB19B0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2892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1616"/>
                </a:solidFill>
              </a:defRPr>
            </a:pPr>
            <a:r>
              <a:rPr sz="975" b="1">
                <a:solidFill>
                  <a:srgbClr val="161616"/>
                </a:solidFill>
              </a:rPr>
              <a:t>{{REC_7_ACTION}}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9E67BB-8167-4E3C-B1F7-FD9B67B9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52575"/>
            <a:ext cx="95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0ADC7-DCFC-48D6-9EF9-92207F66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525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Решение и производители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5CAE30-DFC9-473C-A0ED-0F91D656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621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1616"/>
                </a:solidFill>
              </a:defRPr>
            </a:pPr>
            <a:r>
              <a:rPr sz="975" b="1">
                <a:solidFill>
                  <a:srgbClr val="161616"/>
                </a:solidFill>
              </a:rPr>
              <a:t>{{REC_7_SOLUTION}} · {{REC_7_VENDORS}}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7408C7-C72E-4C5E-8CCB-8B4C995F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Основание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A2870-97CF-4CAA-8E35-613993EF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860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{{REC_7_LEGAL}}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3A24B6-733A-4DF0-AD53-92A302EC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051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Критерий результата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31190D-A255-4B42-9AC0-3768DFBA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1616"/>
                </a:solidFill>
              </a:defRPr>
            </a:pPr>
            <a:r>
              <a:rPr sz="900" b="1">
                <a:solidFill>
                  <a:srgbClr val="161616"/>
                </a:solidFill>
              </a:rPr>
              <a:t>{{REC_7_METRIC}}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AE6698-449B-4E11-A00F-5FC8B54C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06680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1BD5D1-4B03-47E0-8F46-3F036ECE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123950" cy="20764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B100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407524-6733-45A5-A9CA-1CDC3971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20008"/>
                </a:solidFill>
              </a:defRPr>
            </a:pPr>
            <a:r>
              <a:rPr sz="900" b="1">
                <a:solidFill>
                  <a:srgbClr val="B20008"/>
                </a:solidFill>
              </a:rPr>
              <a:t>{{REC_8_LEVEL}}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B92D38-8ECA-4A57-9A39-9B3426E2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74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20008"/>
                </a:solidFill>
              </a:defRPr>
            </a:pPr>
            <a:r>
              <a:rPr sz="2550" b="1">
                <a:solidFill>
                  <a:srgbClr val="B20008"/>
                </a:solidFill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508745-3C7E-42CB-B8C6-EB620879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76675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1616"/>
                </a:solidFill>
              </a:defRPr>
            </a:pPr>
            <a:r>
              <a:rPr sz="1425" b="1">
                <a:solidFill>
                  <a:srgbClr val="161616"/>
                </a:solidFill>
              </a:rPr>
              <a:t>{{REC_8_TITLE}}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DC3661-2DFB-43FE-B4DC-1ABB32FA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86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Основание приоритета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047A1B-C477-4209-900F-729EA13B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767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{{REC_8_EVIDENCE}}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828C0D-022D-4D35-9BCE-895D0C71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911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Что сделать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F6164B-8DCF-4A75-8B65-3382422F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81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1616"/>
                </a:solidFill>
              </a:defRPr>
            </a:pPr>
            <a:r>
              <a:rPr sz="975" b="1">
                <a:solidFill>
                  <a:srgbClr val="161616"/>
                </a:solidFill>
              </a:rPr>
              <a:t>{{REC_8_ACTION}}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B116C0-17CF-4A7E-9F27-A0661650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05250"/>
            <a:ext cx="95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B5D5E1-5729-4107-9AC2-DE0AF91C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Решение и производители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AE72CB-BF4E-420C-BF3A-E6F4AE05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148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1616"/>
                </a:solidFill>
              </a:defRPr>
            </a:pPr>
            <a:r>
              <a:rPr sz="975" b="1">
                <a:solidFill>
                  <a:srgbClr val="161616"/>
                </a:solidFill>
              </a:rPr>
              <a:t>{{REC_8_SOLUTION}} · {{REC_8_VENDORS}}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747773-D27D-40F3-B047-8DA87425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386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Основание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828791-9A72-4AAF-A352-70CD606B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38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{{REC_8_LEGAL}}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7FA05A-D014-43DE-94A3-ED0857E7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57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Критерий результата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A92931-C91B-415D-B106-2AAD2950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578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1616"/>
                </a:solidFill>
              </a:defRPr>
            </a:pPr>
            <a:r>
              <a:rPr sz="900" b="1">
                <a:solidFill>
                  <a:srgbClr val="161616"/>
                </a:solidFill>
              </a:rPr>
              <a:t>{{REC_8_METRIC}}</a:t>
            </a:r>
          </a:p>
        </p:txBody>
      </p:sp>
    </p:spTree>
    <p:extLst>
      <p:ext uri="{BB962C8B-B14F-4D97-AF65-F5344CB8AC3E}">
        <p14:creationId xmlns:p14="http://schemas.microsoft.com/office/powerpoint/2010/main" val="5919467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BD784B-EAAA-41AE-8468-1F8D6AC9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8fca5b2764ba7"/>
          <a:stretch xmlns:a="http://schemas.openxmlformats.org/drawingml/2006/main"/>
        </p:blipFill>
        <p:spPr>
          <a:xfrm xmlns:a="http://schemas.openxmlformats.org/drawingml/2006/main">
            <a:off x="9950954" y="247650"/>
            <a:ext cx="1529341" cy="57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3AB26-2719-47DA-BE6F-5AB4CFBD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616"/>
                </a:solidFill>
              </a:defRPr>
            </a:pPr>
            <a:r>
              <a:rPr sz="2550" b="1">
                <a:solidFill>
                  <a:srgbClr val="161616"/>
                </a:solidFill>
              </a:rPr>
              <a:t>План на 90 дней переводит выводы в действия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B70C4-B8C8-4ED1-8C32-D75922CD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9CDE2-77C5-4317-8179-1B3AA727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D7665-D4A1-4260-9981-AFBB281C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Khalil Audit System  |  by Ivan Rudoy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13E20-C0E5-43B8-B623-FA41E4B9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73E32-F6F0-484D-924E-7DE39206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064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Сначала 20% первоочередных мер, которые закрывают основную долю подтвержденных рисков.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3E15B-AFF6-4B94-8E00-720A8CE4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943100"/>
            <a:ext cx="381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A61C7-6CDD-4F28-93C1-D7823C1F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58A84-2C0D-4EF9-A80C-EA001111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DB66B4-F109-4644-B5A9-7592833D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52600"/>
            <a:ext cx="9810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E25EC-88BE-4302-97A5-188EAD00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412"/>
                </a:solidFill>
              </a:defRPr>
            </a:pPr>
            <a:r>
              <a:rPr sz="1125" b="1">
                <a:solidFill>
                  <a:srgbClr val="FF6412"/>
                </a:solidFill>
              </a:rPr>
              <a:t>0–30 дней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E00B7-0ECC-43A2-8D87-08032F50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1616"/>
                </a:solidFill>
              </a:defRPr>
            </a:pPr>
            <a:r>
              <a:rPr sz="1125" b="1">
                <a:solidFill>
                  <a:srgbClr val="161616"/>
                </a:solidFill>
              </a:rPr>
              <a:t>ПРИОРИТЕТЫ И БЫСТРЫЕ МЕРЫ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28966-779F-435B-83BA-D80131FE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5262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AF4D9E-A90C-4951-AB66-96D45365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95475"/>
            <a:ext cx="2362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61616"/>
                </a:solidFill>
              </a:defRPr>
            </a:pPr>
            <a:r>
              <a:rPr sz="975">
                <a:solidFill>
                  <a:srgbClr val="161616"/>
                </a:solidFill>
              </a:rPr>
              <a:t>{{ROADMAP_1_1}}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84CB6-E623-4C9A-A454-D48F3E2A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5262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B7352C-A1AB-44D1-96F7-26490FA8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95475"/>
            <a:ext cx="1847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61616"/>
                </a:solidFill>
              </a:defRPr>
            </a:pPr>
            <a:r>
              <a:rPr sz="975">
                <a:solidFill>
                  <a:srgbClr val="161616"/>
                </a:solidFill>
              </a:rPr>
              <a:t>{{ROADMAP_1_2}}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C2543B-E057-4A8B-AB2F-DC5252BE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85950"/>
            <a:ext cx="1524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BB8230-C3DE-4394-8D54-B57F3B8F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6412"/>
                </a:solidFill>
              </a:defRPr>
            </a:pPr>
            <a:r>
              <a:rPr sz="675" b="1">
                <a:solidFill>
                  <a:srgbClr val="FF6412"/>
                </a:solidFill>
              </a:rPr>
              <a:t>РЕЗУЛЬТАТ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720A26-6F4C-4F4A-81C1-FAA7A541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1295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1616"/>
                </a:solidFill>
              </a:defRPr>
            </a:pPr>
            <a:r>
              <a:rPr sz="750" b="1">
                <a:solidFill>
                  <a:srgbClr val="161616"/>
                </a:solidFill>
              </a:rPr>
              <a:t>{{ROADMAP_1_RESULT}}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7BCE37-39D3-4563-BB5A-E7F078AB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D059FE-00D2-4720-9710-D6FC6556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5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F79F60-96D2-4FC7-99F1-A76C7EFD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9450"/>
            <a:ext cx="9810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BE4A4C-EFD4-49CC-9DBA-9E34CE18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412"/>
                </a:solidFill>
              </a:defRPr>
            </a:pPr>
            <a:r>
              <a:rPr sz="1125" b="1">
                <a:solidFill>
                  <a:srgbClr val="FF6412"/>
                </a:solidFill>
              </a:rPr>
              <a:t>31–60 дней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7F4EF2-C991-4DFC-A8A5-B2929FCF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576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1616"/>
                </a:solidFill>
              </a:defRPr>
            </a:pPr>
            <a:r>
              <a:rPr sz="1125" b="1">
                <a:solidFill>
                  <a:srgbClr val="161616"/>
                </a:solidFill>
              </a:rPr>
              <a:t>ПИЛОТЫ И РЕГЛАМЕНТЫ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1C3D32-4D80-47F5-A7FE-56C76191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194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4E8800-75F4-4FCC-B10F-2503B88D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62325"/>
            <a:ext cx="2362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61616"/>
                </a:solidFill>
              </a:defRPr>
            </a:pPr>
            <a:r>
              <a:rPr sz="975">
                <a:solidFill>
                  <a:srgbClr val="161616"/>
                </a:solidFill>
              </a:rPr>
              <a:t>{{ROADMAP_2_1}}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7E08FD-78A7-462D-AF2B-69EBD5D2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194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075544-D867-49FD-A8A4-D337197D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62325"/>
            <a:ext cx="1847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61616"/>
                </a:solidFill>
              </a:defRPr>
            </a:pPr>
            <a:r>
              <a:rPr sz="975">
                <a:solidFill>
                  <a:srgbClr val="161616"/>
                </a:solidFill>
              </a:rPr>
              <a:t>{{ROADMAP_2_2}}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003997-1FB5-4D3F-B2C9-9CBD3C3D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52800"/>
            <a:ext cx="1524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A09651-1576-4C85-9FB0-A0F5E5AA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480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6412"/>
                </a:solidFill>
              </a:defRPr>
            </a:pPr>
            <a:r>
              <a:rPr sz="675" b="1">
                <a:solidFill>
                  <a:srgbClr val="FF6412"/>
                </a:solidFill>
              </a:rPr>
              <a:t>РЕЗУЛЬТАТ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EB3CD9-9257-4165-9F94-5C50EC19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57600"/>
            <a:ext cx="1295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1616"/>
                </a:solidFill>
              </a:defRPr>
            </a:pPr>
            <a:r>
              <a:rPr sz="750" b="1">
                <a:solidFill>
                  <a:srgbClr val="161616"/>
                </a:solidFill>
              </a:rPr>
              <a:t>{{ROADMAP_2_RESULT}}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9A8841-3E5E-43F6-A6E2-1194A0F8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A5F240-8344-46A8-8BE4-19C85B6F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20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1CA71C-2B85-4128-A5A1-06979865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86300"/>
            <a:ext cx="9810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F78BD0-4467-4C92-8543-1BF2758B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387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412"/>
                </a:solidFill>
              </a:defRPr>
            </a:pPr>
            <a:r>
              <a:rPr sz="1125" b="1">
                <a:solidFill>
                  <a:srgbClr val="FF6412"/>
                </a:solidFill>
              </a:rPr>
              <a:t>61–90 дней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3CFDB0-3983-4EBC-8CF3-1A25659B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244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1616"/>
                </a:solidFill>
              </a:defRPr>
            </a:pPr>
            <a:r>
              <a:rPr sz="1125" b="1">
                <a:solidFill>
                  <a:srgbClr val="161616"/>
                </a:solidFill>
              </a:rPr>
              <a:t>МАСШТАБИРОВАНИЕ И КОНТРОЛЬ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59B6B9-4273-4035-9583-3771DA89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8632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7F9F8C-3D37-436C-A7E6-53D779DA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29175"/>
            <a:ext cx="2362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61616"/>
                </a:solidFill>
              </a:defRPr>
            </a:pPr>
            <a:r>
              <a:rPr sz="975">
                <a:solidFill>
                  <a:srgbClr val="161616"/>
                </a:solidFill>
              </a:rPr>
              <a:t>{{ROADMAP_3_1}}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245226-036E-4F34-9D48-EFB48D1E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8632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412"/>
                </a:solidFill>
              </a:defRPr>
            </a:pPr>
            <a:r>
              <a:rPr sz="825" b="1">
                <a:solidFill>
                  <a:srgbClr val="FF6412"/>
                </a:solidFill>
              </a:rPr>
              <a:t>02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EF42E9-E985-4C42-A077-87DCA969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29175"/>
            <a:ext cx="1847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61616"/>
                </a:solidFill>
              </a:defRPr>
            </a:pPr>
            <a:r>
              <a:rPr sz="975">
                <a:solidFill>
                  <a:srgbClr val="161616"/>
                </a:solidFill>
              </a:rPr>
              <a:t>{{ROADMAP_3_2}}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46123F-5869-40B5-8DEA-42D133C9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19650"/>
            <a:ext cx="1524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14E16A-F6B5-48EF-B781-D4426FC1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149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6412"/>
                </a:solidFill>
              </a:defRPr>
            </a:pPr>
            <a:r>
              <a:rPr sz="675" b="1">
                <a:solidFill>
                  <a:srgbClr val="FF6412"/>
                </a:solidFill>
              </a:rPr>
              <a:t>РЕЗУЛЬТАТ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F4F02C-02E9-41A9-A3D9-D7409DB5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24450"/>
            <a:ext cx="1295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1616"/>
                </a:solidFill>
              </a:defRPr>
            </a:pPr>
            <a:r>
              <a:rPr sz="750" b="1">
                <a:solidFill>
                  <a:srgbClr val="161616"/>
                </a:solidFill>
              </a:rPr>
              <a:t>{{ROADMAP_3_RESULT}}</a:t>
            </a:r>
          </a:p>
        </p:txBody>
      </p:sp>
    </p:spTree>
    <p:extLst>
      <p:ext uri="{BB962C8B-B14F-4D97-AF65-F5344CB8AC3E}">
        <p14:creationId xmlns:p14="http://schemas.microsoft.com/office/powerpoint/2010/main" val="16655268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E9A11D-2280-4BF8-A21C-FFFAAAD8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b475b9ead84141"/>
          <a:stretch xmlns:a="http://schemas.openxmlformats.org/drawingml/2006/main"/>
        </p:blipFill>
        <p:spPr>
          <a:xfrm xmlns:a="http://schemas.openxmlformats.org/drawingml/2006/main">
            <a:off x="9950954" y="247650"/>
            <a:ext cx="1529341" cy="57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165CB-D235-417B-AA95-1E4FBA14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616"/>
                </a:solidFill>
              </a:defRPr>
            </a:pPr>
            <a:r>
              <a:rPr sz="2550" b="1">
                <a:solidFill>
                  <a:srgbClr val="161616"/>
                </a:solidFill>
              </a:rPr>
              <a:t>Команда для реализации изменений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9063C-7EA4-4E76-B689-12BAF13A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C09A9-CD94-4D99-B916-623BB5AD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DBB2F-F5E9-4F10-95E7-1B5A0770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Khalil Audit System  |  by Ivan Rudoy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AC2E2-5466-4BB6-A7F6-BDA54B39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5D19B-88C7-4362-8924-D6BD2582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1616"/>
                </a:solidFill>
              </a:defRPr>
            </a:pPr>
            <a:r>
              <a:rPr sz="2025" b="1">
                <a:solidFill>
                  <a:srgbClr val="161616"/>
                </a:solidFill>
              </a:rPr>
              <a:t>ТОО «Khalil Trade»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3CC68-EF93-4914-A0EB-15895C7A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514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Системный интегратор и поставщик ИТ-решений для государственных и корпоративных организаций.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C2DDF-45E5-41B2-B777-1A05ED62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6412"/>
                </a:solidFill>
              </a:defRPr>
            </a:pPr>
            <a:r>
              <a:rPr sz="1650" b="1">
                <a:solidFill>
                  <a:srgbClr val="FF6412"/>
                </a:solidFill>
              </a:rPr>
              <a:t>От оценки и проектирования до внедрения, поддержки и развития.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61B9C-C552-4689-BC14-878DA016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61616"/>
                </a:solidFill>
              </a:defRPr>
            </a:pPr>
            <a:r>
              <a:rPr sz="2325" b="1">
                <a:solidFill>
                  <a:srgbClr val="161616"/>
                </a:solidFill>
              </a:rPr>
              <a:t>2020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A33BB-95FC-48A5-9A74-0C090F82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год основания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BE56F-5FEC-4894-9331-91989FF3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434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61616"/>
                </a:solidFill>
              </a:defRPr>
            </a:pPr>
            <a:r>
              <a:rPr sz="2325" b="1">
                <a:solidFill>
                  <a:srgbClr val="161616"/>
                </a:solidFill>
              </a:rPr>
              <a:t>70+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7361D-6A1B-40D6-874F-B05444F9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577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крупных проектов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7E46E-83EA-44B5-9D2F-F06BA4CC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3434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61616"/>
                </a:solidFill>
              </a:defRPr>
            </a:pPr>
            <a:r>
              <a:rPr sz="2325" b="1">
                <a:solidFill>
                  <a:srgbClr val="161616"/>
                </a:solidFill>
              </a:rPr>
              <a:t>40+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990FB-A8D2-47C0-8224-42F7F03A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577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технологических партнеров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DF108-3D60-4FFC-AEA1-47D35793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9065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4FF9E6-F632-4770-A0F4-D1D5EB59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1616"/>
                </a:solidFill>
              </a:defRPr>
            </a:pPr>
            <a:r>
              <a:rPr sz="1725" b="1">
                <a:solidFill>
                  <a:srgbClr val="161616"/>
                </a:solidFill>
              </a:rPr>
              <a:t>Компетенции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FAA85-2E93-4429-B93C-CE7AA51C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412"/>
                </a:solidFill>
              </a:defRPr>
            </a:pPr>
            <a:r>
              <a:rPr sz="1050" b="1">
                <a:solidFill>
                  <a:srgbClr val="FF6412"/>
                </a:solidFill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8F0B15-36EC-49AF-9F63-A731C65E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3362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1616"/>
                </a:solidFill>
              </a:defRPr>
            </a:pPr>
            <a:r>
              <a:rPr sz="1275" b="1">
                <a:solidFill>
                  <a:srgbClr val="161616"/>
                </a:solidFill>
              </a:rPr>
              <a:t>Аудит и информационная безопасность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CCD027-62B7-4086-BEF0-9C214511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412"/>
                </a:solidFill>
              </a:defRPr>
            </a:pPr>
            <a:r>
              <a:rPr sz="1050" b="1">
                <a:solidFill>
                  <a:srgbClr val="FF6412"/>
                </a:solidFill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F1882-5B31-4CBD-9C66-8B31E603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1467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1616"/>
                </a:solidFill>
              </a:defRPr>
            </a:pPr>
            <a:r>
              <a:rPr sz="1275" b="1">
                <a:solidFill>
                  <a:srgbClr val="161616"/>
                </a:solidFill>
              </a:rPr>
              <a:t>Сетевая и серверная инфраструктура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BBAAC8-E388-46A5-BB4F-C1A79059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243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412"/>
                </a:solidFill>
              </a:defRPr>
            </a:pPr>
            <a:r>
              <a:rPr sz="1050" b="1">
                <a:solidFill>
                  <a:srgbClr val="FF6412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5B377C-DBBB-45E6-9678-4F1CA619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9572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1616"/>
                </a:solidFill>
              </a:defRPr>
            </a:pPr>
            <a:r>
              <a:rPr sz="1275" b="1">
                <a:solidFill>
                  <a:srgbClr val="161616"/>
                </a:solidFill>
              </a:rPr>
              <a:t>Автоматизация и цифровые решения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CCACF1-E977-489C-8852-27693271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412"/>
                </a:solidFill>
              </a:defRPr>
            </a:pPr>
            <a:r>
              <a:rPr sz="1050" b="1">
                <a:solidFill>
                  <a:srgbClr val="FF6412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21E96E-14DA-4537-9181-4E18F942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7677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1616"/>
                </a:solidFill>
              </a:defRPr>
            </a:pPr>
            <a:r>
              <a:rPr sz="1275" b="1">
                <a:solidFill>
                  <a:srgbClr val="161616"/>
                </a:solidFill>
              </a:rPr>
              <a:t>Внедрение, поддержка и передача знаний</a:t>
            </a:r>
          </a:p>
        </p:txBody>
      </p:sp>
    </p:spTree>
    <p:extLst>
      <p:ext uri="{BB962C8B-B14F-4D97-AF65-F5344CB8AC3E}">
        <p14:creationId xmlns:p14="http://schemas.microsoft.com/office/powerpoint/2010/main" val="1738579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E62689-791F-46EA-A5A6-D2D368D3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5fb96003a4ee1"/>
          <a:stretch xmlns:a="http://schemas.openxmlformats.org/drawingml/2006/main"/>
        </p:blipFill>
        <p:spPr>
          <a:xfrm xmlns:a="http://schemas.openxmlformats.org/drawingml/2006/main">
            <a:off x="9950954" y="247650"/>
            <a:ext cx="1529341" cy="57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F9616-0108-4AF6-A1A4-AFAF2314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616"/>
                </a:solidFill>
              </a:defRPr>
            </a:pPr>
            <a:r>
              <a:rPr sz="2550" b="1">
                <a:solidFill>
                  <a:srgbClr val="161616"/>
                </a:solidFill>
              </a:rPr>
              <a:t>Зафиксируйте решения и следующий шаг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14C15-E0C0-41C3-A2A1-A914DAF0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15044-6767-436D-B2B0-674C36FD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F433A-39B6-454E-AE6D-FEBB9801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Khalil Audit System  |  by Ivan Rudoy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72FB6-628D-4508-9750-91006ED8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FAC10-9B06-4C13-BC38-FDAE47CA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412"/>
                </a:solidFill>
              </a:defRPr>
            </a:pPr>
            <a:r>
              <a:rPr sz="1200" b="1">
                <a:solidFill>
                  <a:srgbClr val="FF641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0D460-27B8-4006-AEFD-1BAB912D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24000"/>
            <a:ext cx="6419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1616"/>
                </a:solidFill>
              </a:defRPr>
            </a:pPr>
            <a:r>
              <a:rPr sz="1275">
                <a:solidFill>
                  <a:srgbClr val="161616"/>
                </a:solidFill>
              </a:rPr>
              <a:t>{{DECISION_1}}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B3CE3-D955-4AE3-B6DC-C5E9F153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73E77-C8CD-4CCE-A900-88EA4785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412"/>
                </a:solidFill>
              </a:defRPr>
            </a:pPr>
            <a:r>
              <a:rPr sz="1200" b="1">
                <a:solidFill>
                  <a:srgbClr val="FF6412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1F8A65-F47C-4F28-B7B5-E5E5831F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6419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1616"/>
                </a:solidFill>
              </a:defRPr>
            </a:pPr>
            <a:r>
              <a:rPr sz="1275">
                <a:solidFill>
                  <a:srgbClr val="161616"/>
                </a:solidFill>
              </a:rPr>
              <a:t>{{DECISION_2}}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F5CF0-20F7-4A0D-96BD-4DCE7ED0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6710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255FA-9D86-46C4-87DB-5AF308E9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412"/>
                </a:solidFill>
              </a:defRPr>
            </a:pPr>
            <a:r>
              <a:rPr sz="1200" b="1">
                <a:solidFill>
                  <a:srgbClr val="FF641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6C8295-CBF4-42F5-B03E-E987027A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6419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1616"/>
                </a:solidFill>
              </a:defRPr>
            </a:pPr>
            <a:r>
              <a:rPr sz="1275">
                <a:solidFill>
                  <a:srgbClr val="161616"/>
                </a:solidFill>
              </a:rPr>
              <a:t>{{DECISION_3}}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92E59-EACF-4DE5-B922-935216C9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9583E-643D-49C3-BADA-B644CC9D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412"/>
                </a:solidFill>
              </a:defRPr>
            </a:pPr>
            <a:r>
              <a:rPr sz="1200" b="1">
                <a:solidFill>
                  <a:srgbClr val="FF6412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FAB87D-F19E-4E65-98E0-53340CCD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24400"/>
            <a:ext cx="6419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1616"/>
                </a:solidFill>
              </a:defRPr>
            </a:pPr>
            <a:r>
              <a:rPr sz="1275">
                <a:solidFill>
                  <a:srgbClr val="161616"/>
                </a:solidFill>
              </a:rPr>
              <a:t>{{DECISION_4}}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E97428-DE69-471D-9217-CD4B4B81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90650"/>
            <a:ext cx="3467100" cy="4705350"/>
          </a:xfrm>
          <a:prstGeom xmlns:a="http://schemas.openxmlformats.org/drawingml/2006/main" prst="roundRect">
            <a:avLst>
              <a:gd name="adj" fmla="val 3297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94800-6C6D-4F0A-A213-76FDF8CB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573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1616"/>
                </a:solidFill>
              </a:defRPr>
            </a:pPr>
            <a:r>
              <a:rPr sz="1875" b="1">
                <a:solidFill>
                  <a:srgbClr val="161616"/>
                </a:solidFill>
              </a:rPr>
              <a:t>Хотите получить больше сведений?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05B87D-2ABC-4EB8-B866-2B5B54F9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Обсудим приоритеты, варианты решений и практический план внедрения.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5c8278ed84b6f"/>
          <a:stretch xmlns:a="http://schemas.openxmlformats.org/drawingml/2006/main"/>
        </p:blipFill>
        <p:spPr>
          <a:xfrm xmlns:a="http://schemas.openxmlformats.org/drawingml/2006/main">
            <a:off x="8705850" y="2990850"/>
            <a:ext cx="1866900" cy="18669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141B8A-DB4A-4A34-B982-325299A0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530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Сканируйте QR, чтобы сохранить контакты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200418-A0A5-4959-9463-FED2441C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149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412"/>
                </a:solidFill>
              </a:defRPr>
            </a:pPr>
            <a:r>
              <a:rPr sz="1125" b="1">
                <a:solidFill>
                  <a:srgbClr val="FF6412"/>
                </a:solidFill>
              </a:rPr>
              <a:t>info@khalilgroup.kz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285735-6E27-4BF6-B37B-AF338A58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5816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1616"/>
                </a:solidFill>
              </a:defRPr>
            </a:pPr>
            <a:r>
              <a:rPr sz="1125" b="1">
                <a:solidFill>
                  <a:srgbClr val="161616"/>
                </a:solidFill>
              </a:rPr>
              <a:t>+7 706 701 48 35</a:t>
            </a:r>
          </a:p>
        </p:txBody>
      </p:sp>
    </p:spTree>
    <p:extLst>
      <p:ext uri="{BB962C8B-B14F-4D97-AF65-F5344CB8AC3E}">
        <p14:creationId xmlns:p14="http://schemas.microsoft.com/office/powerpoint/2010/main" val="16152207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2026-07-17T20:50:05.7130000Z</dcterms:created>
  <dcterms:modified xsi:type="dcterms:W3CDTF">2026-07-17T20:50:05.7130000Z</dcterms:modified>
</coreProperties>
</file>