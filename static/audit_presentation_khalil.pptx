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1ec2711fc2848d1" /><Relationship Type="http://schemas.openxmlformats.org/officeDocument/2006/relationships/extended-properties" Target="/docProps/app.xml" Id="R95e29f802e7e4f2f" /><Relationship Type="http://schemas.openxmlformats.org/officeDocument/2006/relationships/officeDocument" Target="/ppt/presentation.xml" Id="R096579db5084492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158e667f0e94219"/>
  </p:sldMasterIdLst>
  <p:notesMasterIdLst>
    <p:notesMasterId xmlns:r="http://schemas.openxmlformats.org/officeDocument/2006/relationships" r:id="Reb12ba5f2508449e"/>
  </p:notesMasterIdLst>
  <p:sldIdLst>
    <p:sldId xmlns:r="http://schemas.openxmlformats.org/officeDocument/2006/relationships" id="256" r:id="Rb7f25a49de0d4217"/>
    <p:sldId xmlns:r="http://schemas.openxmlformats.org/officeDocument/2006/relationships" id="257" r:id="Ra26e001f5b2b450f"/>
    <p:sldId xmlns:r="http://schemas.openxmlformats.org/officeDocument/2006/relationships" id="258" r:id="R5ff1ec516b954efa"/>
    <p:sldId xmlns:r="http://schemas.openxmlformats.org/officeDocument/2006/relationships" id="259" r:id="R2489c54c120c45b2"/>
    <p:sldId xmlns:r="http://schemas.openxmlformats.org/officeDocument/2006/relationships" id="260" r:id="R9ac910a12f694cb4"/>
    <p:sldId xmlns:r="http://schemas.openxmlformats.org/officeDocument/2006/relationships" id="261" r:id="R34d95a290f874f3d"/>
    <p:sldId xmlns:r="http://schemas.openxmlformats.org/officeDocument/2006/relationships" id="262" r:id="R9d8d79dd70054fa3"/>
    <p:sldId xmlns:r="http://schemas.openxmlformats.org/officeDocument/2006/relationships" id="263" r:id="R8efaed0e33a1480a"/>
    <p:sldId xmlns:r="http://schemas.openxmlformats.org/officeDocument/2006/relationships" id="264" r:id="R8173fbc3adcc485e"/>
    <p:sldId xmlns:r="http://schemas.openxmlformats.org/officeDocument/2006/relationships" id="265" r:id="R9d8b4e66b8f84a87"/>
    <p:sldId xmlns:r="http://schemas.openxmlformats.org/officeDocument/2006/relationships" id="266" r:id="Ra1a9acc6e42d405d"/>
    <p:sldId xmlns:r="http://schemas.openxmlformats.org/officeDocument/2006/relationships" id="267" r:id="Rf48e69c29d4e4cbe"/>
    <p:sldId xmlns:r="http://schemas.openxmlformats.org/officeDocument/2006/relationships" id="268" r:id="Rab36f525d22f43e3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048334d451f4a67" /><Relationship Type="http://schemas.openxmlformats.org/officeDocument/2006/relationships/slideMaster" Target="/ppt/slideMasters/slideMaster1.xml" Id="R9158e667f0e94219" /><Relationship Type="http://schemas.openxmlformats.org/officeDocument/2006/relationships/notesMaster" Target="/ppt/notesMasters/notesMaster1.xml" Id="Reb12ba5f2508449e" /><Relationship Type="http://schemas.openxmlformats.org/officeDocument/2006/relationships/presProps" Target="/ppt/presProps.xml" Id="R299fdcd6d21a4b51" /><Relationship Type="http://schemas.openxmlformats.org/officeDocument/2006/relationships/tableStyles" Target="/ppt/tableStyles.xml" Id="R3c20f2dd796b486c" /><Relationship Type="http://schemas.openxmlformats.org/officeDocument/2006/relationships/slide" Target="/ppt/slides/slide1.xml" Id="Rb7f25a49de0d4217" /><Relationship Type="http://schemas.openxmlformats.org/officeDocument/2006/relationships/slide" Target="/ppt/slides/slide2.xml" Id="Ra26e001f5b2b450f" /><Relationship Type="http://schemas.openxmlformats.org/officeDocument/2006/relationships/slide" Target="/ppt/slides/slide3.xml" Id="R5ff1ec516b954efa" /><Relationship Type="http://schemas.openxmlformats.org/officeDocument/2006/relationships/slide" Target="/ppt/slides/slide4.xml" Id="R2489c54c120c45b2" /><Relationship Type="http://schemas.openxmlformats.org/officeDocument/2006/relationships/slide" Target="/ppt/slides/slide5.xml" Id="R9ac910a12f694cb4" /><Relationship Type="http://schemas.openxmlformats.org/officeDocument/2006/relationships/slide" Target="/ppt/slides/slide6.xml" Id="R34d95a290f874f3d" /><Relationship Type="http://schemas.openxmlformats.org/officeDocument/2006/relationships/slide" Target="/ppt/slides/slide7.xml" Id="R9d8d79dd70054fa3" /><Relationship Type="http://schemas.openxmlformats.org/officeDocument/2006/relationships/slide" Target="/ppt/slides/slide8.xml" Id="R8efaed0e33a1480a" /><Relationship Type="http://schemas.openxmlformats.org/officeDocument/2006/relationships/slide" Target="/ppt/slides/slide9.xml" Id="R8173fbc3adcc485e" /><Relationship Type="http://schemas.openxmlformats.org/officeDocument/2006/relationships/slide" Target="/ppt/slides/slide10.xml" Id="R9d8b4e66b8f84a87" /><Relationship Type="http://schemas.openxmlformats.org/officeDocument/2006/relationships/slide" Target="/ppt/slides/slide11.xml" Id="Ra1a9acc6e42d405d" /><Relationship Type="http://schemas.openxmlformats.org/officeDocument/2006/relationships/slide" Target="/ppt/slides/slide12.xml" Id="Rf48e69c29d4e4cbe" /><Relationship Type="http://schemas.openxmlformats.org/officeDocument/2006/relationships/slide" Target="/ppt/slides/slide13.xml" Id="Rab36f525d22f43e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3f96b9aab684b1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d8175659cf4497f" /><Relationship Type="http://schemas.openxmlformats.org/officeDocument/2006/relationships/notesMaster" Target="/ppt/notesMasters/notesMaster1.xml" Id="R6dc59955ce494a4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55f27c9fc2246d1" /><Relationship Type="http://schemas.openxmlformats.org/officeDocument/2006/relationships/notesMaster" Target="/ppt/notesMasters/notesMaster1.xml" Id="Ra5d9bf95a545441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b1eac1cb2564563" /><Relationship Type="http://schemas.openxmlformats.org/officeDocument/2006/relationships/notesMaster" Target="/ppt/notesMasters/notesMaster1.xml" Id="R3d3c808c3c69483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9dd16528b4b49e5" /><Relationship Type="http://schemas.openxmlformats.org/officeDocument/2006/relationships/notesMaster" Target="/ppt/notesMasters/notesMaster1.xml" Id="R625cc752ffd6486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26326c054e144e1" /><Relationship Type="http://schemas.openxmlformats.org/officeDocument/2006/relationships/notesMaster" Target="/ppt/notesMasters/notesMaster1.xml" Id="Ra29c041b2172443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271832f7d354981" /><Relationship Type="http://schemas.openxmlformats.org/officeDocument/2006/relationships/notesMaster" Target="/ppt/notesMasters/notesMaster1.xml" Id="R63f08f2ee814444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a735c0183774f09" /><Relationship Type="http://schemas.openxmlformats.org/officeDocument/2006/relationships/notesMaster" Target="/ppt/notesMasters/notesMaster1.xml" Id="R51ff52803a38495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4c212a420b54208" /><Relationship Type="http://schemas.openxmlformats.org/officeDocument/2006/relationships/notesMaster" Target="/ppt/notesMasters/notesMaster1.xml" Id="Rad8860c77e7d423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6352124821b4452" /><Relationship Type="http://schemas.openxmlformats.org/officeDocument/2006/relationships/notesMaster" Target="/ppt/notesMasters/notesMaster1.xml" Id="R9c2c61d5b99343f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37eec32d29c4c52" /><Relationship Type="http://schemas.openxmlformats.org/officeDocument/2006/relationships/notesMaster" Target="/ppt/notesMasters/notesMaster1.xml" Id="Rdc6ad022fefc47e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216ed4726734e7e" /><Relationship Type="http://schemas.openxmlformats.org/officeDocument/2006/relationships/notesMaster" Target="/ppt/notesMasters/notesMaster1.xml" Id="R88b9d394311e48a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4bbfbe8ba9d4d02" /><Relationship Type="http://schemas.openxmlformats.org/officeDocument/2006/relationships/notesMaster" Target="/ppt/notesMasters/notesMaster1.xml" Id="R395e21b264444ff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7c3633134694590" /><Relationship Type="http://schemas.openxmlformats.org/officeDocument/2006/relationships/notesMaster" Target="/ppt/notesMasters/notesMaster1.xml" Id="R3acc6cfbe823457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24fd0bd00124de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62851b631604818" /><Relationship Type="http://schemas.openxmlformats.org/officeDocument/2006/relationships/slideLayout" Target="/ppt/slideLayouts/slideLayout1.xml" Id="Rc85c700ae52f45e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85c700ae52f45e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fd4338f50e4063" /><Relationship Type="http://schemas.openxmlformats.org/officeDocument/2006/relationships/image" Target="/ppt/media/image.jpeg" Id="R6d21b34dc551414b" /><Relationship Type="http://schemas.openxmlformats.org/officeDocument/2006/relationships/image" Target="/ppt/media/image.png" Id="Rbfe4f36c756f447c" /><Relationship Type="http://schemas.openxmlformats.org/officeDocument/2006/relationships/notesSlide" Target="/ppt/notesSlides/notesSlide1.xml" Id="R58001e349bbf457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ea588fa2bf4cf6" /><Relationship Type="http://schemas.openxmlformats.org/officeDocument/2006/relationships/image" Target="/ppt/media/image2.png" Id="Rb5d9a0f75b1447ab" /><Relationship Type="http://schemas.openxmlformats.org/officeDocument/2006/relationships/image" Target="/ppt/media/image3.png" Id="Ra5438bdd508f43ad" /><Relationship Type="http://schemas.openxmlformats.org/officeDocument/2006/relationships/notesSlide" Target="/ppt/notesSlides/notesSlide2.xml" Id="R9cd0ef8c556b4d0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92cca6323044c1" /><Relationship Type="http://schemas.openxmlformats.org/officeDocument/2006/relationships/image" Target="/ppt/media/image4.png" Id="R35e868a1cc9a4a46" /><Relationship Type="http://schemas.openxmlformats.org/officeDocument/2006/relationships/notesSlide" Target="/ppt/notesSlides/notesSlide3.xml" Id="Rd5c14f2993064c8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88fbbfad004767" /><Relationship Type="http://schemas.openxmlformats.org/officeDocument/2006/relationships/image" Target="/ppt/media/image5.png" Id="R0d92c16bf28141f6" /><Relationship Type="http://schemas.openxmlformats.org/officeDocument/2006/relationships/notesSlide" Target="/ppt/notesSlides/notesSlide4.xml" Id="Rff790880df7e48c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d160214d0849d8" /><Relationship Type="http://schemas.openxmlformats.org/officeDocument/2006/relationships/image" Target="/ppt/media/image6.png" Id="R18b05535b3e448fe" /><Relationship Type="http://schemas.openxmlformats.org/officeDocument/2006/relationships/notesSlide" Target="/ppt/notesSlides/notesSlide5.xml" Id="Rb42d8afa5bf440e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b181f47ad54623" /><Relationship Type="http://schemas.openxmlformats.org/officeDocument/2006/relationships/image" Target="/ppt/media/image7.png" Id="R590ab3408eca41d6" /><Relationship Type="http://schemas.openxmlformats.org/officeDocument/2006/relationships/notesSlide" Target="/ppt/notesSlides/notesSlide6.xml" Id="R4e6d0e14b2434ff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24c3a05ebe4070" /><Relationship Type="http://schemas.openxmlformats.org/officeDocument/2006/relationships/image" Target="/ppt/media/image8.png" Id="R2aee60d7d7c849c6" /><Relationship Type="http://schemas.openxmlformats.org/officeDocument/2006/relationships/notesSlide" Target="/ppt/notesSlides/notesSlide7.xml" Id="Rfe9dcb769d734a4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6bf3c735714267" /><Relationship Type="http://schemas.openxmlformats.org/officeDocument/2006/relationships/image" Target="/ppt/media/image9.png" Id="R5574a64c3b634f6e" /><Relationship Type="http://schemas.openxmlformats.org/officeDocument/2006/relationships/notesSlide" Target="/ppt/notesSlides/notesSlide8.xml" Id="R9752560a494c438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dde9b6f63341b0" /><Relationship Type="http://schemas.openxmlformats.org/officeDocument/2006/relationships/image" Target="/ppt/media/image10.png" Id="R4d7ed28954414789" /><Relationship Type="http://schemas.openxmlformats.org/officeDocument/2006/relationships/notesSlide" Target="/ppt/notesSlides/notesSlide9.xml" Id="Rab715cdb0e814e0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ed7c73cec743e6" /><Relationship Type="http://schemas.openxmlformats.org/officeDocument/2006/relationships/image" Target="/ppt/media/image11.png" Id="R47912e33362e4e57" /><Relationship Type="http://schemas.openxmlformats.org/officeDocument/2006/relationships/notesSlide" Target="/ppt/notesSlides/notesSlide10.xml" Id="R4532e6b02c764b1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efa73924464680" /><Relationship Type="http://schemas.openxmlformats.org/officeDocument/2006/relationships/image" Target="/ppt/media/image12.png" Id="Reb72b54001b04131" /><Relationship Type="http://schemas.openxmlformats.org/officeDocument/2006/relationships/notesSlide" Target="/ppt/notesSlides/notesSlide11.xml" Id="Rbf97e8deff8a4e9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d9a0253f914bea" /><Relationship Type="http://schemas.openxmlformats.org/officeDocument/2006/relationships/image" Target="/ppt/media/image13.png" Id="Ra3adad3a6aac4439" /><Relationship Type="http://schemas.openxmlformats.org/officeDocument/2006/relationships/notesSlide" Target="/ppt/notesSlides/notesSlide12.xml" Id="R29664a6d19ce4e3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c24d0f185c452a" /><Relationship Type="http://schemas.openxmlformats.org/officeDocument/2006/relationships/image" Target="/ppt/media/image14.png" Id="R7aaaac456d2b4bc2" /><Relationship Type="http://schemas.openxmlformats.org/officeDocument/2006/relationships/image" Target="/ppt/media/image15.png" Id="R207f2ac6be2844ca" /><Relationship Type="http://schemas.openxmlformats.org/officeDocument/2006/relationships/notesSlide" Target="/ppt/notesSlides/notesSlide13.xml" Id="R17e313e9b5e549c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F296CD0-00B8-45CF-AB2F-FA5441C3D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2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D34B09-0D00-4E3B-BE34-58A5071B4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0"/>
            <a:ext cx="7010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EB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21b34dc551414b"/>
          <a:srcRect xmlns:a="http://schemas.openxmlformats.org/drawingml/2006/main" l="0" t="11037" r="0" b="1103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39000" y="0"/>
            <a:ext cx="4953000" cy="68580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367BB2-CF29-4289-803B-9B6198F8C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e4f36c756f447c"/>
          <a:stretch xmlns:a="http://schemas.openxmlformats.org/drawingml/2006/main"/>
        </p:blipFill>
        <p:spPr>
          <a:xfrm xmlns:a="http://schemas.openxmlformats.org/drawingml/2006/main">
            <a:off x="754908" y="514350"/>
            <a:ext cx="2243034" cy="8382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0DFB00-FD80-4A07-A973-6B98188E7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581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ЭКСПЕРТНЫЙ АУДИТ ИТ И ИБ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CA653B-3802-4D1B-AA49-DBD6ED46C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5905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61616"/>
                </a:solidFill>
              </a:defRPr>
            </a:pPr>
            <a:r>
              <a:rPr sz="3600" b="1">
                <a:solidFill>
                  <a:srgbClr val="161616"/>
                </a:solidFill>
              </a:rPr>
              <a:t>{{COMPANY}}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AC5B73-E879-4B0D-8B70-05C290F24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590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67085"/>
                </a:solidFill>
              </a:defRPr>
            </a:pPr>
            <a:r>
              <a:rPr sz="1500">
                <a:solidFill>
                  <a:srgbClr val="667085"/>
                </a:solidFill>
              </a:rPr>
              <a:t>{{INDUSTRY}}  •  {{CITY}}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BA05A3-ADCF-415B-8252-010F36ABD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18859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C10001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2561AC-A634-4EEE-B660-90BF9AA4C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33950"/>
            <a:ext cx="1581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C20001"/>
                </a:solidFill>
              </a:defRPr>
            </a:pPr>
            <a:r>
              <a:rPr sz="1050" b="1">
                <a:solidFill>
                  <a:srgbClr val="C20001"/>
                </a:solidFill>
              </a:rPr>
              <a:t>Зрелость ИТ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C1CBE9-D646-44FF-9A16-EEFBC1920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19700"/>
            <a:ext cx="1581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C20001"/>
                </a:solidFill>
              </a:defRPr>
            </a:pPr>
            <a:r>
              <a:rPr sz="2400" b="1">
                <a:solidFill>
                  <a:srgbClr val="C20001"/>
                </a:solidFill>
              </a:rPr>
              <a:t>{{IT_SCORE}}%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901AE4-CFDB-431B-A39F-9D9F365FE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762500"/>
            <a:ext cx="18859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C10002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72D759-D720-4277-B3B4-7AF9F6CBA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933950"/>
            <a:ext cx="1581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C20002"/>
                </a:solidFill>
              </a:defRPr>
            </a:pPr>
            <a:r>
              <a:rPr sz="1050" b="1">
                <a:solidFill>
                  <a:srgbClr val="C20002"/>
                </a:solidFill>
              </a:rPr>
              <a:t>Зрелость ИБ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52A3E2-AE13-4CFC-96F2-537D40AAD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5219700"/>
            <a:ext cx="1581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C20002"/>
                </a:solidFill>
              </a:defRPr>
            </a:pPr>
            <a:r>
              <a:rPr sz="2400" b="1">
                <a:solidFill>
                  <a:srgbClr val="C20002"/>
                </a:solidFill>
              </a:rPr>
              <a:t>{{SCORE}}%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94B4E1-C677-47CC-AA8D-8E4266B72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257800"/>
            <a:ext cx="1657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667085"/>
                </a:solidFill>
              </a:defRPr>
            </a:pPr>
            <a:r>
              <a:rPr sz="1200" b="1">
                <a:solidFill>
                  <a:srgbClr val="667085"/>
                </a:solidFill>
              </a:rPr>
              <a:t>{{DATE}}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E63AB7-4DC8-454A-8BAF-25EA7C706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667085"/>
                </a:solidFill>
              </a:defRPr>
            </a:pPr>
            <a:r>
              <a:rPr sz="1050" b="1">
                <a:solidFill>
                  <a:srgbClr val="667085"/>
                </a:solidFill>
              </a:rPr>
              <a:t>by Ivan Rudoy</a:t>
            </a:r>
          </a:p>
        </p:txBody>
      </p:sp>
    </p:spTree>
    <p:extLst>
      <p:ext uri="{BB962C8B-B14F-4D97-AF65-F5344CB8AC3E}">
        <p14:creationId xmlns:p14="http://schemas.microsoft.com/office/powerpoint/2010/main" val="15892034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778AA60-89E9-4E27-9DE4-28F22169F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d9a0f75b1447ab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A53E1F-FAC3-4FC3-9873-A3DF2A82C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Кто стоит за аудитом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07BB4C-F42B-4520-A71D-E622951B2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CB0A8A-702C-4A28-B5E0-9B19D7904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00D01B-F60D-48FC-955E-7AA21C9C2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03957A-9EC5-4C2F-B6BC-2E9CF9404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8F6B6A-B977-4A75-A339-BB32C5178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495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F6412"/>
                </a:solidFill>
              </a:defRPr>
            </a:pPr>
            <a:r>
              <a:rPr sz="1875" b="1">
                <a:solidFill>
                  <a:srgbClr val="FF6412"/>
                </a:solidFill>
              </a:rPr>
              <a:t>ТОО «Khalil Trade»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D1B9D3-BB36-4B08-9A72-FF44B400D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52625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61616"/>
                </a:solidFill>
              </a:defRPr>
            </a:pPr>
            <a:r>
              <a:rPr sz="1350">
                <a:solidFill>
                  <a:srgbClr val="161616"/>
                </a:solidFill>
              </a:rPr>
              <a:t>Системный интегратор и поставщик ИТ-решений для государственных и корпоративных организаций.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544961-AB54-45B7-AB9D-C1AA4B55B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67050"/>
            <a:ext cx="4953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61616"/>
                </a:solidFill>
              </a:defRPr>
            </a:pPr>
            <a:r>
              <a:rPr sz="1500" b="1">
                <a:solidFill>
                  <a:srgbClr val="161616"/>
                </a:solidFill>
              </a:rPr>
              <a:t>От аудита и проектирования - до внедрения, поддержки и развития.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7F1174-C74B-412A-8EE7-94DBCA622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14800"/>
            <a:ext cx="1409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61616"/>
                </a:solidFill>
              </a:defRPr>
            </a:pPr>
            <a:r>
              <a:rPr sz="2325" b="1">
                <a:solidFill>
                  <a:srgbClr val="161616"/>
                </a:solidFill>
              </a:rPr>
              <a:t>2020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968BA6-D39A-4F59-B879-5B6F1E755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81525"/>
            <a:ext cx="1409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год основания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C53222-22BD-42A7-9A9B-B292138C0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114800"/>
            <a:ext cx="1409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61616"/>
                </a:solidFill>
              </a:defRPr>
            </a:pPr>
            <a:r>
              <a:rPr sz="2700" b="1">
                <a:solidFill>
                  <a:srgbClr val="161616"/>
                </a:solidFill>
              </a:rPr>
              <a:t>70+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9DB9CA-7A64-4EE3-85AC-38AF72E72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581525"/>
            <a:ext cx="1409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крупных проектов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4AE483B-427C-44A5-B95A-3132F20A7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114800"/>
            <a:ext cx="1409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61616"/>
                </a:solidFill>
              </a:defRPr>
            </a:pPr>
            <a:r>
              <a:rPr sz="2325" b="1">
                <a:solidFill>
                  <a:srgbClr val="161616"/>
                </a:solidFill>
              </a:rPr>
              <a:t>40+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FDE7B5-D6A4-409E-A4B7-07880D186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581525"/>
            <a:ext cx="1409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технологических партнеров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0C33108-2D3C-4F6D-AB83-5CAA5AAD9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14950"/>
            <a:ext cx="4953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9E17071-43F9-4018-B0F0-CF2F06335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4830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61616"/>
                </a:solidFill>
              </a:defRPr>
            </a:pPr>
            <a:r>
              <a:rPr sz="1125" b="1">
                <a:solidFill>
                  <a:srgbClr val="161616"/>
                </a:solidFill>
              </a:rPr>
              <a:t>Одна команда отвечает за архитектуру, безопасность и практическую реализацию.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45A15B7-80AD-46E2-BF72-FD667BA13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4668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107BE66-6FE4-4A8E-9AD8-827B68DE1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428750"/>
            <a:ext cx="4629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1616"/>
                </a:solidFill>
              </a:defRPr>
            </a:pPr>
            <a:r>
              <a:rPr sz="1425" b="1">
                <a:solidFill>
                  <a:srgbClr val="161616"/>
                </a:solidFill>
              </a:rPr>
              <a:t>Информационная безопасность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1702221-2247-4393-8E17-0AB782753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71650"/>
            <a:ext cx="4629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Аудит, проектирование защиты, внедрение, поддержка и обучение.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0478B79-8DD3-43A9-9334-F49F8AA2C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09825"/>
            <a:ext cx="4629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E49CDE-71C9-49F8-8D18-E05526E64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600325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F7BBA22-4DF0-49C2-A45C-3EB00A3C2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62225"/>
            <a:ext cx="4629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1616"/>
                </a:solidFill>
              </a:defRPr>
            </a:pPr>
            <a:r>
              <a:rPr sz="1425" b="1">
                <a:solidFill>
                  <a:srgbClr val="161616"/>
                </a:solidFill>
              </a:rPr>
              <a:t>Системная интеграция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EC1D70E-6418-40EC-8573-BC68689AB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05125"/>
            <a:ext cx="4629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Сетевая, серверная и вычислительная инфраструктура под ключ.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124BE8A-68A2-4DC5-8E45-A797FA2D6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543300"/>
            <a:ext cx="4629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709E357-7F5A-43DD-B327-D4A39C80F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73380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F8CB448-46B8-4401-B08B-39E8F8B49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695700"/>
            <a:ext cx="4629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1616"/>
                </a:solidFill>
              </a:defRPr>
            </a:pPr>
            <a:r>
              <a:rPr sz="1425" b="1">
                <a:solidFill>
                  <a:srgbClr val="161616"/>
                </a:solidFill>
              </a:rPr>
              <a:t>Автоматизация процессов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419B792-92C2-4F3C-AF72-C59F18A65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38600"/>
            <a:ext cx="4629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СЭД, low-code, ESM/BPM и цифровые решения для бизнеса.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179E5AF-474F-4B2C-8806-2A7B50D19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676775"/>
            <a:ext cx="4629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CD8E208-0FE2-45C5-86B0-32A26837B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867275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04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F881E2B-078F-4B60-981A-6A1F5DF4A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829175"/>
            <a:ext cx="4629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1616"/>
                </a:solidFill>
              </a:defRPr>
            </a:pPr>
            <a:r>
              <a:rPr sz="1425" b="1">
                <a:solidFill>
                  <a:srgbClr val="161616"/>
                </a:solidFill>
              </a:rPr>
              <a:t>Сопровождение и развитие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CBE5D57-72B2-4891-8C5F-D833A017A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172075"/>
            <a:ext cx="4629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Рабочие сессии, внедрение, поддержка и передача знаний команде.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B08AA76-4182-47DD-B33A-298ADEF1D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EC17657-7EAD-4A6E-BE7C-7D84B845B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9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438bdd508f43ad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06EF0F7-692A-4FF9-80E3-7D18F8B47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Аудит в одном экране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35B9E43-3E30-4DC4-9FDA-A756B6D29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4AA0059-BD01-413C-9A94-E72DAEC6E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ED374CC-5970-4E83-9C3F-3C93D7728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8C576AA-C527-43FD-B77F-17464D080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F1D2735-A8C5-4DA9-AA5D-14163EA0E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6858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61616"/>
                </a:solidFill>
              </a:defRPr>
            </a:pPr>
            <a:r>
              <a:rPr sz="2175" b="1">
                <a:solidFill>
                  <a:srgbClr val="161616"/>
                </a:solidFill>
              </a:rPr>
              <a:t>{{SUMMARY_TITLE}}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30CED71-6DF4-45B9-B22F-42B144AC2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409700"/>
            <a:ext cx="15049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C1000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08F1C05-4118-4F03-B26B-FA32AB036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619250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C20001"/>
                </a:solidFill>
              </a:defRPr>
            </a:pPr>
            <a:r>
              <a:rPr sz="900" b="1">
                <a:solidFill>
                  <a:srgbClr val="C20001"/>
                </a:solidFill>
              </a:rPr>
              <a:t>ЗРЕЛОСТЬ ИТ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46C0585-946A-459F-B874-E37AFE6C0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914525"/>
            <a:ext cx="116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C20001"/>
                </a:solidFill>
              </a:defRPr>
            </a:pPr>
            <a:r>
              <a:rPr sz="2550" b="1">
                <a:solidFill>
                  <a:srgbClr val="C20001"/>
                </a:solidFill>
              </a:rPr>
              <a:t>{{IT_SCORE}}%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CCDFE17-C6C3-41AC-8270-3761724D9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1409700"/>
            <a:ext cx="15049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C1000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C40F4CB-65AE-4651-996E-67CC92D27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1619250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C20002"/>
                </a:solidFill>
              </a:defRPr>
            </a:pPr>
            <a:r>
              <a:rPr sz="900" b="1">
                <a:solidFill>
                  <a:srgbClr val="C20002"/>
                </a:solidFill>
              </a:rPr>
              <a:t>ЗРЕЛОСТЬ ИБ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F343711-00EE-4F5B-A0C8-6CB5FB265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1914525"/>
            <a:ext cx="116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C20002"/>
                </a:solidFill>
              </a:defRPr>
            </a:pPr>
            <a:r>
              <a:rPr sz="2550" b="1">
                <a:solidFill>
                  <a:srgbClr val="C20002"/>
                </a:solidFill>
              </a:rPr>
              <a:t>{{SCORE}}%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CD0D881-AB31-40DC-9376-15B7B1354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146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6412"/>
                </a:solidFill>
              </a:defRPr>
            </a:pPr>
            <a:r>
              <a:rPr sz="1425" b="1">
                <a:solidFill>
                  <a:srgbClr val="FF6412"/>
                </a:solidFill>
              </a:rPr>
              <a:t>Ключевые наблюдения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4ED10E3-D7D4-4D09-A1B3-B4B65CF25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80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6412"/>
                </a:solidFill>
              </a:defRPr>
            </a:pPr>
            <a:r>
              <a:rPr sz="1275" b="1">
                <a:solidFill>
                  <a:srgbClr val="FF6412"/>
                </a:solidFill>
              </a:rPr>
              <a:t>01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48968E3-E5B4-4E2C-980C-518016970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390900"/>
            <a:ext cx="100488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61616"/>
                </a:solidFill>
              </a:defRPr>
            </a:pPr>
            <a:r>
              <a:rPr sz="1350">
                <a:solidFill>
                  <a:srgbClr val="161616"/>
                </a:solidFill>
              </a:rPr>
              <a:t>{{SUMMARY_1}}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2D502DE-3397-45B4-A67D-4205C84AA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095750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980BD37-436E-4358-84D2-F9051CB0A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243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6412"/>
                </a:solidFill>
              </a:defRPr>
            </a:pPr>
            <a:r>
              <a:rPr sz="1275" b="1">
                <a:solidFill>
                  <a:srgbClr val="FF6412"/>
                </a:solidFill>
              </a:rPr>
              <a:t>02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F0379B0-BC3A-490A-8107-4A12336B4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267200"/>
            <a:ext cx="100488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61616"/>
                </a:solidFill>
              </a:defRPr>
            </a:pPr>
            <a:r>
              <a:rPr sz="1350">
                <a:solidFill>
                  <a:srgbClr val="161616"/>
                </a:solidFill>
              </a:rPr>
              <a:t>{{SUMMARY_2}}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EABBC35-151D-4877-95B7-9640B2DB5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972050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FA7A8B6A-8B72-4C0F-A980-11F3823CC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00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6412"/>
                </a:solidFill>
              </a:defRPr>
            </a:pPr>
            <a:r>
              <a:rPr sz="1275" b="1">
                <a:solidFill>
                  <a:srgbClr val="FF6412"/>
                </a:solidFill>
              </a:rPr>
              <a:t>03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337BB69-BA99-4459-9BED-DFCCFC57F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143500"/>
            <a:ext cx="100488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61616"/>
                </a:solidFill>
              </a:defRPr>
            </a:pPr>
            <a:r>
              <a:rPr sz="1350">
                <a:solidFill>
                  <a:srgbClr val="161616"/>
                </a:solidFill>
              </a:rPr>
              <a:t>{{SUMMARY_3}}</a:t>
            </a:r>
          </a:p>
        </p:txBody>
      </p:sp>
    </p:spTree>
    <p:extLst>
      <p:ext uri="{BB962C8B-B14F-4D97-AF65-F5344CB8AC3E}">
        <p14:creationId xmlns:p14="http://schemas.microsoft.com/office/powerpoint/2010/main" val="196105865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85A32CA-6DEB-4AB1-BE93-540C7B1B2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e868a1cc9a4a46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43EB8A-D5B8-4035-9238-05ACB1653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Профиль покрытия ключевых контролей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5E26D9-44B6-4785-859B-51E080FC5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3C2393-FD7E-4A43-A41E-6C82AE96E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0D9237-638E-4798-8FF3-D3BA9380B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E5F6BE-179A-4BD7-908B-244077E83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7CB97E-C9DE-4CCC-B332-4C046DE05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335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6412"/>
                </a:solidFill>
              </a:defRPr>
            </a:pPr>
            <a:r>
              <a:rPr sz="1425" b="1">
                <a:solidFill>
                  <a:srgbClr val="FF6412"/>
                </a:solidFill>
              </a:rPr>
              <a:t>0% — контроль не подтвержден; 100% — целевой контур закрыт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00AC9B-BE2F-41B0-8459-5809B9953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95450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7085"/>
                </a:solidFill>
              </a:defRPr>
            </a:pPr>
            <a:r>
              <a:rPr sz="1050">
                <a:solidFill>
                  <a:srgbClr val="667085"/>
                </a:solidFill>
              </a:rPr>
              <a:t>Красный требует первоочередного решения, желтый — управляемого плана, зеленый — контроля эффективности.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B964B8-9107-43EA-BBB9-CF4B7528C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333500"/>
            <a:ext cx="22669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298818-72B0-40BF-9CC4-0DBE876E0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428750"/>
            <a:ext cx="781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61616"/>
                </a:solidFill>
              </a:defRPr>
            </a:pPr>
            <a:r>
              <a:rPr sz="2025" b="1">
                <a:solidFill>
                  <a:srgbClr val="161616"/>
                </a:solidFill>
              </a:rPr>
              <a:t>{{COVERAGE_AVERAGE}}%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DABB4F-4BD6-4295-9656-C8D00E3FF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1504950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667085"/>
                </a:solidFill>
              </a:defRPr>
            </a:pPr>
            <a:r>
              <a:rPr sz="900" b="1">
                <a:solidFill>
                  <a:srgbClr val="667085"/>
                </a:solidFill>
              </a:rPr>
              <a:t>среднее покрытие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49528B-44A2-4BC1-9F03-2F6D9994A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247900"/>
            <a:ext cx="1257300" cy="1257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3000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959D71-AA72-44FC-BAAA-134537BCB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41935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22B81B-7D3F-44D7-BC37-7A3868152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695575"/>
            <a:ext cx="838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61616"/>
                </a:solidFill>
              </a:defRPr>
            </a:pPr>
            <a:r>
              <a:rPr sz="1800" b="1">
                <a:solidFill>
                  <a:srgbClr val="161616"/>
                </a:solidFill>
              </a:rPr>
              <a:t>{{THREAT_1_VALUE}}%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676433-DE92-4484-A11A-208EF9DDA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38550"/>
            <a:ext cx="2247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61616"/>
                </a:solidFill>
              </a:defRPr>
            </a:pPr>
            <a:r>
              <a:rPr sz="1200" b="1">
                <a:solidFill>
                  <a:srgbClr val="161616"/>
                </a:solidFill>
              </a:rPr>
              <a:t>{{THREAT_1_LABEL}}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E344BE-39B2-4686-BAAA-4F75CCA97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33825"/>
            <a:ext cx="2247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>
                <a:solidFill>
                  <a:srgbClr val="667085"/>
                </a:solidFill>
              </a:defRPr>
            </a:pPr>
            <a:r>
              <a:rPr sz="900">
                <a:solidFill>
                  <a:srgbClr val="667085"/>
                </a:solidFill>
              </a:rPr>
              <a:t>уровень покрытия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3A901B-DAEE-4205-82AE-1FFEDD986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247900"/>
            <a:ext cx="1257300" cy="1257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3000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D44563-5C59-4F93-AD98-1DF1D54F4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41935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D78A33C-FE5F-4106-AF13-1C1C5DC6E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695575"/>
            <a:ext cx="838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61616"/>
                </a:solidFill>
              </a:defRPr>
            </a:pPr>
            <a:r>
              <a:rPr sz="1800" b="1">
                <a:solidFill>
                  <a:srgbClr val="161616"/>
                </a:solidFill>
              </a:rPr>
              <a:t>{{THREAT_2_VALUE}}%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55642E1-69EB-4B22-BA27-F360A94D8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638550"/>
            <a:ext cx="2247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61616"/>
                </a:solidFill>
              </a:defRPr>
            </a:pPr>
            <a:r>
              <a:rPr sz="1200" b="1">
                <a:solidFill>
                  <a:srgbClr val="161616"/>
                </a:solidFill>
              </a:rPr>
              <a:t>{{THREAT_2_LABEL}}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3B7C8A-377E-493F-8201-819765799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933825"/>
            <a:ext cx="2247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>
                <a:solidFill>
                  <a:srgbClr val="667085"/>
                </a:solidFill>
              </a:defRPr>
            </a:pPr>
            <a:r>
              <a:rPr sz="900">
                <a:solidFill>
                  <a:srgbClr val="667085"/>
                </a:solidFill>
              </a:rPr>
              <a:t>уровень покрытия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ED18A13-262D-4038-A135-17DEBF354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247900"/>
            <a:ext cx="1257300" cy="1257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3000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CA01B2B-C0A3-4208-B2AB-F02DD0490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41935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99C6502-D3A5-43B7-AA6F-D8DFC5A59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695575"/>
            <a:ext cx="838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61616"/>
                </a:solidFill>
              </a:defRPr>
            </a:pPr>
            <a:r>
              <a:rPr sz="1800" b="1">
                <a:solidFill>
                  <a:srgbClr val="161616"/>
                </a:solidFill>
              </a:rPr>
              <a:t>{{THREAT_3_VALUE}}%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FF912EF-85C2-4703-B5E3-1CED2F8E4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638550"/>
            <a:ext cx="2247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61616"/>
                </a:solidFill>
              </a:defRPr>
            </a:pPr>
            <a:r>
              <a:rPr sz="1200" b="1">
                <a:solidFill>
                  <a:srgbClr val="161616"/>
                </a:solidFill>
              </a:rPr>
              <a:t>{{THREAT_3_LABEL}}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3BFE430-D612-4394-9FF8-1CB0AC92A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933825"/>
            <a:ext cx="2247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>
                <a:solidFill>
                  <a:srgbClr val="667085"/>
                </a:solidFill>
              </a:defRPr>
            </a:pPr>
            <a:r>
              <a:rPr sz="900">
                <a:solidFill>
                  <a:srgbClr val="667085"/>
                </a:solidFill>
              </a:rPr>
              <a:t>уровень покрытия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7D2BD85-2494-4856-87BD-3F72C0C15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48150"/>
            <a:ext cx="1257300" cy="1257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3000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FF62C5E-A768-4FED-8718-6E9838B4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41960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F22D7D4-B94C-4049-B83E-22A72841E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695825"/>
            <a:ext cx="838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61616"/>
                </a:solidFill>
              </a:defRPr>
            </a:pPr>
            <a:r>
              <a:rPr sz="1800" b="1">
                <a:solidFill>
                  <a:srgbClr val="161616"/>
                </a:solidFill>
              </a:rPr>
              <a:t>{{THREAT_4_VALUE}}%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EAFBD87-3435-4D18-AA18-0DF494B9E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638800"/>
            <a:ext cx="2247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61616"/>
                </a:solidFill>
              </a:defRPr>
            </a:pPr>
            <a:r>
              <a:rPr sz="1200" b="1">
                <a:solidFill>
                  <a:srgbClr val="161616"/>
                </a:solidFill>
              </a:rPr>
              <a:t>{{THREAT_4_LABEL}}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F25F8B8-A5C0-42BA-A414-99AF93581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34075"/>
            <a:ext cx="2247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>
                <a:solidFill>
                  <a:srgbClr val="667085"/>
                </a:solidFill>
              </a:defRPr>
            </a:pPr>
            <a:r>
              <a:rPr sz="900">
                <a:solidFill>
                  <a:srgbClr val="667085"/>
                </a:solidFill>
              </a:rPr>
              <a:t>уровень покрытия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5715253-E65E-467E-8B46-AEC4CC0EF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248150"/>
            <a:ext cx="1257300" cy="1257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3000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68396BE-00EA-4F26-A14C-574A2750F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41960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46A124E-A623-4C16-8A02-6860AE14D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695825"/>
            <a:ext cx="838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61616"/>
                </a:solidFill>
              </a:defRPr>
            </a:pPr>
            <a:r>
              <a:rPr sz="1800" b="1">
                <a:solidFill>
                  <a:srgbClr val="161616"/>
                </a:solidFill>
              </a:rPr>
              <a:t>{{THREAT_5_VALUE}}%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AA65EFF-D35C-49B2-AC75-E271C0FA3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5638800"/>
            <a:ext cx="2247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61616"/>
                </a:solidFill>
              </a:defRPr>
            </a:pPr>
            <a:r>
              <a:rPr sz="1200" b="1">
                <a:solidFill>
                  <a:srgbClr val="161616"/>
                </a:solidFill>
              </a:rPr>
              <a:t>{{THREAT_5_LABEL}}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BA9BD73-6C56-4397-B936-721ADE870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5934075"/>
            <a:ext cx="2247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>
                <a:solidFill>
                  <a:srgbClr val="667085"/>
                </a:solidFill>
              </a:defRPr>
            </a:pPr>
            <a:r>
              <a:rPr sz="900">
                <a:solidFill>
                  <a:srgbClr val="667085"/>
                </a:solidFill>
              </a:rPr>
              <a:t>уровень покрытия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F44BA27-D7EC-4581-9545-F15E9059E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248150"/>
            <a:ext cx="1257300" cy="1257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3000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9F292B8-D32A-466F-A34A-9C3759AED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41960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8CF8AB2-6535-4646-9923-B52ABE6D7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695825"/>
            <a:ext cx="838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61616"/>
                </a:solidFill>
              </a:defRPr>
            </a:pPr>
            <a:r>
              <a:rPr sz="1800" b="1">
                <a:solidFill>
                  <a:srgbClr val="161616"/>
                </a:solidFill>
              </a:rPr>
              <a:t>{{THREAT_6_VALUE}}%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E0E740D-71D8-40C6-9172-9E2513C72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638800"/>
            <a:ext cx="2247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61616"/>
                </a:solidFill>
              </a:defRPr>
            </a:pPr>
            <a:r>
              <a:rPr sz="1200" b="1">
                <a:solidFill>
                  <a:srgbClr val="161616"/>
                </a:solidFill>
              </a:rPr>
              <a:t>{{THREAT_6_LABEL}}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693A2C2-2F47-4A15-9A92-C49CE3CA2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934075"/>
            <a:ext cx="2247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>
                <a:solidFill>
                  <a:srgbClr val="667085"/>
                </a:solidFill>
              </a:defRPr>
            </a:pPr>
            <a:r>
              <a:rPr sz="900">
                <a:solidFill>
                  <a:srgbClr val="667085"/>
                </a:solidFill>
              </a:rPr>
              <a:t>уровень покрытия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0164F2E-1EE8-49C5-A998-4567F6956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72200"/>
            <a:ext cx="106489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0DF5FF2-617A-4502-BD2B-1E8105368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248400"/>
            <a:ext cx="10267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61616"/>
                </a:solidFill>
              </a:defRPr>
            </a:pPr>
            <a:r>
              <a:rPr sz="900" b="1">
                <a:solidFill>
                  <a:srgbClr val="161616"/>
                </a:solidFill>
              </a:rPr>
              <a:t>{{COVERAGE_INSIGHT}}</a:t>
            </a:r>
          </a:p>
        </p:txBody>
      </p:sp>
    </p:spTree>
    <p:extLst>
      <p:ext uri="{BB962C8B-B14F-4D97-AF65-F5344CB8AC3E}">
        <p14:creationId xmlns:p14="http://schemas.microsoft.com/office/powerpoint/2010/main" val="70870980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FFD9307-5473-49A7-9567-4D2C12211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92c16bf28141f6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E37D4C-6038-4337-BCA1-21CC8B724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Контекст среды и уже работающие контроли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9BA151-A050-4716-A44A-443F4B4E7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9E8E94-7CDF-4C4F-8974-AE73CC7DE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5D7F60-BAD1-4B1D-BEB2-0792D866D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BE8E9D-3D9C-4A75-B57C-26F7930B5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02A6E2-701A-4C52-A660-C717CD325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9525">
            <a:solidFill>
              <a:srgbClr val="FF641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1B2A22-B84A-4F34-AF59-2857C2CEB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{{USERS}}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5932CD-813A-48C1-B16A-8E80A5D93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FFFFFF"/>
                </a:solidFill>
              </a:defRPr>
            </a:pPr>
            <a:r>
              <a:rPr sz="1125">
                <a:solidFill>
                  <a:srgbClr val="FFFFFF"/>
                </a:solidFill>
              </a:rPr>
              <a:t>рабочих мест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8382D6-3199-4264-BFF3-500F07589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F5D1E7-E3E8-4855-96A1-D87EFB8DD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61616"/>
                </a:solidFill>
              </a:defRPr>
            </a:pPr>
            <a:r>
              <a:rPr sz="2400" b="1">
                <a:solidFill>
                  <a:srgbClr val="161616"/>
                </a:solidFill>
              </a:rPr>
              <a:t>{{SERVERS}}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591417-50FA-4F8D-918B-8CFB3AB5C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серверов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0FB6E4-5ED9-4190-A979-EAB01A768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E5B79D-347B-43C4-98D3-C937E1BC4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61616"/>
                </a:solidFill>
              </a:defRPr>
            </a:pPr>
            <a:r>
              <a:rPr sz="2400" b="1">
                <a:solidFill>
                  <a:srgbClr val="161616"/>
                </a:solidFill>
              </a:rPr>
              <a:t>{{PUBLIC}}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CF8ACE-0C59-4BEA-890B-06EB13F95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публичные сервисы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0FE18B-16D3-45B8-A5B6-7DA46A69A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F375E59-B2FD-4C59-9831-3DA5FE75F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61616"/>
                </a:solidFill>
              </a:defRPr>
            </a:pPr>
            <a:r>
              <a:rPr sz="2400" b="1">
                <a:solidFill>
                  <a:srgbClr val="161616"/>
                </a:solidFill>
              </a:rPr>
              <a:t>{{BUSINESS}}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78FA203-D566-4E74-8259-89CBA873E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бизнес-системы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CA70E2D-7B06-4F89-9778-A75F20062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0990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6412"/>
                </a:solidFill>
              </a:defRPr>
            </a:pPr>
            <a:r>
              <a:rPr sz="1275" b="1">
                <a:solidFill>
                  <a:srgbClr val="FF6412"/>
                </a:solidFill>
              </a:rPr>
              <a:t>Профиль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8D16BBB-2F97-4A76-8699-0FA6C2966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14700"/>
            <a:ext cx="10648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{{PROFILE}}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2141BA0-8676-46B6-91B3-3F728EE77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148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6412"/>
                </a:solidFill>
              </a:defRPr>
            </a:pPr>
            <a:r>
              <a:rPr sz="1350" b="1">
                <a:solidFill>
                  <a:srgbClr val="FF6412"/>
                </a:solidFill>
              </a:rPr>
              <a:t>Подтвержденные сильные стороны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348516D-D61A-4D25-BD39-ADE52A6EE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91050"/>
            <a:ext cx="66675" cy="1333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4ED0F62-4AF2-4A00-AEB6-7AC3FED46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67250"/>
            <a:ext cx="31051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61616"/>
                </a:solidFill>
              </a:defRPr>
            </a:pPr>
            <a:r>
              <a:rPr sz="1275" b="1">
                <a:solidFill>
                  <a:srgbClr val="161616"/>
                </a:solidFill>
              </a:rPr>
              <a:t>{{STRENGTH_1}}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3786348-DA29-41F1-9BC7-E7BD4BCD8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591050"/>
            <a:ext cx="66675" cy="1333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3EC3298-A955-4088-8F7B-4ACADF60A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667250"/>
            <a:ext cx="31051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61616"/>
                </a:solidFill>
              </a:defRPr>
            </a:pPr>
            <a:r>
              <a:rPr sz="1275" b="1">
                <a:solidFill>
                  <a:srgbClr val="161616"/>
                </a:solidFill>
              </a:rPr>
              <a:t>{{STRENGTH_2}}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455294A-DEA3-44D8-B53F-64550AC6B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591050"/>
            <a:ext cx="66675" cy="1333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C1D85E7-2BF7-4FBC-8270-BE391387B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667250"/>
            <a:ext cx="31051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61616"/>
                </a:solidFill>
              </a:defRPr>
            </a:pPr>
            <a:r>
              <a:rPr sz="1275" b="1">
                <a:solidFill>
                  <a:srgbClr val="161616"/>
                </a:solidFill>
              </a:rPr>
              <a:t>{{STRENGTH_3}}</a:t>
            </a:r>
          </a:p>
        </p:txBody>
      </p:sp>
    </p:spTree>
    <p:extLst>
      <p:ext uri="{BB962C8B-B14F-4D97-AF65-F5344CB8AC3E}">
        <p14:creationId xmlns:p14="http://schemas.microsoft.com/office/powerpoint/2010/main" val="164598796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E524544-949F-4441-AB1B-B26501815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b05535b3e448fe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81987A-A208-408B-86CB-39EA4EAC8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Карта подтвержденных рисков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B47B64-3CE7-4603-BCC2-F6FBCDE77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D7C8AF-B213-4C3C-8B29-B979A8E36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084F2E-FF90-49FD-83A7-AF61CEDA0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2C5F78-AAFD-4010-AD39-95EC09301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4E51FE-22AC-4852-B5D8-9572130D8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51625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2F1C77-00D0-43A7-B839-4FA324BB4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028700" cy="13525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A1000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ED544C-09A0-49CB-80C7-73027ABDB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90500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A20001"/>
                </a:solidFill>
              </a:defRPr>
            </a:pPr>
            <a:r>
              <a:rPr sz="900" b="1">
                <a:solidFill>
                  <a:srgbClr val="A20001"/>
                </a:solidFill>
              </a:rPr>
              <a:t>{{RISK_1_LEVEL}}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EDBA99-E04E-4042-8CC2-A8A66282A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543050"/>
            <a:ext cx="3695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61616"/>
                </a:solidFill>
              </a:defRPr>
            </a:pPr>
            <a:r>
              <a:rPr sz="1275" b="1">
                <a:solidFill>
                  <a:srgbClr val="161616"/>
                </a:solidFill>
              </a:rPr>
              <a:t>{{RISK_1_TITLE}}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38ECB9-8A59-48A1-8B3B-52F8FCF59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019300"/>
            <a:ext cx="3695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{{RISK_1_IMPACT}}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A4BA5D-6E62-4511-8095-9B99BD505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390650"/>
            <a:ext cx="51625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77DEED-25C7-4652-AD7C-5733FA550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390650"/>
            <a:ext cx="1028700" cy="13525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A1000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5B1EE7-59CF-4C94-B45B-A4BF436E7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90500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A20002"/>
                </a:solidFill>
              </a:defRPr>
            </a:pPr>
            <a:r>
              <a:rPr sz="900" b="1">
                <a:solidFill>
                  <a:srgbClr val="A20002"/>
                </a:solidFill>
              </a:rPr>
              <a:t>{{RISK_2_LEVEL}}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E31F87-FD3A-4D9B-B124-DAB7558B4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543050"/>
            <a:ext cx="3695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61616"/>
                </a:solidFill>
              </a:defRPr>
            </a:pPr>
            <a:r>
              <a:rPr sz="1275" b="1">
                <a:solidFill>
                  <a:srgbClr val="161616"/>
                </a:solidFill>
              </a:rPr>
              <a:t>{{RISK_2_TITLE}}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044CA6F-2A83-4C9C-B81E-4AA7E6952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019300"/>
            <a:ext cx="3695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{{RISK_2_IMPACT}}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3D5788E-722B-44E0-9437-7D8CE3A8B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52750"/>
            <a:ext cx="51625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A60F30-152F-4366-90AB-06DB6AC91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52750"/>
            <a:ext cx="1028700" cy="13525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A1000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F3E1773-A166-4BAF-A799-3A1769E5A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6710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A20003"/>
                </a:solidFill>
              </a:defRPr>
            </a:pPr>
            <a:r>
              <a:rPr sz="900" b="1">
                <a:solidFill>
                  <a:srgbClr val="A20003"/>
                </a:solidFill>
              </a:rPr>
              <a:t>{{RISK_3_LEVEL}}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FF8F0FE-E3A4-46AA-8720-E9EFE1D5A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105150"/>
            <a:ext cx="3695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61616"/>
                </a:solidFill>
              </a:defRPr>
            </a:pPr>
            <a:r>
              <a:rPr sz="1275" b="1">
                <a:solidFill>
                  <a:srgbClr val="161616"/>
                </a:solidFill>
              </a:rPr>
              <a:t>{{RISK_3_TITLE}}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A5CA4D9-8B10-457D-AE9D-4445EB230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581400"/>
            <a:ext cx="3695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{{RISK_3_IMPACT}}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B0E8943-B47B-48DF-BC6C-A6D362560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952750"/>
            <a:ext cx="51625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FFDDBFE-068D-480A-9765-62CE95053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952750"/>
            <a:ext cx="1028700" cy="13525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A1000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43CC410-C50A-43CB-BE30-AD21F9A72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46710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A20004"/>
                </a:solidFill>
              </a:defRPr>
            </a:pPr>
            <a:r>
              <a:rPr sz="900" b="1">
                <a:solidFill>
                  <a:srgbClr val="A20004"/>
                </a:solidFill>
              </a:rPr>
              <a:t>{{RISK_4_LEVEL}}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EEAF6C1-6E02-426D-841A-1E1F0D07B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105150"/>
            <a:ext cx="3695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61616"/>
                </a:solidFill>
              </a:defRPr>
            </a:pPr>
            <a:r>
              <a:rPr sz="1275" b="1">
                <a:solidFill>
                  <a:srgbClr val="161616"/>
                </a:solidFill>
              </a:rPr>
              <a:t>{{RISK_4_TITLE}}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A2D8E17-67A8-4A84-ADB5-F79B24617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581400"/>
            <a:ext cx="3695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{{RISK_4_IMPACT}}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B8C7AA6-67AF-40FE-8407-1A11D351A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14850"/>
            <a:ext cx="51625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4844FF5-180D-4FD5-A4C1-B754409B2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14850"/>
            <a:ext cx="1028700" cy="13525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A1000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9B9C71F-1D53-4B8A-8F45-03720DD9E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02920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A20005"/>
                </a:solidFill>
              </a:defRPr>
            </a:pPr>
            <a:r>
              <a:rPr sz="900" b="1">
                <a:solidFill>
                  <a:srgbClr val="A20005"/>
                </a:solidFill>
              </a:rPr>
              <a:t>{{RISK_5_LEVEL}}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5068329-FFE6-45AC-B0B8-C0250F3A8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667250"/>
            <a:ext cx="3695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61616"/>
                </a:solidFill>
              </a:defRPr>
            </a:pPr>
            <a:r>
              <a:rPr sz="1275" b="1">
                <a:solidFill>
                  <a:srgbClr val="161616"/>
                </a:solidFill>
              </a:rPr>
              <a:t>{{RISK_5_TITLE}}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9472D88-6283-4130-9335-325CEC410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5143500"/>
            <a:ext cx="3695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{{RISK_5_IMPACT}}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06495BB-35A7-4771-8520-BE60FC027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514850"/>
            <a:ext cx="51625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7B7E1AC-7FE3-4EEE-A3B3-8BA01D53A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514850"/>
            <a:ext cx="1028700" cy="13525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A1000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3AD1A2A-0701-4ED2-951C-BB3B556AF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502920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A20006"/>
                </a:solidFill>
              </a:defRPr>
            </a:pPr>
            <a:r>
              <a:rPr sz="900" b="1">
                <a:solidFill>
                  <a:srgbClr val="A20006"/>
                </a:solidFill>
              </a:rPr>
              <a:t>{{RISK_6_LEVEL}}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97621B6-0451-4992-B8F1-9CDB31B30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4667250"/>
            <a:ext cx="3695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61616"/>
                </a:solidFill>
              </a:defRPr>
            </a:pPr>
            <a:r>
              <a:rPr sz="1275" b="1">
                <a:solidFill>
                  <a:srgbClr val="161616"/>
                </a:solidFill>
              </a:rPr>
              <a:t>{{RISK_6_TITLE}}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583B383-6168-45CE-BAB7-A012A7510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5143500"/>
            <a:ext cx="3695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{{RISK_6_IMPACT}}</a:t>
            </a:r>
          </a:p>
        </p:txBody>
      </p:sp>
    </p:spTree>
    <p:extLst>
      <p:ext uri="{BB962C8B-B14F-4D97-AF65-F5344CB8AC3E}">
        <p14:creationId xmlns:p14="http://schemas.microsoft.com/office/powerpoint/2010/main" val="49240285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C3206DC-55CC-498E-98DA-EAD5B5E86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0ab3408eca41d6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E16305-AFC5-48D8-8F20-A1B1F08CD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Почему требования применимы к вашей организации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6875EE-CCE7-4069-B106-C88F203C4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8CABAF-9E0E-4D58-96EC-556EC5B41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A45374-2262-4228-83D9-150C83A18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395487-8978-4FA1-8497-E8B96820C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DC9839-D0F1-45A6-A107-EF6808223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71600"/>
            <a:ext cx="106489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6412"/>
                </a:solidFill>
              </a:defRPr>
            </a:pPr>
            <a:r>
              <a:rPr sz="2025" b="1">
                <a:solidFill>
                  <a:srgbClr val="FF6412"/>
                </a:solidFill>
              </a:rPr>
              <a:t>{{REG_TITLE}}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A25B0E-1107-4B25-B15D-49CB8A2D5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1935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F6412"/>
                </a:solidFill>
              </a:defRPr>
            </a:pPr>
            <a:r>
              <a:rPr sz="1125" b="1">
                <a:solidFill>
                  <a:srgbClr val="FF6412"/>
                </a:solidFill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98C2E3-3639-4727-AF2B-9F799AC03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81300"/>
            <a:ext cx="3105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61616"/>
                </a:solidFill>
              </a:defRPr>
            </a:pPr>
            <a:r>
              <a:rPr sz="1500" b="1">
                <a:solidFill>
                  <a:srgbClr val="161616"/>
                </a:solidFill>
              </a:rPr>
              <a:t>Основание профиля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09591E-928A-4E85-93F4-7F1A20812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29000"/>
            <a:ext cx="31051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67085"/>
                </a:solidFill>
              </a:defRPr>
            </a:pPr>
            <a:r>
              <a:rPr sz="1200">
                <a:solidFill>
                  <a:srgbClr val="667085"/>
                </a:solidFill>
              </a:rPr>
              <a:t>{{REG_APPLICABILITY}}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BBA9F1-5588-4241-8887-44FEF3DEC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400300"/>
            <a:ext cx="9525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54BD96-2F8D-4A31-96A2-91E89F298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41935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F6412"/>
                </a:solidFill>
              </a:defRPr>
            </a:pPr>
            <a:r>
              <a:rPr sz="1125" b="1">
                <a:solidFill>
                  <a:srgbClr val="FF6412"/>
                </a:solidFill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94689A-F176-4A28-BCCF-65BF2D99C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781300"/>
            <a:ext cx="3105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61616"/>
                </a:solidFill>
              </a:defRPr>
            </a:pPr>
            <a:r>
              <a:rPr sz="1500" b="1">
                <a:solidFill>
                  <a:srgbClr val="161616"/>
                </a:solidFill>
              </a:rPr>
              <a:t>Что требуется подтвердить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194080-D827-42DB-808C-622803BBF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429000"/>
            <a:ext cx="31051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67085"/>
                </a:solidFill>
              </a:defRPr>
            </a:pPr>
            <a:r>
              <a:rPr sz="1200">
                <a:solidFill>
                  <a:srgbClr val="667085"/>
                </a:solidFill>
              </a:rPr>
              <a:t>{{REG_EXPECTATIONS}}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F96AAC-D1B0-4B78-8CD3-2DD23D3AB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400300"/>
            <a:ext cx="9525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301FCD-90EC-4BB2-AF29-3DF19A47C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41935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F6412"/>
                </a:solidFill>
              </a:defRPr>
            </a:pPr>
            <a:r>
              <a:rPr sz="1125" b="1">
                <a:solidFill>
                  <a:srgbClr val="FF6412"/>
                </a:solidFill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D10628E-6CFB-4678-832E-718F2F740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781300"/>
            <a:ext cx="3105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61616"/>
                </a:solidFill>
              </a:defRPr>
            </a:pPr>
            <a:r>
              <a:rPr sz="1500" b="1">
                <a:solidFill>
                  <a:srgbClr val="161616"/>
                </a:solidFill>
              </a:rPr>
              <a:t>Как читать рекомендации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283FC91-45E1-45EE-8592-5AA92662C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429000"/>
            <a:ext cx="31051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67085"/>
                </a:solidFill>
              </a:defRPr>
            </a:pPr>
            <a:r>
              <a:rPr sz="1200">
                <a:solidFill>
                  <a:srgbClr val="667085"/>
                </a:solidFill>
              </a:rPr>
              <a:t>{{REG_IMPLEMENTATION}}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133F9D-7592-4EED-8D1E-683D658F7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05400"/>
            <a:ext cx="106489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5210F6B-A094-49BA-BF79-AAD1D8BD3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19700"/>
            <a:ext cx="2190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Нормы Республики Казахстан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CBA29F7-71D1-4063-9734-1CF63D79E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19725"/>
            <a:ext cx="1019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61616"/>
                </a:solidFill>
              </a:defRPr>
            </a:pPr>
            <a:r>
              <a:rPr sz="900" b="1">
                <a:solidFill>
                  <a:srgbClr val="161616"/>
                </a:solidFill>
              </a:rPr>
              <a:t>{{REG_ANCHORS}}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136C357-08B4-4F72-822F-9D4D306F1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772150"/>
            <a:ext cx="106489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7274DFD-8839-4637-8A83-CBA73EE2F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76925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Стандарты при подтверждении применимости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FA9FF6B-C099-4178-AABB-1249F42B4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076950"/>
            <a:ext cx="1019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61616"/>
                </a:solidFill>
              </a:defRPr>
            </a:pPr>
            <a:r>
              <a:rPr sz="900" b="1">
                <a:solidFill>
                  <a:srgbClr val="161616"/>
                </a:solidFill>
              </a:rPr>
              <a:t>{{FRAMEWORKS}}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BE6E0D0-E681-42B8-8A1A-65A41ED9A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06489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667085"/>
                </a:solidFill>
              </a:defRPr>
            </a:pPr>
            <a:r>
              <a:rPr sz="750">
                <a:solidFill>
                  <a:srgbClr val="667085"/>
                </a:solidFill>
              </a:rPr>
              <a:t>PCI DSS и GDPR применяются только при наличии соответствующих данных и операций.</a:t>
            </a:r>
          </a:p>
        </p:txBody>
      </p:sp>
    </p:spTree>
    <p:extLst>
      <p:ext uri="{BB962C8B-B14F-4D97-AF65-F5344CB8AC3E}">
        <p14:creationId xmlns:p14="http://schemas.microsoft.com/office/powerpoint/2010/main" val="86793820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60F30D7-275A-4BFB-8581-AE9BF9DDA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ee60d7d7c849c6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4B9CE3-2100-484C-BF8D-F6D902FC0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Рекомендации: первоочередные меры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6ECF35-1989-46DB-9D83-830F217A9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3C2CD1-0D53-4204-8845-B770D11EF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D821D9-6A25-4A64-A027-D4DCA612E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DA754A-7B56-4E2F-99A2-77BEF2362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58DC3C-D32D-4C83-AE11-9D2CEA6DA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0668000" cy="20764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E5F132-26F1-4695-96FA-9D39DF033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23950" cy="20764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B1000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4FB3A1-7049-4EC7-87F8-BA9A00539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28775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20001"/>
                </a:solidFill>
              </a:defRPr>
            </a:pPr>
            <a:r>
              <a:rPr sz="900" b="1">
                <a:solidFill>
                  <a:srgbClr val="B20001"/>
                </a:solidFill>
              </a:rPr>
              <a:t>{{REC_1_LEVEL}}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A2422D-6291-4648-A7BB-CCBD059E1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62175"/>
            <a:ext cx="742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B20001"/>
                </a:solidFill>
              </a:defRPr>
            </a:pPr>
            <a:r>
              <a:rPr sz="2550" b="1">
                <a:solidFill>
                  <a:srgbClr val="B20001"/>
                </a:solidFill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E43604-CBFD-44BA-A378-0253D2A69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1524000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1616"/>
                </a:solidFill>
              </a:defRPr>
            </a:pPr>
            <a:r>
              <a:rPr sz="1425" b="1">
                <a:solidFill>
                  <a:srgbClr val="161616"/>
                </a:solidFill>
              </a:rPr>
              <a:t>{{REC_1_TITLE}}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71E88B-14E3-42F0-B2EE-0792BC645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1933575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Основание приоритета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66825E-B554-4D70-91AF-310D6D474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124075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{{REC_1_EVIDENCE}}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A61AE5-0ECC-4D52-B845-41BEFD02A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63842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Что сделать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3830D33-6BAB-47C4-8A24-7AEA38DDA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828925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61616"/>
                </a:solidFill>
              </a:defRPr>
            </a:pPr>
            <a:r>
              <a:rPr sz="975" b="1">
                <a:solidFill>
                  <a:srgbClr val="161616"/>
                </a:solidFill>
              </a:rPr>
              <a:t>{{REC_1_ACTION}}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E4266D-F562-4EB9-984E-FCD16BD60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552575"/>
            <a:ext cx="9525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5BEB02F-8692-4491-AB74-C96B4C436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55257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Решение и производители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5E58970-4897-4EE1-89EE-4329D6AC7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762125"/>
            <a:ext cx="4000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61616"/>
                </a:solidFill>
              </a:defRPr>
            </a:pPr>
            <a:r>
              <a:rPr sz="975" b="1">
                <a:solidFill>
                  <a:srgbClr val="161616"/>
                </a:solidFill>
              </a:rPr>
              <a:t>{{REC_1_SOLUTION}} · {{REC_1_VENDORS}}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34FA2C8-0E63-4346-B343-EC35A822D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28600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Основание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F069998-4EFE-4094-AE7D-B78A038E8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486025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67085"/>
                </a:solidFill>
              </a:defRPr>
            </a:pPr>
            <a:r>
              <a:rPr sz="900">
                <a:solidFill>
                  <a:srgbClr val="667085"/>
                </a:solidFill>
              </a:rPr>
              <a:t>{{REC_1_LEGAL}}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BF4E7C1-8525-4451-8F13-2019204B5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905125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Критерий результата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E554855-6794-428B-A37F-FBF53F20B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1051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61616"/>
                </a:solidFill>
              </a:defRPr>
            </a:pPr>
            <a:r>
              <a:rPr sz="900" b="1">
                <a:solidFill>
                  <a:srgbClr val="161616"/>
                </a:solidFill>
              </a:rPr>
              <a:t>{{REC_1_METRIC}}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F7F1D33-BA16-43B4-AD81-E1633AD16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33800"/>
            <a:ext cx="10668000" cy="20764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76132AB-A4C4-4CCC-ABB8-82C084FE8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33800"/>
            <a:ext cx="1123950" cy="20764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B1000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B42DDE9-AA71-4557-82C0-9A97B9554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81450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20002"/>
                </a:solidFill>
              </a:defRPr>
            </a:pPr>
            <a:r>
              <a:rPr sz="900" b="1">
                <a:solidFill>
                  <a:srgbClr val="B20002"/>
                </a:solidFill>
              </a:rPr>
              <a:t>{{REC_2_LEVEL}}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C134051-150D-4F65-8C41-7E68D0106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14850"/>
            <a:ext cx="742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B20002"/>
                </a:solidFill>
              </a:defRPr>
            </a:pPr>
            <a:r>
              <a:rPr sz="2550" b="1">
                <a:solidFill>
                  <a:srgbClr val="B20002"/>
                </a:solidFill>
              </a:rPr>
              <a:t>02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A79ED37-79B5-4602-A0E8-0A06DE285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3876675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1616"/>
                </a:solidFill>
              </a:defRPr>
            </a:pPr>
            <a:r>
              <a:rPr sz="1425" b="1">
                <a:solidFill>
                  <a:srgbClr val="161616"/>
                </a:solidFill>
              </a:rPr>
              <a:t>{{REC_2_TITLE}}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5957B4B-8249-49FC-81B5-95672B6ED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2862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Основание приоритета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3CEC28D-538A-4523-97AF-B05BFF990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476750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{{REC_2_EVIDENCE}}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37D60D4-E231-4952-99D9-68F06A89D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99110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Что сделать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28A8134-2328-4036-990A-2E3E33422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5181600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61616"/>
                </a:solidFill>
              </a:defRPr>
            </a:pPr>
            <a:r>
              <a:rPr sz="975" b="1">
                <a:solidFill>
                  <a:srgbClr val="161616"/>
                </a:solidFill>
              </a:rPr>
              <a:t>{{REC_2_ACTION}}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61E6B27-436B-431B-B266-D95E7217A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905250"/>
            <a:ext cx="9525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FC712F9-EDB6-4CD1-BA35-57AE2A91F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9052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Решение и производители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53B7039-D5D0-48C8-A23C-4EEF4498E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114800"/>
            <a:ext cx="4000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61616"/>
                </a:solidFill>
              </a:defRPr>
            </a:pPr>
            <a:r>
              <a:rPr sz="975" b="1">
                <a:solidFill>
                  <a:srgbClr val="161616"/>
                </a:solidFill>
              </a:rPr>
              <a:t>{{REC_2_SOLUTION}} · {{REC_2_VENDORS}}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F4610A0-9815-420B-89C4-3143F6C22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63867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Основание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A22E250-9417-4987-A8F7-6EDB988A6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8387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67085"/>
                </a:solidFill>
              </a:defRPr>
            </a:pPr>
            <a:r>
              <a:rPr sz="900">
                <a:solidFill>
                  <a:srgbClr val="667085"/>
                </a:solidFill>
              </a:rPr>
              <a:t>{{REC_2_LEGAL}}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AAAECB6-2DEB-437C-9F8F-D9589E177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2578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Критерий результата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D89A2FF-DBF3-4F28-9390-98C71BF11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45782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61616"/>
                </a:solidFill>
              </a:defRPr>
            </a:pPr>
            <a:r>
              <a:rPr sz="900" b="1">
                <a:solidFill>
                  <a:srgbClr val="161616"/>
                </a:solidFill>
              </a:rPr>
              <a:t>{{REC_2_METRIC}}</a:t>
            </a:r>
          </a:p>
        </p:txBody>
      </p:sp>
    </p:spTree>
    <p:extLst>
      <p:ext uri="{BB962C8B-B14F-4D97-AF65-F5344CB8AC3E}">
        <p14:creationId xmlns:p14="http://schemas.microsoft.com/office/powerpoint/2010/main" val="184390438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915743E-906B-416E-804E-3C6945D86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74a64c3b634f6e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99BE7C-69E4-4A0D-A9B5-D983BFAAA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Рекомендации: снижение основных рисков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F10CE2-192D-4193-A979-4A614C846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D0F19B-8820-4955-B370-8660BCACD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FA3634-5825-492E-8595-C477E6DD8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25FD3F-8186-427C-8537-BF85F4CEB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FA351A-6B86-4DBA-8B49-A99A31264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0668000" cy="20764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AB9D09-0BAF-4F1A-8C30-486FE7A57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23950" cy="20764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B1000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69FDDE-0777-41C7-959A-2681218BD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28775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20003"/>
                </a:solidFill>
              </a:defRPr>
            </a:pPr>
            <a:r>
              <a:rPr sz="900" b="1">
                <a:solidFill>
                  <a:srgbClr val="B20003"/>
                </a:solidFill>
              </a:rPr>
              <a:t>{{REC_3_LEVEL}}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3E16C4-14B8-4FA4-A109-47B84F488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62175"/>
            <a:ext cx="742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B20003"/>
                </a:solidFill>
              </a:defRPr>
            </a:pPr>
            <a:r>
              <a:rPr sz="2550" b="1">
                <a:solidFill>
                  <a:srgbClr val="B20003"/>
                </a:solidFill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55B676-8DE0-465A-A71C-A793A6E16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1524000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1616"/>
                </a:solidFill>
              </a:defRPr>
            </a:pPr>
            <a:r>
              <a:rPr sz="1425" b="1">
                <a:solidFill>
                  <a:srgbClr val="161616"/>
                </a:solidFill>
              </a:rPr>
              <a:t>{{REC_3_TITLE}}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16EF4D-D682-4C9A-8392-2B869CA87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1933575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Основание приоритета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709B45-2278-434D-99E1-369416E23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124075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{{REC_3_EVIDENCE}}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2BAB41-244E-4095-BFCD-21736F8B8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63842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Что сделать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4EB813-9220-4BE8-824C-243505253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828925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61616"/>
                </a:solidFill>
              </a:defRPr>
            </a:pPr>
            <a:r>
              <a:rPr sz="975" b="1">
                <a:solidFill>
                  <a:srgbClr val="161616"/>
                </a:solidFill>
              </a:rPr>
              <a:t>{{REC_3_ACTION}}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D727AA-E10A-4F50-AFC5-A4D210BD2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552575"/>
            <a:ext cx="9525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153692-9EFF-4718-8D30-5098280E2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55257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Решение и производители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8C20A27-A3A2-4AD8-8C2F-673BE214C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762125"/>
            <a:ext cx="4000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61616"/>
                </a:solidFill>
              </a:defRPr>
            </a:pPr>
            <a:r>
              <a:rPr sz="975" b="1">
                <a:solidFill>
                  <a:srgbClr val="161616"/>
                </a:solidFill>
              </a:rPr>
              <a:t>{{REC_3_SOLUTION}} · {{REC_3_VENDORS}}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F1A4AF2-3A1F-4262-901E-FE139E5C3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28600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Основание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B0A5915-E4C7-474A-A419-7747AEBE8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486025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67085"/>
                </a:solidFill>
              </a:defRPr>
            </a:pPr>
            <a:r>
              <a:rPr sz="900">
                <a:solidFill>
                  <a:srgbClr val="667085"/>
                </a:solidFill>
              </a:rPr>
              <a:t>{{REC_3_LEGAL}}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9ECDE04-5683-42EC-87F6-AC26A87DA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905125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Критерий результата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42AA57A-C2D2-4D38-9C32-74DEBDE80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1051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61616"/>
                </a:solidFill>
              </a:defRPr>
            </a:pPr>
            <a:r>
              <a:rPr sz="900" b="1">
                <a:solidFill>
                  <a:srgbClr val="161616"/>
                </a:solidFill>
              </a:rPr>
              <a:t>{{REC_3_METRIC}}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04FDEC4-94E3-4674-BF7E-863F1C6A7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33800"/>
            <a:ext cx="10668000" cy="20764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613BFC5-1657-4E12-B6BE-797323A8F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33800"/>
            <a:ext cx="1123950" cy="20764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B1000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CE9F818-04B1-498B-B615-2DDBAED7C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81450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20004"/>
                </a:solidFill>
              </a:defRPr>
            </a:pPr>
            <a:r>
              <a:rPr sz="900" b="1">
                <a:solidFill>
                  <a:srgbClr val="B20004"/>
                </a:solidFill>
              </a:rPr>
              <a:t>{{REC_4_LEVEL}}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5F1544C-3BCA-4C8F-9D81-0AA40080F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14850"/>
            <a:ext cx="742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B20004"/>
                </a:solidFill>
              </a:defRPr>
            </a:pPr>
            <a:r>
              <a:rPr sz="2550" b="1">
                <a:solidFill>
                  <a:srgbClr val="B20004"/>
                </a:solidFill>
              </a:rPr>
              <a:t>04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D622D34-9C5E-4B09-A430-060BE5794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3876675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1616"/>
                </a:solidFill>
              </a:defRPr>
            </a:pPr>
            <a:r>
              <a:rPr sz="1425" b="1">
                <a:solidFill>
                  <a:srgbClr val="161616"/>
                </a:solidFill>
              </a:rPr>
              <a:t>{{REC_4_TITLE}}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9D00E23-E52B-4E74-B875-64E5233FB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2862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Основание приоритета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34EC9AC-9879-4EA7-9148-7FF2C3F30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476750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{{REC_4_EVIDENCE}}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C26CA14-A758-41EB-8766-435349348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99110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Что сделать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0592020-7D29-40E1-B21C-73E35BA48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5181600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61616"/>
                </a:solidFill>
              </a:defRPr>
            </a:pPr>
            <a:r>
              <a:rPr sz="975" b="1">
                <a:solidFill>
                  <a:srgbClr val="161616"/>
                </a:solidFill>
              </a:rPr>
              <a:t>{{REC_4_ACTION}}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84F4D7A-D23C-436D-88DF-BEB0B49BC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905250"/>
            <a:ext cx="9525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3D64277-03E9-4D20-9AC6-EF7E8B6F7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9052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Решение и производители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5E859DE-598A-4C07-8820-34FF921FC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114800"/>
            <a:ext cx="4000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61616"/>
                </a:solidFill>
              </a:defRPr>
            </a:pPr>
            <a:r>
              <a:rPr sz="975" b="1">
                <a:solidFill>
                  <a:srgbClr val="161616"/>
                </a:solidFill>
              </a:rPr>
              <a:t>{{REC_4_SOLUTION}} · {{REC_4_VENDORS}}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9D1285E-28CA-4D3C-B990-E6B2B0C57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63867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Основание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AEA19DD-3E56-47F8-93EA-E557139D1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8387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67085"/>
                </a:solidFill>
              </a:defRPr>
            </a:pPr>
            <a:r>
              <a:rPr sz="900">
                <a:solidFill>
                  <a:srgbClr val="667085"/>
                </a:solidFill>
              </a:rPr>
              <a:t>{{REC_4_LEGAL}}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9893AAD-48F4-4CF7-B13A-841A04792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2578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Критерий результата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26D21F3-EAA9-4521-BD88-9EA79613B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45782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61616"/>
                </a:solidFill>
              </a:defRPr>
            </a:pPr>
            <a:r>
              <a:rPr sz="900" b="1">
                <a:solidFill>
                  <a:srgbClr val="161616"/>
                </a:solidFill>
              </a:rPr>
              <a:t>{{REC_4_METRIC}}</a:t>
            </a:r>
          </a:p>
        </p:txBody>
      </p:sp>
    </p:spTree>
    <p:extLst>
      <p:ext uri="{BB962C8B-B14F-4D97-AF65-F5344CB8AC3E}">
        <p14:creationId xmlns:p14="http://schemas.microsoft.com/office/powerpoint/2010/main" val="192355464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B986937-61BE-477E-9BB4-4453A9E8E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7ed28954414789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F6CF62-2087-4BF1-8617-B1AA92851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Рекомендации: устойчивость ИТ и ИБ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9B59B8-9ED5-49BD-8DBE-2B2716675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DB4AB7-3308-45D5-BE23-5D614642F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9DE52C-9884-411A-8B2B-6E64830EC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95F425-6B61-423B-9308-7981DCC06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0A97F7-61CC-46BB-B57D-0B5959FD3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0668000" cy="20764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3000FF-BC87-4A00-8098-A6FA217EF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23950" cy="20764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B1000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6B54F3-24A2-4392-ADA5-E4769793A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28775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20005"/>
                </a:solidFill>
              </a:defRPr>
            </a:pPr>
            <a:r>
              <a:rPr sz="900" b="1">
                <a:solidFill>
                  <a:srgbClr val="B20005"/>
                </a:solidFill>
              </a:rPr>
              <a:t>{{REC_5_LEVEL}}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F5EBD5-F001-4C40-8D30-A404EF7DC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62175"/>
            <a:ext cx="742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B20005"/>
                </a:solidFill>
              </a:defRPr>
            </a:pPr>
            <a:r>
              <a:rPr sz="2550" b="1">
                <a:solidFill>
                  <a:srgbClr val="B20005"/>
                </a:solidFill>
              </a:rPr>
              <a:t>05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DC16A5-FD3D-467D-86E4-1627B88CC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1524000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1616"/>
                </a:solidFill>
              </a:defRPr>
            </a:pPr>
            <a:r>
              <a:rPr sz="1425" b="1">
                <a:solidFill>
                  <a:srgbClr val="161616"/>
                </a:solidFill>
              </a:rPr>
              <a:t>{{REC_5_TITLE}}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C65180-BDF1-410F-9353-0C91FB76C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1933575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Основание приоритета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855B55-BEEC-4AED-BC8B-50D7C7F85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124075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{{REC_5_EVIDENCE}}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DBF8DAB-792B-46DF-ACD5-592B4FBB3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63842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Что сделать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8044CBF-A6EE-423A-B224-7E9581C0B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828925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61616"/>
                </a:solidFill>
              </a:defRPr>
            </a:pPr>
            <a:r>
              <a:rPr sz="975" b="1">
                <a:solidFill>
                  <a:srgbClr val="161616"/>
                </a:solidFill>
              </a:rPr>
              <a:t>{{REC_5_ACTION}}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A375D37-CFE7-4F5D-81CD-310C7ADD3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552575"/>
            <a:ext cx="9525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BA827B-B229-4573-8A30-391D78805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55257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Решение и производители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F839F13-141B-41B3-8EA9-351087192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762125"/>
            <a:ext cx="4000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61616"/>
                </a:solidFill>
              </a:defRPr>
            </a:pPr>
            <a:r>
              <a:rPr sz="975" b="1">
                <a:solidFill>
                  <a:srgbClr val="161616"/>
                </a:solidFill>
              </a:rPr>
              <a:t>{{REC_5_SOLUTION}} · {{REC_5_VENDORS}}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B74CCE-356C-45D5-AC6D-3D5E3AB78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28600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Основание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3E3201E-5FA8-4BF5-9858-9D55C75E6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486025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67085"/>
                </a:solidFill>
              </a:defRPr>
            </a:pPr>
            <a:r>
              <a:rPr sz="900">
                <a:solidFill>
                  <a:srgbClr val="667085"/>
                </a:solidFill>
              </a:rPr>
              <a:t>{{REC_5_LEGAL}}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CFE862C-2638-4562-9749-7794FB0CF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905125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Критерий результата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DE6C311-D4EE-4134-99AF-9B42CE8BA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1051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61616"/>
                </a:solidFill>
              </a:defRPr>
            </a:pPr>
            <a:r>
              <a:rPr sz="900" b="1">
                <a:solidFill>
                  <a:srgbClr val="161616"/>
                </a:solidFill>
              </a:rPr>
              <a:t>{{REC_5_METRIC}}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23648F1-5074-40E6-94D6-1C24DBB83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33800"/>
            <a:ext cx="10668000" cy="20764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D826FF5-65B4-4A34-AC83-287B96952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33800"/>
            <a:ext cx="1123950" cy="20764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B1000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7084855-E91C-4474-BB68-68D785391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81450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20006"/>
                </a:solidFill>
              </a:defRPr>
            </a:pPr>
            <a:r>
              <a:rPr sz="900" b="1">
                <a:solidFill>
                  <a:srgbClr val="B20006"/>
                </a:solidFill>
              </a:rPr>
              <a:t>{{REC_6_LEVEL}}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DC34AA9-A818-43E6-9BE0-C589FEC8A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14850"/>
            <a:ext cx="742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B20006"/>
                </a:solidFill>
              </a:defRPr>
            </a:pPr>
            <a:r>
              <a:rPr sz="2550" b="1">
                <a:solidFill>
                  <a:srgbClr val="B20006"/>
                </a:solidFill>
              </a:rPr>
              <a:t>06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9131D24-B15E-429E-BD90-58F81FCC4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3876675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1616"/>
                </a:solidFill>
              </a:defRPr>
            </a:pPr>
            <a:r>
              <a:rPr sz="1425" b="1">
                <a:solidFill>
                  <a:srgbClr val="161616"/>
                </a:solidFill>
              </a:rPr>
              <a:t>{{REC_6_TITLE}}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9B0A655-E93B-47FF-BC46-E739761E0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2862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Основание приоритета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7BCAB2E-3776-4767-B35B-15B172715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476750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{{REC_6_EVIDENCE}}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40E9D5A-C483-4E39-8D68-75C659CC4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99110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Что сделать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8932E54-67FD-441B-84A8-7C4ECA9E1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5181600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61616"/>
                </a:solidFill>
              </a:defRPr>
            </a:pPr>
            <a:r>
              <a:rPr sz="975" b="1">
                <a:solidFill>
                  <a:srgbClr val="161616"/>
                </a:solidFill>
              </a:rPr>
              <a:t>{{REC_6_ACTION}}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5018123-F850-4FE7-AFAD-E32E59317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905250"/>
            <a:ext cx="9525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7C3C9D2-C72E-43B2-B0C7-9881E647D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9052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Решение и производители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66FA9C5-9074-4B5F-BA3B-76B590F1E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114800"/>
            <a:ext cx="4000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61616"/>
                </a:solidFill>
              </a:defRPr>
            </a:pPr>
            <a:r>
              <a:rPr sz="975" b="1">
                <a:solidFill>
                  <a:srgbClr val="161616"/>
                </a:solidFill>
              </a:rPr>
              <a:t>{{REC_6_SOLUTION}} · {{REC_6_VENDORS}}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1936F5D-66FD-464B-BD10-050F83066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63867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Основание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8EC9F3B-03B0-48BF-9944-255999529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8387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67085"/>
                </a:solidFill>
              </a:defRPr>
            </a:pPr>
            <a:r>
              <a:rPr sz="900">
                <a:solidFill>
                  <a:srgbClr val="667085"/>
                </a:solidFill>
              </a:rPr>
              <a:t>{{REC_6_LEGAL}}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F9FC7C4-45FA-4769-B535-EF88110D9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2578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Критерий результата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4F6E4AA-F0EF-4DB8-B85D-1D4BBBDE3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45782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61616"/>
                </a:solidFill>
              </a:defRPr>
            </a:pPr>
            <a:r>
              <a:rPr sz="900" b="1">
                <a:solidFill>
                  <a:srgbClr val="161616"/>
                </a:solidFill>
              </a:rPr>
              <a:t>{{REC_6_METRIC}}</a:t>
            </a:r>
          </a:p>
        </p:txBody>
      </p:sp>
    </p:spTree>
    <p:extLst>
      <p:ext uri="{BB962C8B-B14F-4D97-AF65-F5344CB8AC3E}">
        <p14:creationId xmlns:p14="http://schemas.microsoft.com/office/powerpoint/2010/main" val="118832632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350A495-4F76-47DF-B911-C066D9F2F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912e33362e4e57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BBD87B-8EBB-4FBC-A523-9C8393E7D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Рекомендации: следующий уровень зрелости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788E9D-223E-4A4A-907F-EB872ABA6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F719DF-8F1E-460D-8372-9DC55FCF7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68AD00-F9C3-4117-A1FA-48DC93B96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9F6116-C3BE-4458-9A6D-3F160C9C8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B5FB30-CEC0-4690-91E3-F156802C1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0668000" cy="20764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2AAFF3-7744-478F-B30E-BEBED9192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23950" cy="20764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B1000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8A00A3-F30A-4D8C-90AC-A6EC0DC6A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28775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20007"/>
                </a:solidFill>
              </a:defRPr>
            </a:pPr>
            <a:r>
              <a:rPr sz="900" b="1">
                <a:solidFill>
                  <a:srgbClr val="B20007"/>
                </a:solidFill>
              </a:rPr>
              <a:t>{{REC_7_LEVEL}}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CD703B-BF62-44D9-BD87-11ABCA2EE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62175"/>
            <a:ext cx="742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B20007"/>
                </a:solidFill>
              </a:defRPr>
            </a:pPr>
            <a:r>
              <a:rPr sz="2550" b="1">
                <a:solidFill>
                  <a:srgbClr val="B20007"/>
                </a:solidFill>
              </a:rPr>
              <a:t>07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0F6874-7621-4A79-A408-9088D7E13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1524000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1616"/>
                </a:solidFill>
              </a:defRPr>
            </a:pPr>
            <a:r>
              <a:rPr sz="1425" b="1">
                <a:solidFill>
                  <a:srgbClr val="161616"/>
                </a:solidFill>
              </a:rPr>
              <a:t>{{REC_7_TITLE}}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24FD25-3C3F-4F46-B940-E66961982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1933575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Основание приоритета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87FCD4-79CF-4E50-AF59-DFEF95953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124075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{{REC_7_EVIDENCE}}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C72EB8-C4C3-40E7-9B24-35121BE57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63842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Что сделать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950644-BC3A-4C84-9303-EFBC74293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828925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61616"/>
                </a:solidFill>
              </a:defRPr>
            </a:pPr>
            <a:r>
              <a:rPr sz="975" b="1">
                <a:solidFill>
                  <a:srgbClr val="161616"/>
                </a:solidFill>
              </a:rPr>
              <a:t>{{REC_7_ACTION}}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2AF254-0A9D-4538-933F-6DD9F5743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552575"/>
            <a:ext cx="9525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1E3E60-1E5A-4710-AD80-6BE88E135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55257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Решение и производители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E39979A-0581-4546-AC75-8CB50D9B0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762125"/>
            <a:ext cx="4000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61616"/>
                </a:solidFill>
              </a:defRPr>
            </a:pPr>
            <a:r>
              <a:rPr sz="975" b="1">
                <a:solidFill>
                  <a:srgbClr val="161616"/>
                </a:solidFill>
              </a:rPr>
              <a:t>{{REC_7_SOLUTION}} · {{REC_7_VENDORS}}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8C24FE8-6430-44CD-AC96-A2BEF9F13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28600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Основание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29D96DA-F044-4E59-BAE7-EA9A771C6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486025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67085"/>
                </a:solidFill>
              </a:defRPr>
            </a:pPr>
            <a:r>
              <a:rPr sz="900">
                <a:solidFill>
                  <a:srgbClr val="667085"/>
                </a:solidFill>
              </a:rPr>
              <a:t>{{REC_7_LEGAL}}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6E01D2E-94E0-4FEA-879B-EE9561284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905125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Критерий результата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DA75D20-93DF-40A6-BAD5-A2BEDBB4D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1051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61616"/>
                </a:solidFill>
              </a:defRPr>
            </a:pPr>
            <a:r>
              <a:rPr sz="900" b="1">
                <a:solidFill>
                  <a:srgbClr val="161616"/>
                </a:solidFill>
              </a:rPr>
              <a:t>{{REC_7_METRIC}}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81CC6A0-127D-4FC7-BE59-7FF25243F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33800"/>
            <a:ext cx="10668000" cy="20764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EB7DFC4-74B3-46F1-BF6C-3C7C38C81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33800"/>
            <a:ext cx="1123950" cy="20764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B1000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4A83E34-9B87-486C-ACAA-3C6385C1D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81450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20008"/>
                </a:solidFill>
              </a:defRPr>
            </a:pPr>
            <a:r>
              <a:rPr sz="900" b="1">
                <a:solidFill>
                  <a:srgbClr val="B20008"/>
                </a:solidFill>
              </a:rPr>
              <a:t>{{REC_8_LEVEL}}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B8B505C-3E2C-4F61-A58A-81A31BC8A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14850"/>
            <a:ext cx="742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B20008"/>
                </a:solidFill>
              </a:defRPr>
            </a:pPr>
            <a:r>
              <a:rPr sz="2550" b="1">
                <a:solidFill>
                  <a:srgbClr val="B20008"/>
                </a:solidFill>
              </a:rPr>
              <a:t>08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FA10741-3A82-4C70-B65F-D2756DB69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3876675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1616"/>
                </a:solidFill>
              </a:defRPr>
            </a:pPr>
            <a:r>
              <a:rPr sz="1425" b="1">
                <a:solidFill>
                  <a:srgbClr val="161616"/>
                </a:solidFill>
              </a:rPr>
              <a:t>{{REC_8_TITLE}}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86B0967-9282-48C7-892B-E622F76B3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2862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Основание приоритета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AD49AC9-4B7D-4F51-A600-31FA34EC9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476750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{{REC_8_EVIDENCE}}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F5B5DA6-8943-4CAB-9C0D-9C519C7DE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99110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Что сделать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BB88AAE-04E7-49A7-AC9D-032D3D793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5181600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61616"/>
                </a:solidFill>
              </a:defRPr>
            </a:pPr>
            <a:r>
              <a:rPr sz="975" b="1">
                <a:solidFill>
                  <a:srgbClr val="161616"/>
                </a:solidFill>
              </a:rPr>
              <a:t>{{REC_8_ACTION}}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1C544E5-EFA7-4CA4-A4E9-7A166CBC0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905250"/>
            <a:ext cx="9525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11E2725-7CAB-4159-9781-39199D247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9052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Решение и производители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AEC95DD-E6FD-47B7-944B-BFA7123A4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114800"/>
            <a:ext cx="4000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61616"/>
                </a:solidFill>
              </a:defRPr>
            </a:pPr>
            <a:r>
              <a:rPr sz="975" b="1">
                <a:solidFill>
                  <a:srgbClr val="161616"/>
                </a:solidFill>
              </a:rPr>
              <a:t>{{REC_8_SOLUTION}} · {{REC_8_VENDORS}}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42DDBF5-EFBE-4E25-812B-75C452AF2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63867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Основание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134E44F-54B8-48B8-89A0-EA10D7ACA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8387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67085"/>
                </a:solidFill>
              </a:defRPr>
            </a:pPr>
            <a:r>
              <a:rPr sz="900">
                <a:solidFill>
                  <a:srgbClr val="667085"/>
                </a:solidFill>
              </a:rPr>
              <a:t>{{REC_8_LEGAL}}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883574C-20F2-4C69-8E4A-8FA6C8A8C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2578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Критерий результата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A53D69F-7766-4BDB-AF5C-1B36714E5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45782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61616"/>
                </a:solidFill>
              </a:defRPr>
            </a:pPr>
            <a:r>
              <a:rPr sz="900" b="1">
                <a:solidFill>
                  <a:srgbClr val="161616"/>
                </a:solidFill>
              </a:rPr>
              <a:t>{{REC_8_METRIC}}</a:t>
            </a:r>
          </a:p>
        </p:txBody>
      </p:sp>
    </p:spTree>
    <p:extLst>
      <p:ext uri="{BB962C8B-B14F-4D97-AF65-F5344CB8AC3E}">
        <p14:creationId xmlns:p14="http://schemas.microsoft.com/office/powerpoint/2010/main" val="167933276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262BF15-436E-4073-9BB3-64F356243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72b54001b04131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A8AA54-AE38-4575-937A-6D7C9DD9E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План на 90 дней переводит выводы в действия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0A0082-E522-410C-88E0-90F93BDF6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4470D8-E913-403B-AADD-E059FA0BD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826C28-4824-4936-944B-490D441D4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407A24-7F0D-4D0F-8CFC-84A4A7E2E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11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14D3D0-D401-4C85-813A-94A5E0E8C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33500"/>
            <a:ext cx="1064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67085"/>
                </a:solidFill>
              </a:defRPr>
            </a:pPr>
            <a:r>
              <a:rPr sz="1275">
                <a:solidFill>
                  <a:srgbClr val="667085"/>
                </a:solidFill>
              </a:rPr>
              <a:t>Сначала 20% первоочередных мер, которые закрывают основную долю подтвержденных рисков.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62D223-0CB2-4BCB-B1D6-3E055A0C1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1943100"/>
            <a:ext cx="38100" cy="3790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2E9C51-5D95-4725-9F50-3B862CB3C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12756B-C1EA-45EA-A32A-1BA2B85EC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3837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F666EB-0E31-4CF1-8D81-EF09D0F56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752600"/>
            <a:ext cx="98107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201983-6E98-4C81-B031-F14388586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905000"/>
            <a:ext cx="1409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F6412"/>
                </a:solidFill>
              </a:defRPr>
            </a:pPr>
            <a:r>
              <a:rPr sz="1125" b="1">
                <a:solidFill>
                  <a:srgbClr val="FF6412"/>
                </a:solidFill>
              </a:rPr>
              <a:t>0–30 дней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61D9B1-1415-490D-96A7-736759DA9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19075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61616"/>
                </a:solidFill>
              </a:defRPr>
            </a:pPr>
            <a:r>
              <a:rPr sz="1125" b="1">
                <a:solidFill>
                  <a:srgbClr val="161616"/>
                </a:solidFill>
              </a:rPr>
              <a:t>ПРИОРИТЕТЫ И БЫСТРЫЕ МЕРЫ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8CDF5D-DA7E-408A-85C9-D9E2894E0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933575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01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4419F6-0BDA-4856-905C-99192E2BA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876425"/>
            <a:ext cx="2781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161616"/>
                </a:solidFill>
              </a:defRPr>
            </a:pPr>
            <a:r>
              <a:rPr sz="900">
                <a:solidFill>
                  <a:srgbClr val="161616"/>
                </a:solidFill>
              </a:rPr>
              <a:t>{{ROADMAP_1_1}}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75E9B0-B6A9-4FE1-80C4-519F1839B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476500"/>
            <a:ext cx="7239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00" b="1">
                <a:solidFill>
                  <a:srgbClr val="FF6412"/>
                </a:solidFill>
              </a:defRPr>
            </a:pPr>
            <a:r>
              <a:rPr sz="600" b="1">
                <a:solidFill>
                  <a:srgbClr val="FF6412"/>
                </a:solidFill>
              </a:rPr>
              <a:t>РЕЗУЛЬТАТ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1038F8-9165-4485-BB24-43B49FCD1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628900"/>
            <a:ext cx="2781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161616"/>
                </a:solidFill>
              </a:defRPr>
            </a:pPr>
            <a:r>
              <a:rPr sz="750" b="1">
                <a:solidFill>
                  <a:srgbClr val="161616"/>
                </a:solidFill>
              </a:rPr>
              <a:t>{{ROADMAP_1_1_RESULT}}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1832FC-AEB1-4D5B-93F8-34880BDD6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1905000"/>
            <a:ext cx="952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ED4C476-42E5-4158-BEC8-B14C53515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933575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02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B1F4B92-EEEE-443A-874B-AEC0B3915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876425"/>
            <a:ext cx="2705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161616"/>
                </a:solidFill>
              </a:defRPr>
            </a:pPr>
            <a:r>
              <a:rPr sz="900">
                <a:solidFill>
                  <a:srgbClr val="161616"/>
                </a:solidFill>
              </a:rPr>
              <a:t>{{ROADMAP_1_2}}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006CECB-D307-4378-9898-9B641A27C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476500"/>
            <a:ext cx="7239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00" b="1">
                <a:solidFill>
                  <a:srgbClr val="FF6412"/>
                </a:solidFill>
              </a:defRPr>
            </a:pPr>
            <a:r>
              <a:rPr sz="600" b="1">
                <a:solidFill>
                  <a:srgbClr val="FF6412"/>
                </a:solidFill>
              </a:rPr>
              <a:t>РЕЗУЛЬТАТ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671BBD1-F222-4B93-90F0-D78C29B72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628900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161616"/>
                </a:solidFill>
              </a:defRPr>
            </a:pPr>
            <a:r>
              <a:rPr sz="750" b="1">
                <a:solidFill>
                  <a:srgbClr val="161616"/>
                </a:solidFill>
              </a:rPr>
              <a:t>{{ROADMAP_1_2_RESULT}}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D92BF89-4AAB-4B69-9120-CB8E5D6CC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814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A03DEF8-79F6-48D8-A398-27FF0C81D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0522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B845E6B-22F3-43AD-A72C-93271535F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219450"/>
            <a:ext cx="98107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3AFFEC8-7581-493C-A201-A9AFFE13C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371850"/>
            <a:ext cx="1409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F6412"/>
                </a:solidFill>
              </a:defRPr>
            </a:pPr>
            <a:r>
              <a:rPr sz="1125" b="1">
                <a:solidFill>
                  <a:srgbClr val="FF6412"/>
                </a:solidFill>
              </a:rPr>
              <a:t>31–60 дней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A841FA5-0641-46B7-9C39-68F3FE684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65760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61616"/>
                </a:solidFill>
              </a:defRPr>
            </a:pPr>
            <a:r>
              <a:rPr sz="1125" b="1">
                <a:solidFill>
                  <a:srgbClr val="161616"/>
                </a:solidFill>
              </a:rPr>
              <a:t>ПИЛОТЫ И РЕГЛАМЕНТЫ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D72BC5E-7920-4D8A-90B2-6BD8C38A3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400425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01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179B165-59E7-45CF-8A59-E53D678F2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343275"/>
            <a:ext cx="2781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161616"/>
                </a:solidFill>
              </a:defRPr>
            </a:pPr>
            <a:r>
              <a:rPr sz="900">
                <a:solidFill>
                  <a:srgbClr val="161616"/>
                </a:solidFill>
              </a:rPr>
              <a:t>{{ROADMAP_2_1}}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478DD01-9EB9-47B6-A17B-59032DC02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943350"/>
            <a:ext cx="7239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00" b="1">
                <a:solidFill>
                  <a:srgbClr val="FF6412"/>
                </a:solidFill>
              </a:defRPr>
            </a:pPr>
            <a:r>
              <a:rPr sz="600" b="1">
                <a:solidFill>
                  <a:srgbClr val="FF6412"/>
                </a:solidFill>
              </a:rPr>
              <a:t>РЕЗУЛЬТАТ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3E589A7-D728-4C17-9047-AF002581F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095750"/>
            <a:ext cx="2781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161616"/>
                </a:solidFill>
              </a:defRPr>
            </a:pPr>
            <a:r>
              <a:rPr sz="750" b="1">
                <a:solidFill>
                  <a:srgbClr val="161616"/>
                </a:solidFill>
              </a:rPr>
              <a:t>{{ROADMAP_2_1_RESULT}}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953016A-50F7-42F3-91FA-59DAA47AA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371850"/>
            <a:ext cx="952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71E8BD9-74C6-4B5D-AE88-0E08E535A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400425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02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B796C22-12F8-4341-BEE1-5BC763DFD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343275"/>
            <a:ext cx="2705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161616"/>
                </a:solidFill>
              </a:defRPr>
            </a:pPr>
            <a:r>
              <a:rPr sz="900">
                <a:solidFill>
                  <a:srgbClr val="161616"/>
                </a:solidFill>
              </a:rPr>
              <a:t>{{ROADMAP_2_2}}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9FFB181-883E-4FAE-8DEF-CB80244C9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943350"/>
            <a:ext cx="7239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00" b="1">
                <a:solidFill>
                  <a:srgbClr val="FF6412"/>
                </a:solidFill>
              </a:defRPr>
            </a:pPr>
            <a:r>
              <a:rPr sz="600" b="1">
                <a:solidFill>
                  <a:srgbClr val="FF6412"/>
                </a:solidFill>
              </a:rPr>
              <a:t>РЕЗУЛЬТАТ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9112CCE-8DA8-4202-8D3C-54874DFFD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095750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161616"/>
                </a:solidFill>
              </a:defRPr>
            </a:pPr>
            <a:r>
              <a:rPr sz="750" b="1">
                <a:solidFill>
                  <a:srgbClr val="161616"/>
                </a:solidFill>
              </a:rPr>
              <a:t>{{ROADMAP_2_2_RESULT}}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66FD83F-C4F4-454E-9981-7A929CC7A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BE2D343-4655-48CE-A7EE-EAD273150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7207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B668385-026E-4592-A523-0DE7478C6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686300"/>
            <a:ext cx="98107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6B7BE52-868D-4D01-9FB0-5FB428A8E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838700"/>
            <a:ext cx="1409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F6412"/>
                </a:solidFill>
              </a:defRPr>
            </a:pPr>
            <a:r>
              <a:rPr sz="1125" b="1">
                <a:solidFill>
                  <a:srgbClr val="FF6412"/>
                </a:solidFill>
              </a:rPr>
              <a:t>61–90 дней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C86ED4E-8420-4B11-9D3B-8E6925A1B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12445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61616"/>
                </a:solidFill>
              </a:defRPr>
            </a:pPr>
            <a:r>
              <a:rPr sz="1125" b="1">
                <a:solidFill>
                  <a:srgbClr val="161616"/>
                </a:solidFill>
              </a:rPr>
              <a:t>МАСШТАБИРОВАНИЕ И КОНТРОЛЬ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4AFC694-8ABA-4265-B873-FA057D495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867275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01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5AF1970-0B99-476E-9169-E47477E78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810125"/>
            <a:ext cx="2781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161616"/>
                </a:solidFill>
              </a:defRPr>
            </a:pPr>
            <a:r>
              <a:rPr sz="900">
                <a:solidFill>
                  <a:srgbClr val="161616"/>
                </a:solidFill>
              </a:rPr>
              <a:t>{{ROADMAP_3_1}}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B39848F-8975-4590-B9C3-ED8449289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410200"/>
            <a:ext cx="7239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00" b="1">
                <a:solidFill>
                  <a:srgbClr val="FF6412"/>
                </a:solidFill>
              </a:defRPr>
            </a:pPr>
            <a:r>
              <a:rPr sz="600" b="1">
                <a:solidFill>
                  <a:srgbClr val="FF6412"/>
                </a:solidFill>
              </a:rPr>
              <a:t>РЕЗУЛЬТАТ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7DCA7ED-5E07-4F5C-B36E-8CDBB838A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562600"/>
            <a:ext cx="2781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161616"/>
                </a:solidFill>
              </a:defRPr>
            </a:pPr>
            <a:r>
              <a:rPr sz="750" b="1">
                <a:solidFill>
                  <a:srgbClr val="161616"/>
                </a:solidFill>
              </a:rPr>
              <a:t>{{ROADMAP_3_1_RESULT}}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D62A152-81BA-49B1-9805-8FF2D0778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838700"/>
            <a:ext cx="952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BADF17F-61E4-415A-9E41-3114B4790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867275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02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12DF5EF-30CA-46AA-8F21-5B35B3915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810125"/>
            <a:ext cx="2705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161616"/>
                </a:solidFill>
              </a:defRPr>
            </a:pPr>
            <a:r>
              <a:rPr sz="900">
                <a:solidFill>
                  <a:srgbClr val="161616"/>
                </a:solidFill>
              </a:rPr>
              <a:t>{{ROADMAP_3_2}}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46A27D1-3600-4074-91C4-370A9CC52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410200"/>
            <a:ext cx="7239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00" b="1">
                <a:solidFill>
                  <a:srgbClr val="FF6412"/>
                </a:solidFill>
              </a:defRPr>
            </a:pPr>
            <a:r>
              <a:rPr sz="600" b="1">
                <a:solidFill>
                  <a:srgbClr val="FF6412"/>
                </a:solidFill>
              </a:rPr>
              <a:t>РЕЗУЛЬТАТ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013BE4A-218B-4D7A-B656-DFFA090DB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562600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161616"/>
                </a:solidFill>
              </a:defRPr>
            </a:pPr>
            <a:r>
              <a:rPr sz="750" b="1">
                <a:solidFill>
                  <a:srgbClr val="161616"/>
                </a:solidFill>
              </a:rPr>
              <a:t>{{ROADMAP_3_2_RESULT}}</a:t>
            </a:r>
          </a:p>
        </p:txBody>
      </p:sp>
    </p:spTree>
    <p:extLst>
      <p:ext uri="{BB962C8B-B14F-4D97-AF65-F5344CB8AC3E}">
        <p14:creationId xmlns:p14="http://schemas.microsoft.com/office/powerpoint/2010/main" val="10770669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1611D6D-A14E-44E6-8A45-03BFE437A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adad3a6aac4439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4121AC-5AA9-4A69-B4C2-822FD90CF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Команда для реализации изменений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AF9E02-4A9D-4E94-AF1F-7A0174CAE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7A5484-2693-465D-B003-1B020BEFB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147542-48B3-4F90-BA1B-AEC554A0B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EAB3D3-7B3A-4AB5-B59F-73D21554E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12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6F6AEF-1ACD-4009-BAC0-CC1CCDBBE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5143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61616"/>
                </a:solidFill>
              </a:defRPr>
            </a:pPr>
            <a:r>
              <a:rPr sz="2025" b="1">
                <a:solidFill>
                  <a:srgbClr val="161616"/>
                </a:solidFill>
              </a:rPr>
              <a:t>ТОО «Khalil Trade»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A44109-9E51-4CE2-96AD-0517A4C1A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19300"/>
            <a:ext cx="5143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7085"/>
                </a:solidFill>
              </a:defRPr>
            </a:pPr>
            <a:r>
              <a:rPr sz="1350">
                <a:solidFill>
                  <a:srgbClr val="667085"/>
                </a:solidFill>
              </a:rPr>
              <a:t>Системный интегратор и поставщик ИТ-решений для государственных и корпоративных организаций.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9C4250-38C3-448A-A376-90EF8E1FA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86100"/>
            <a:ext cx="5143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6412"/>
                </a:solidFill>
              </a:defRPr>
            </a:pPr>
            <a:r>
              <a:rPr sz="1650" b="1">
                <a:solidFill>
                  <a:srgbClr val="FF6412"/>
                </a:solidFill>
              </a:rPr>
              <a:t>От оценки и проектирования до внедрения, поддержки и развития.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C37D1D-5471-454F-973D-5E71B41F1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43400"/>
            <a:ext cx="1428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61616"/>
                </a:solidFill>
              </a:defRPr>
            </a:pPr>
            <a:r>
              <a:rPr sz="2325" b="1">
                <a:solidFill>
                  <a:srgbClr val="161616"/>
                </a:solidFill>
              </a:rPr>
              <a:t>2020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3F0C94-88DB-439A-89FF-B88C406D4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57750"/>
            <a:ext cx="1428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год основания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6F6118-D688-4139-8EA3-90D715D12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343400"/>
            <a:ext cx="1428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61616"/>
                </a:solidFill>
              </a:defRPr>
            </a:pPr>
            <a:r>
              <a:rPr sz="2325" b="1">
                <a:solidFill>
                  <a:srgbClr val="161616"/>
                </a:solidFill>
              </a:rPr>
              <a:t>70+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06120E-9729-4A70-A21B-94DB4126B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857750"/>
            <a:ext cx="1428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крупных проектов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4B8DAB-13C7-4514-94F7-22730AD61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343400"/>
            <a:ext cx="1428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61616"/>
                </a:solidFill>
              </a:defRPr>
            </a:pPr>
            <a:r>
              <a:rPr sz="2325" b="1">
                <a:solidFill>
                  <a:srgbClr val="161616"/>
                </a:solidFill>
              </a:rPr>
              <a:t>40+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4AD1FD-E707-4A78-8C18-15BD10E8C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857750"/>
            <a:ext cx="1428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технологических партнеров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D6C1A75-E1D5-4415-9334-4657E22A2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390650"/>
            <a:ext cx="4953000" cy="4438650"/>
          </a:xfrm>
          <a:prstGeom xmlns:a="http://schemas.openxmlformats.org/drawingml/2006/main" prst="roundRect">
            <a:avLst>
              <a:gd name="adj" fmla="val 1717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820695D-3A19-4691-8D16-305B5F611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954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61616"/>
                </a:solidFill>
              </a:defRPr>
            </a:pPr>
            <a:r>
              <a:rPr sz="1725" b="1">
                <a:solidFill>
                  <a:srgbClr val="161616"/>
                </a:solidFill>
              </a:rPr>
              <a:t>Компетенции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DF7CEB2-91A1-44C6-B256-532083BC7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3622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6412"/>
                </a:solidFill>
              </a:defRPr>
            </a:pPr>
            <a:r>
              <a:rPr sz="1050" b="1">
                <a:solidFill>
                  <a:srgbClr val="FF6412"/>
                </a:solidFill>
              </a:rPr>
              <a:t>01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AB5B1D2-B4AD-4B1E-8234-E70954141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33625"/>
            <a:ext cx="3524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61616"/>
                </a:solidFill>
              </a:defRPr>
            </a:pPr>
            <a:r>
              <a:rPr sz="1275" b="1">
                <a:solidFill>
                  <a:srgbClr val="161616"/>
                </a:solidFill>
              </a:rPr>
              <a:t>Аудит и информационная безопасность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5FB2859-5D0C-4C74-8716-B68FF5E5B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1432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6412"/>
                </a:solidFill>
              </a:defRPr>
            </a:pPr>
            <a:r>
              <a:rPr sz="1050" b="1">
                <a:solidFill>
                  <a:srgbClr val="FF6412"/>
                </a:solidFill>
              </a:rPr>
              <a:t>02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D21B7F7-6761-4E95-B445-F1880AD0D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114675"/>
            <a:ext cx="3524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61616"/>
                </a:solidFill>
              </a:defRPr>
            </a:pPr>
            <a:r>
              <a:rPr sz="1275" b="1">
                <a:solidFill>
                  <a:srgbClr val="161616"/>
                </a:solidFill>
              </a:rPr>
              <a:t>Сетевая и серверная инфраструктура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6F521DD-C651-47C2-B335-64850A485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243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6412"/>
                </a:solidFill>
              </a:defRPr>
            </a:pPr>
            <a:r>
              <a:rPr sz="1050" b="1">
                <a:solidFill>
                  <a:srgbClr val="FF6412"/>
                </a:solidFill>
              </a:rPr>
              <a:t>03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A3A30C8-A873-40FB-B541-9A6797B06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895725"/>
            <a:ext cx="3524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61616"/>
                </a:solidFill>
              </a:defRPr>
            </a:pPr>
            <a:r>
              <a:rPr sz="1275" b="1">
                <a:solidFill>
                  <a:srgbClr val="161616"/>
                </a:solidFill>
              </a:rPr>
              <a:t>Автоматизация и цифровые решения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2EB9ECB-9548-4E14-99E1-B105EA1BA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7053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6412"/>
                </a:solidFill>
              </a:defRPr>
            </a:pPr>
            <a:r>
              <a:rPr sz="1050" b="1">
                <a:solidFill>
                  <a:srgbClr val="FF6412"/>
                </a:solidFill>
              </a:rPr>
              <a:t>04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4F79419-C079-46AA-B384-76073D223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676775"/>
            <a:ext cx="3524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61616"/>
                </a:solidFill>
              </a:defRPr>
            </a:pPr>
            <a:r>
              <a:rPr sz="1275" b="1">
                <a:solidFill>
                  <a:srgbClr val="161616"/>
                </a:solidFill>
              </a:rPr>
              <a:t>Внедрение, поддержка и передача знаний</a:t>
            </a:r>
          </a:p>
        </p:txBody>
      </p:sp>
    </p:spTree>
    <p:extLst>
      <p:ext uri="{BB962C8B-B14F-4D97-AF65-F5344CB8AC3E}">
        <p14:creationId xmlns:p14="http://schemas.microsoft.com/office/powerpoint/2010/main" val="691654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CF9D63C-3615-4F16-9374-CE47C7F48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aaac456d2b4bc2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760891-FBF5-4D96-B010-D7D64DF44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Зафиксируйте решения и следующий шаг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B0F25C-090B-4145-8FDB-11016DA44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0C97EF-5F97-402A-8136-A1FD7707B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D76578-476D-4B50-B238-59D7683B7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FE0FF7-757E-457C-AD1D-457F89B7E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13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4EF589-0C3C-44CB-BFAF-FCF413D1D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621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17F39A-15C5-4AC3-BB2F-F9C7F881C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524000"/>
            <a:ext cx="641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{{DECISION_1}}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C1BD4A-5AF7-483C-B0AD-A9D3690BB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00300"/>
            <a:ext cx="6419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E7702B-29ED-4F67-89AE-1D901BDA4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289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3159C3-E7B2-4D59-8622-64959D383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590800"/>
            <a:ext cx="641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{{DECISION_2}}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259375-CB1B-48EA-B9D4-9EF914CD3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467100"/>
            <a:ext cx="6419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3D1475-2DF2-4C1E-AE37-F66C00E06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55BE1C-F0C1-44A4-ACD0-FCB30FC6A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657600"/>
            <a:ext cx="641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{{DECISION_3}}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B4248BB-C7CF-4C2C-A1D1-C48D6BDA3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533900"/>
            <a:ext cx="6419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CB1D28-6BD9-41D7-8218-5C525A0AE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625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5C9F7D-CB92-473E-A379-56F1C2868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724400"/>
            <a:ext cx="641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{{DECISION_4}}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1726E08-8E0A-47B7-97BD-74721E213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390650"/>
            <a:ext cx="3467100" cy="4705350"/>
          </a:xfrm>
          <a:prstGeom xmlns:a="http://schemas.openxmlformats.org/drawingml/2006/main" prst="roundRect">
            <a:avLst>
              <a:gd name="adj" fmla="val 3297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6116227-0D97-4A86-8717-103794B9E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57350"/>
            <a:ext cx="285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61616"/>
                </a:solidFill>
              </a:defRPr>
            </a:pPr>
            <a:r>
              <a:rPr sz="1875" b="1">
                <a:solidFill>
                  <a:srgbClr val="161616"/>
                </a:solidFill>
              </a:rPr>
              <a:t>Хотите получить больше сведений?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8D23364-4D2C-4495-8292-CB02F00F4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305050"/>
            <a:ext cx="2781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>
                <a:solidFill>
                  <a:srgbClr val="667085"/>
                </a:solidFill>
              </a:defRPr>
            </a:pPr>
            <a:r>
              <a:rPr sz="1200">
                <a:solidFill>
                  <a:srgbClr val="667085"/>
                </a:solidFill>
              </a:rPr>
              <a:t>Обсудим приоритеты, варианты решений и практический план внедрения.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7f2ac6be2844ca"/>
          <a:stretch xmlns:a="http://schemas.openxmlformats.org/drawingml/2006/main"/>
        </p:blipFill>
        <p:spPr>
          <a:xfrm xmlns:a="http://schemas.openxmlformats.org/drawingml/2006/main">
            <a:off x="8705850" y="2990850"/>
            <a:ext cx="1866900" cy="1866900"/>
          </a:xfrm>
          <a:prstGeom xmlns:a="http://schemas.openxmlformats.org/drawingml/2006/main" prst="rect">
            <a:avLst/>
          </a:prstGeom>
        </p:spPr>
      </p:pic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02CAA95-B7D8-400E-8E16-1D7BBCBD9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953000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Сканируйте QR, чтобы сохранить контакты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5640603-7CA0-413D-B9E8-2BBC045EC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31495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6412"/>
                </a:solidFill>
              </a:defRPr>
            </a:pPr>
            <a:r>
              <a:rPr sz="1125" b="1">
                <a:solidFill>
                  <a:srgbClr val="FF6412"/>
                </a:solidFill>
              </a:rPr>
              <a:t>info@khalilgroup.kz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B83494C-4735-470E-96F7-FC8B71797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58165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61616"/>
                </a:solidFill>
              </a:defRPr>
            </a:pPr>
            <a:r>
              <a:rPr sz="1125" b="1">
                <a:solidFill>
                  <a:srgbClr val="161616"/>
                </a:solidFill>
              </a:rPr>
              <a:t>+7 706 701 48 35</a:t>
            </a:r>
          </a:p>
        </p:txBody>
      </p:sp>
    </p:spTree>
    <p:extLst>
      <p:ext uri="{BB962C8B-B14F-4D97-AF65-F5344CB8AC3E}">
        <p14:creationId xmlns:p14="http://schemas.microsoft.com/office/powerpoint/2010/main" val="119576256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2026-07-17T21:15:30.3000000Z</dcterms:created>
  <dcterms:modified xsi:type="dcterms:W3CDTF">2026-07-17T21:15:30.3000000Z</dcterms:modified>
</coreProperties>
</file>