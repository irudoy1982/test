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311725a7c7545e4" /><Relationship Type="http://schemas.openxmlformats.org/officeDocument/2006/relationships/extended-properties" Target="/docProps/app.xml" Id="R154a9d09ef4c4908" /><Relationship Type="http://schemas.openxmlformats.org/officeDocument/2006/relationships/officeDocument" Target="/ppt/presentation.xml" Id="R4d90792153b342f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5068c1915e5460d"/>
  </p:sldMasterIdLst>
  <p:notesMasterIdLst>
    <p:notesMasterId xmlns:r="http://schemas.openxmlformats.org/officeDocument/2006/relationships" r:id="R53f6ad45fe5f4e24"/>
  </p:notesMasterIdLst>
  <p:sldIdLst>
    <p:sldId xmlns:r="http://schemas.openxmlformats.org/officeDocument/2006/relationships" id="256" r:id="R61426e7fa3e845bd"/>
    <p:sldId xmlns:r="http://schemas.openxmlformats.org/officeDocument/2006/relationships" id="257" r:id="Rbf55226d8b1e4b8f"/>
    <p:sldId xmlns:r="http://schemas.openxmlformats.org/officeDocument/2006/relationships" id="258" r:id="R075637b44ce34827"/>
    <p:sldId xmlns:r="http://schemas.openxmlformats.org/officeDocument/2006/relationships" id="259" r:id="Rafbe4dca2fa54a13"/>
    <p:sldId xmlns:r="http://schemas.openxmlformats.org/officeDocument/2006/relationships" id="260" r:id="R0f1cd35069de424c"/>
    <p:sldId xmlns:r="http://schemas.openxmlformats.org/officeDocument/2006/relationships" id="261" r:id="Rc9eb6d9fc87045a5"/>
    <p:sldId xmlns:r="http://schemas.openxmlformats.org/officeDocument/2006/relationships" id="262" r:id="R175791b530724b78"/>
    <p:sldId xmlns:r="http://schemas.openxmlformats.org/officeDocument/2006/relationships" id="263" r:id="Rf87f676c8ab54ac5"/>
    <p:sldId xmlns:r="http://schemas.openxmlformats.org/officeDocument/2006/relationships" id="264" r:id="Rdbd8287508d542c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abaf23638cc4bd0" /><Relationship Type="http://schemas.openxmlformats.org/officeDocument/2006/relationships/slideMaster" Target="/ppt/slideMasters/slideMaster1.xml" Id="R75068c1915e5460d" /><Relationship Type="http://schemas.openxmlformats.org/officeDocument/2006/relationships/notesMaster" Target="/ppt/notesMasters/notesMaster1.xml" Id="R53f6ad45fe5f4e24" /><Relationship Type="http://schemas.openxmlformats.org/officeDocument/2006/relationships/presProps" Target="/ppt/presProps.xml" Id="Rfb57daf4e0f04ec8" /><Relationship Type="http://schemas.openxmlformats.org/officeDocument/2006/relationships/tableStyles" Target="/ppt/tableStyles.xml" Id="R7b5e06623f23435b" /><Relationship Type="http://schemas.openxmlformats.org/officeDocument/2006/relationships/slide" Target="/ppt/slides/slide1.xml" Id="R61426e7fa3e845bd" /><Relationship Type="http://schemas.openxmlformats.org/officeDocument/2006/relationships/slide" Target="/ppt/slides/slide2.xml" Id="Rbf55226d8b1e4b8f" /><Relationship Type="http://schemas.openxmlformats.org/officeDocument/2006/relationships/slide" Target="/ppt/slides/slide3.xml" Id="R075637b44ce34827" /><Relationship Type="http://schemas.openxmlformats.org/officeDocument/2006/relationships/slide" Target="/ppt/slides/slide4.xml" Id="Rafbe4dca2fa54a13" /><Relationship Type="http://schemas.openxmlformats.org/officeDocument/2006/relationships/slide" Target="/ppt/slides/slide5.xml" Id="R0f1cd35069de424c" /><Relationship Type="http://schemas.openxmlformats.org/officeDocument/2006/relationships/slide" Target="/ppt/slides/slide6.xml" Id="Rc9eb6d9fc87045a5" /><Relationship Type="http://schemas.openxmlformats.org/officeDocument/2006/relationships/slide" Target="/ppt/slides/slide7.xml" Id="R175791b530724b78" /><Relationship Type="http://schemas.openxmlformats.org/officeDocument/2006/relationships/slide" Target="/ppt/slides/slide8.xml" Id="Rf87f676c8ab54ac5" /><Relationship Type="http://schemas.openxmlformats.org/officeDocument/2006/relationships/slide" Target="/ppt/slides/slide9.xml" Id="Rdbd8287508d542c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11baa534c0e46f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29ef2b458f14c00" /><Relationship Type="http://schemas.openxmlformats.org/officeDocument/2006/relationships/notesMaster" Target="/ppt/notesMasters/notesMaster1.xml" Id="R4bb8bdd7fd84405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97af8e9e5af4c9c" /><Relationship Type="http://schemas.openxmlformats.org/officeDocument/2006/relationships/notesMaster" Target="/ppt/notesMasters/notesMaster1.xml" Id="R66cb19128ca645d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860af89283f46fe" /><Relationship Type="http://schemas.openxmlformats.org/officeDocument/2006/relationships/notesMaster" Target="/ppt/notesMasters/notesMaster1.xml" Id="R36bc58fc2f69452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3c90b7691484804" /><Relationship Type="http://schemas.openxmlformats.org/officeDocument/2006/relationships/notesMaster" Target="/ppt/notesMasters/notesMaster1.xml" Id="R64e2c7dfb36848a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f151486bed24f4c" /><Relationship Type="http://schemas.openxmlformats.org/officeDocument/2006/relationships/notesMaster" Target="/ppt/notesMasters/notesMaster1.xml" Id="R40a2273b045b4e8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26c02aa16ad42c0" /><Relationship Type="http://schemas.openxmlformats.org/officeDocument/2006/relationships/notesMaster" Target="/ppt/notesMasters/notesMaster1.xml" Id="R4ae76079525046d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9ab96607baa4454" /><Relationship Type="http://schemas.openxmlformats.org/officeDocument/2006/relationships/notesMaster" Target="/ppt/notesMasters/notesMaster1.xml" Id="Rd077e121d88c487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dbabe5ed86440e5" /><Relationship Type="http://schemas.openxmlformats.org/officeDocument/2006/relationships/notesMaster" Target="/ppt/notesMasters/notesMaster1.xml" Id="Rfbe917a7f3bc4b1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b66b9b679514b14" /><Relationship Type="http://schemas.openxmlformats.org/officeDocument/2006/relationships/notesMaster" Target="/ppt/notesMasters/notesMaster1.xml" Id="R49e288d326e4448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a9582047e34ef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2cd684ab0d94f0c" /><Relationship Type="http://schemas.openxmlformats.org/officeDocument/2006/relationships/slideLayout" Target="/ppt/slideLayouts/slideLayout1.xml" Id="Rfdc2a9f0196048f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dc2a9f0196048f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b3738ec5ea4213" /><Relationship Type="http://schemas.openxmlformats.org/officeDocument/2006/relationships/image" Target="/ppt/media/image.png" Id="Rccb0839927ad45fa" /><Relationship Type="http://schemas.openxmlformats.org/officeDocument/2006/relationships/image" Target="/ppt/media/image2.png" Id="R20fb43df97f246a2" /><Relationship Type="http://schemas.openxmlformats.org/officeDocument/2006/relationships/notesSlide" Target="/ppt/notesSlides/notesSlide1.xml" Id="R7afd5193359046f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c67f9d9470458b" /><Relationship Type="http://schemas.openxmlformats.org/officeDocument/2006/relationships/image" Target="/ppt/media/image3.png" Id="R5be8e0c9e5864056" /><Relationship Type="http://schemas.openxmlformats.org/officeDocument/2006/relationships/notesSlide" Target="/ppt/notesSlides/notesSlide2.xml" Id="R348d691ff15441c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d8b7e7e8c24885" /><Relationship Type="http://schemas.openxmlformats.org/officeDocument/2006/relationships/image" Target="/ppt/media/image4.png" Id="R9ef4c897b92a41b7" /><Relationship Type="http://schemas.openxmlformats.org/officeDocument/2006/relationships/notesSlide" Target="/ppt/notesSlides/notesSlide3.xml" Id="Rcf75cb91addc4ea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c114f2747d4d7b" /><Relationship Type="http://schemas.openxmlformats.org/officeDocument/2006/relationships/image" Target="/ppt/media/image5.png" Id="R4e6cfd9322cc46bc" /><Relationship Type="http://schemas.openxmlformats.org/officeDocument/2006/relationships/notesSlide" Target="/ppt/notesSlides/notesSlide4.xml" Id="Rf8f8fc172db9463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2a3996dd2534e0f" /><Relationship Type="http://schemas.openxmlformats.org/officeDocument/2006/relationships/image" Target="/ppt/media/image6.png" Id="R567e3ca6fac1476e" /><Relationship Type="http://schemas.openxmlformats.org/officeDocument/2006/relationships/notesSlide" Target="/ppt/notesSlides/notesSlide5.xml" Id="Rc7e91d8ee7a3401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1bc31bed8c47d6" /><Relationship Type="http://schemas.openxmlformats.org/officeDocument/2006/relationships/image" Target="/ppt/media/image7.png" Id="R7f666f20b1b14169" /><Relationship Type="http://schemas.openxmlformats.org/officeDocument/2006/relationships/notesSlide" Target="/ppt/notesSlides/notesSlide6.xml" Id="Rdd4587d973324b8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e8422f04504752" /><Relationship Type="http://schemas.openxmlformats.org/officeDocument/2006/relationships/image" Target="/ppt/media/image8.png" Id="R22f1e195a05e43fe" /><Relationship Type="http://schemas.openxmlformats.org/officeDocument/2006/relationships/notesSlide" Target="/ppt/notesSlides/notesSlide7.xml" Id="R537081f7a94c435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1c14164dae4f7e" /><Relationship Type="http://schemas.openxmlformats.org/officeDocument/2006/relationships/image" Target="/ppt/media/image9.png" Id="R64f5077f08f44310" /><Relationship Type="http://schemas.openxmlformats.org/officeDocument/2006/relationships/notesSlide" Target="/ppt/notesSlides/notesSlide8.xml" Id="R85a71e6f3f9947d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ed46feaeb543e0" /><Relationship Type="http://schemas.openxmlformats.org/officeDocument/2006/relationships/image" Target="/ppt/media/image10.png" Id="R78913d2947234515" /><Relationship Type="http://schemas.openxmlformats.org/officeDocument/2006/relationships/image" Target="/ppt/media/image11.png" Id="Rce28474f17934560" /><Relationship Type="http://schemas.openxmlformats.org/officeDocument/2006/relationships/notesSlide" Target="/ppt/notesSlides/notesSlide9.xml" Id="R2370f80d93974a7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5E56073-67B5-479C-98A6-94484F97E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286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7EC5D6-1A59-4C3A-B09D-224C07374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0"/>
            <a:ext cx="7067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EB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b0839927ad45fa"/>
          <a:stretch xmlns:a="http://schemas.openxmlformats.org/drawingml/2006/main"/>
        </p:blipFill>
        <p:spPr>
          <a:xfrm xmlns:a="http://schemas.openxmlformats.org/drawingml/2006/main">
            <a:off x="729419" y="523875"/>
            <a:ext cx="2294012" cy="8572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F656AC-9EF6-4345-9626-5B99A6BC0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62125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ЭКСПЕРТНЫЙ АУДИТ ИТ И ИБ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9E114C-8A02-4515-BAC1-12DDF4610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6000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61616"/>
                </a:solidFill>
              </a:defRPr>
            </a:pPr>
            <a:r>
              <a:rPr sz="3750" b="1">
                <a:solidFill>
                  <a:srgbClr val="161616"/>
                </a:solidFill>
              </a:rPr>
              <a:t>{{COMPANY}}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DBCAF9-F835-4092-9617-73EEF9498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590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67085"/>
                </a:solidFill>
              </a:defRPr>
            </a:pPr>
            <a:r>
              <a:rPr sz="1650">
                <a:solidFill>
                  <a:srgbClr val="667085"/>
                </a:solidFill>
              </a:rPr>
              <a:t>{{INDUSTRY}}  •  {{CITY}}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E90590F-99EF-4F8F-9F46-FC73CCB9D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14875"/>
            <a:ext cx="1809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F8C0B7-A3C4-494A-ADEF-8D09C868C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876800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Зрелость ИТ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62EB84-D88B-4093-B7E4-E2505C8A7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53025"/>
            <a:ext cx="150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{{IT_SCORE}}%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16B46B-75FD-4E3A-BF1B-E0F68EB48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714875"/>
            <a:ext cx="18097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711ED7-6B66-4E4A-9D38-75794CF35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876800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Зрелость ИБ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3FF95B-5907-43D2-A473-B75E98ACC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5153025"/>
            <a:ext cx="150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</a:defRPr>
            </a:pPr>
            <a:r>
              <a:rPr sz="2550" b="1">
                <a:solidFill>
                  <a:srgbClr val="FFFFFF"/>
                </a:solidFill>
              </a:rPr>
              <a:t>{{SCORE}}%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65EBED-FCAB-462C-9826-AB6C67A31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516255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{{DATE}}</a:t>
            </a:r>
          </a:p>
        </p:txBody>
      </p:sp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fb43df97f246a2"/>
          <a:srcRect xmlns:a="http://schemas.openxmlformats.org/drawingml/2006/main" l="5453" t="0" r="545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96150" y="0"/>
            <a:ext cx="4895850" cy="6858000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D2B97B-600F-4E3D-A68C-8C9A3A755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B527BC-94F0-4137-8D41-F64797381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67085"/>
                </a:solidFill>
              </a:defRPr>
            </a:pPr>
            <a:r>
              <a:rPr sz="1050" b="1">
                <a:solidFill>
                  <a:srgbClr val="667085"/>
                </a:solidFill>
              </a:rPr>
              <a:t>by Ivan Rudoy</a:t>
            </a:r>
          </a:p>
        </p:txBody>
      </p:sp>
    </p:spTree>
    <p:extLst>
      <p:ext uri="{BB962C8B-B14F-4D97-AF65-F5344CB8AC3E}">
        <p14:creationId xmlns:p14="http://schemas.microsoft.com/office/powerpoint/2010/main" val="173120136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E8ED8B-4D55-4E0D-A90B-091E24C49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e8e0c9e5864056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D3DC13-48E1-42A0-B9E4-8E9637B5E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Кто стоит за аудитом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8748C5-4B5B-4636-9AD1-440799C3E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7A4CDF-9578-4705-A743-25418E4D7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F9DCE1-74E6-43EB-B5B0-42F937575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53451F-198B-4BC9-9D72-0B6E1D3E0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350708-3CDE-44B4-B9B6-7FBEB69F1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495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6412"/>
                </a:solidFill>
              </a:defRPr>
            </a:pPr>
            <a:r>
              <a:rPr sz="1875" b="1">
                <a:solidFill>
                  <a:srgbClr val="FF6412"/>
                </a:solidFill>
              </a:rPr>
              <a:t>ТОО «Khalil Trade»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791ED1-3269-4975-B01D-005915A83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52625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Системный интегратор и поставщик ИТ-решений для государственных и корпоративных организаций.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83D7AA-1421-4433-B5ED-6EDD28520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67050"/>
            <a:ext cx="495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61616"/>
                </a:solidFill>
              </a:defRPr>
            </a:pPr>
            <a:r>
              <a:rPr sz="1500" b="1">
                <a:solidFill>
                  <a:srgbClr val="161616"/>
                </a:solidFill>
              </a:rPr>
              <a:t>От аудита и проектирования - до внедрения, поддержки и развития.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AE3351-1FCF-42BF-99B0-FAE2FF8A0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61616"/>
                </a:solidFill>
              </a:defRPr>
            </a:pPr>
            <a:r>
              <a:rPr sz="2325" b="1">
                <a:solidFill>
                  <a:srgbClr val="161616"/>
                </a:solidFill>
              </a:rPr>
              <a:t>2020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E94F35-3121-4CF0-90FA-88164460C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81525"/>
            <a:ext cx="140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год основания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736DD1-9C37-45CC-85BF-F3ED245EF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FF6412"/>
                </a:solidFill>
              </a:defRPr>
            </a:pPr>
            <a:r>
              <a:rPr sz="2700" b="1">
                <a:solidFill>
                  <a:srgbClr val="FF6412"/>
                </a:solidFill>
              </a:rPr>
              <a:t>70+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39F3AC-CC3F-408D-915E-C56E0F0A9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581525"/>
            <a:ext cx="140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крупных проектов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041C32-C09D-48CC-935A-AE558A757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114800"/>
            <a:ext cx="1409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161616"/>
                </a:solidFill>
              </a:defRPr>
            </a:pPr>
            <a:r>
              <a:rPr sz="2325" b="1">
                <a:solidFill>
                  <a:srgbClr val="161616"/>
                </a:solidFill>
              </a:rPr>
              <a:t>40+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995863-116E-4582-874F-F098282A5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581525"/>
            <a:ext cx="1409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технологических партнеров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04027D-23C7-4A13-83BB-059C99C71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14950"/>
            <a:ext cx="49530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012C107-1CD0-4771-8724-8F6E802C5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4830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1616"/>
                </a:solidFill>
              </a:defRPr>
            </a:pPr>
            <a:r>
              <a:rPr sz="1125" b="1">
                <a:solidFill>
                  <a:srgbClr val="161616"/>
                </a:solidFill>
              </a:rPr>
              <a:t>Одна команда отвечает за архитектуру, безопасность и практическую реализацию.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407A83-AE28-4CBC-B35F-4FF315B3A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46685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BB2D63-EA61-46CB-9808-A12CE1C52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428750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Информационная безопасность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54CDC7-D193-4698-8A6E-2906CDA01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71650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Аудит, проектирование защиты, внедрение, поддержка и обучение.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473C83-1778-436A-80BE-2DF5DA9B3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409825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C01B43-84F1-4E8B-8F41-339C0BBE9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60032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810877-6E2B-4D0D-9BDE-C9E6F6768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562225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Системная интеграция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094F7E-D7F9-4262-A460-D26E217A2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05125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Сетевая, серверная и вычислительная инфраструктура под ключ.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7821A77-BA90-4138-A842-342773744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543300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DBF571B-4ECB-4DC8-BF53-EF475806A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3733800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16432A-2722-4B98-88FF-F751F5182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95700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Автоматизация процессов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3952712-C6F8-4546-9D72-47456E167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38600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СЭД, low-code, ESM/BPM и цифровые решения для бизнеса.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3D515DB-1F87-4014-AD9B-62012978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676775"/>
            <a:ext cx="4629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7694CE1-0F8F-4FF6-93BA-7B44801D8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867275"/>
            <a:ext cx="419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F07D124-9FFB-4D77-A6B6-C316BE6A4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29175"/>
            <a:ext cx="4629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61616"/>
                </a:solidFill>
              </a:defRPr>
            </a:pPr>
            <a:r>
              <a:rPr sz="1425" b="1">
                <a:solidFill>
                  <a:srgbClr val="161616"/>
                </a:solidFill>
              </a:rPr>
              <a:t>Сопровождение и развитие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9911D75-B6B3-4091-9EF4-3AF385F0A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72075"/>
            <a:ext cx="46291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Рабочие сессии, внедрение, поддержка и передача знаний команде.</a:t>
            </a:r>
          </a:p>
        </p:txBody>
      </p:sp>
    </p:spTree>
    <p:extLst>
      <p:ext uri="{BB962C8B-B14F-4D97-AF65-F5344CB8AC3E}">
        <p14:creationId xmlns:p14="http://schemas.microsoft.com/office/powerpoint/2010/main" val="18375277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0910FD-5EA6-41E2-957A-A28CE52B8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f4c897b92a41b7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C660C3-5E92-4504-BD33-5333D2CE5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Главный вывод аудита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E2C098-5812-47ED-8ED8-881F6A4EE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3669C3-7F44-4437-A2D0-773EFBFAD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03AEE5-B623-4E2B-A0DE-10D72BF76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351D43-EDE8-4DC3-AD31-3C49F39A8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646449-E113-452C-AB9B-F96BDF4B8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6489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FF6412"/>
                </a:solidFill>
              </a:defRPr>
            </a:pPr>
            <a:r>
              <a:rPr sz="2100" b="1">
                <a:solidFill>
                  <a:srgbClr val="FF6412"/>
                </a:solidFill>
              </a:rPr>
              <a:t>{{SUMMARY_TITLE}}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FB3179-7D44-47BB-A77E-7870394D0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9F0161-0B48-4027-A8FF-6B005A9BD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3431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{{SUMMARY_1}}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E9D4E0-420D-42A7-82FF-69DE1D45F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242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9D328A-4605-41D6-A41C-A819A3E84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D82DA9-EBD5-4B94-8850-3A8587B38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956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{{SUMMARY_2}}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B67A9E-4F9B-4237-BB27-1F0AF6DDE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767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6B6F2B-67C9-4514-ABA8-9431AB4D2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053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FD1D6D-AD39-429E-9CD1-EC76BFF0C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481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{{SUMMARY_3}}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9F68E7-A11A-4CC6-930A-A3047FC0C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29200"/>
            <a:ext cx="10048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2B68E1-707B-4176-A5BC-4977EADC5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45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6E7084-FDC4-473D-B114-559C4F1D2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200650"/>
            <a:ext cx="10048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1616"/>
                </a:solidFill>
              </a:defRPr>
            </a:pPr>
            <a:r>
              <a:rPr sz="1350">
                <a:solidFill>
                  <a:srgbClr val="161616"/>
                </a:solidFill>
              </a:rPr>
              <a:t>{{SUMMARY_4}}</a:t>
            </a:r>
          </a:p>
        </p:txBody>
      </p:sp>
    </p:spTree>
    <p:extLst>
      <p:ext uri="{BB962C8B-B14F-4D97-AF65-F5344CB8AC3E}">
        <p14:creationId xmlns:p14="http://schemas.microsoft.com/office/powerpoint/2010/main" val="19915983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B742AD6-C072-465E-9FF6-ECD1A6916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6cfd9322cc46bc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3F715A-AF56-4820-99BB-663651A15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Масштаб инфраструктуры задает три приоритета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A2E0D5-361B-4F35-A677-18945C16C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87B2DE-21BB-46E5-A1E3-60BC415D5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E13963-906B-444B-A61A-CB9022739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95E4AB-4BA3-4BEC-B6AA-904163B13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78BB5E-44F4-4329-8897-19ED684EA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9525">
            <a:solidFill>
              <a:srgbClr val="FF641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F80A7F-6438-435C-B0BC-482FC31AD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{{USERS}}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3416A5-E8CE-4E33-A70F-52F81849C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FFFFFF"/>
                </a:solidFill>
              </a:defRPr>
            </a:pPr>
            <a:r>
              <a:rPr sz="1125">
                <a:solidFill>
                  <a:srgbClr val="FFFFFF"/>
                </a:solidFill>
              </a:rPr>
              <a:t>рабочих мест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CE400E-ECF6-4A4B-AB68-27A20CC51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A196C9-7120-4ED0-A572-EB7685613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61616"/>
                </a:solidFill>
              </a:defRPr>
            </a:pPr>
            <a:r>
              <a:rPr sz="2400" b="1">
                <a:solidFill>
                  <a:srgbClr val="161616"/>
                </a:solidFill>
              </a:rPr>
              <a:t>{{SERVERS}}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5E9A5E-CEFE-4A28-9CCA-9E30F2EEA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серверов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3C9D46-2718-4AAC-BB05-1DB1EF502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AD5A17-D4D8-4FFB-BB58-F270769C9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61616"/>
                </a:solidFill>
              </a:defRPr>
            </a:pPr>
            <a:r>
              <a:rPr sz="2400" b="1">
                <a:solidFill>
                  <a:srgbClr val="161616"/>
                </a:solidFill>
              </a:rPr>
              <a:t>{{PUBLIC}}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E56D7F-A198-4EC2-A44F-72471D4A5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публичные сервисы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2CE722-13F9-473E-8675-BCDAD2552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476375"/>
            <a:ext cx="2476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4BBBEA-57DB-499D-8633-496128399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57350"/>
            <a:ext cx="2133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61616"/>
                </a:solidFill>
              </a:defRPr>
            </a:pPr>
            <a:r>
              <a:rPr sz="2400" b="1">
                <a:solidFill>
                  <a:srgbClr val="161616"/>
                </a:solidFill>
              </a:rPr>
              <a:t>{{BUSINESS}}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060D47-9BF6-4C59-A104-8B397FA93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81225"/>
            <a:ext cx="2133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бизнес-системы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AE75ED-3606-49E2-B1A5-B84F19CAA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099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F6412"/>
                </a:solidFill>
              </a:defRPr>
            </a:pPr>
            <a:r>
              <a:rPr sz="1275" b="1">
                <a:solidFill>
                  <a:srgbClr val="FF6412"/>
                </a:solidFill>
              </a:rPr>
              <a:t>Профиль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255B7B-5916-4BE5-8260-1E4E3F530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14700"/>
            <a:ext cx="10648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{{PROFILE}}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6F2778-3B2C-4B8C-9FB1-5342DD99F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148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F6412"/>
                </a:solidFill>
              </a:defRPr>
            </a:pPr>
            <a:r>
              <a:rPr sz="1350" b="1">
                <a:solidFill>
                  <a:srgbClr val="FF6412"/>
                </a:solidFill>
              </a:rPr>
              <a:t>Управленческий фокус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A09E1EA-FD2A-40D6-A06B-A0A881730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2A6E59A-3D95-4544-878B-E9B69C987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52950"/>
            <a:ext cx="3105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{{FOCUS_1_TITLE}}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9457471-F97A-447C-AE0A-153C60545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00625"/>
            <a:ext cx="31051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{{FOCUS_1_TEXT}}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D47228-4B67-4515-AD77-E1600888A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CA98B69-4A20-4775-86A9-4CAA363D8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552950"/>
            <a:ext cx="3105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{{FOCUS_2_TITLE}}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5AC80E1-141B-41F7-878C-4A4E8170A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000625"/>
            <a:ext cx="31051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{{FOCUS_2_TEXT}}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6CBF71-677E-42FC-8F6B-762BCC4E5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591050"/>
            <a:ext cx="66675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B8A9AB9-ADEE-4791-AFA4-01D046051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552950"/>
            <a:ext cx="3105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{{FOCUS_3_TITLE}}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3379D7B-4846-439E-B89F-4660279C2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000625"/>
            <a:ext cx="31051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{{FOCUS_3_TEXT}}</a:t>
            </a:r>
          </a:p>
        </p:txBody>
      </p:sp>
    </p:spTree>
    <p:extLst>
      <p:ext uri="{BB962C8B-B14F-4D97-AF65-F5344CB8AC3E}">
        <p14:creationId xmlns:p14="http://schemas.microsoft.com/office/powerpoint/2010/main" val="136575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601B6A3-856B-44EE-9BCC-F84F027CA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7e3ca6fac1476e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746235-3B31-438B-BBBE-8CE6694B5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Четыре риска требуют управленческого внимания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7FB999-A37A-4916-8EB4-2D362BF7F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97C7AA-558D-4C42-954B-62F51224E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E2075C-010D-4E1A-A2B6-5E2A5FB80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42FEB9-3E30-4088-B7C1-30E3F5839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46BE19-009E-433C-9537-E5F304798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90650"/>
            <a:ext cx="10477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B423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DBCD57-B534-4DFE-99AC-E591F4CFB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430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{{RISK_1_LEVEL}}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4068D5-5C45-416B-B361-EBCC010A9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390650"/>
            <a:ext cx="933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{{RISK_1_TITLE}}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BB9246-1ABB-4172-BE47-891D0B02C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16954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085"/>
                </a:solidFill>
              </a:defRPr>
            </a:pPr>
            <a:r>
              <a:rPr sz="1050">
                <a:solidFill>
                  <a:srgbClr val="667085"/>
                </a:solidFill>
              </a:rPr>
              <a:t>{{RISK_1_IMPACT}}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310157-CFB9-4F77-9F1F-9BB9C8006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114550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Рекомендуем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A8C2AA-3043-4E8D-9F95-0FF52C77E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076450"/>
            <a:ext cx="830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{{RISK_1_RECOMMENDATION}}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C113D33-2F0C-44EF-B4FE-2B78803C8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49555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65F382-71B1-44B4-A1BB-9E1430BD9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09850"/>
            <a:ext cx="10477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D9480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0C5A36-AB01-41F9-84A7-09EECD7CB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622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{{RISK_2_LEVEL}}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DCCB68-10BA-4AB8-9512-85BEB2562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609850"/>
            <a:ext cx="933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{{RISK_2_TITLE}}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EAEA33-A487-4938-99BB-F1C290D36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29146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085"/>
                </a:solidFill>
              </a:defRPr>
            </a:pPr>
            <a:r>
              <a:rPr sz="1050">
                <a:solidFill>
                  <a:srgbClr val="667085"/>
                </a:solidFill>
              </a:rPr>
              <a:t>{{RISK_2_IMPACT}}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2FE898-2A27-4251-8C23-4A725D473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333750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Рекомендуем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B23590-04AE-4324-B124-C9ABB5CD9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295650"/>
            <a:ext cx="830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{{RISK_2_RECOMMENDATION}}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08F062-8D84-4A4A-BFC1-123662EA4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71475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600002-F335-4EC6-BC15-EFDE29649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29050"/>
            <a:ext cx="10477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E677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501B0D-7EAF-4C4E-B196-CD0B29E6E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1814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{{RISK_3_LEVEL}}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71BFDF-565C-4F46-9322-E858C2706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829050"/>
            <a:ext cx="933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{{RISK_3_TITLE}}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3E034D-69BE-4B0A-958D-8DF87A165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1338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085"/>
                </a:solidFill>
              </a:defRPr>
            </a:pPr>
            <a:r>
              <a:rPr sz="1050">
                <a:solidFill>
                  <a:srgbClr val="667085"/>
                </a:solidFill>
              </a:rPr>
              <a:t>{{RISK_3_IMPACT}}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A79BF18-70FB-4E8F-AD2D-06956E59D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552950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Рекомендуем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5512927-6CD5-4A56-8590-814372098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4514850"/>
            <a:ext cx="830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{{RISK_3_RECOMMENDATION}}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69EAC24-B633-4C3E-9B2B-8E4012B0E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4933950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E4B1753-5BC7-4CC1-A715-F1F1831E7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48250"/>
            <a:ext cx="1047750" cy="1009650"/>
          </a:xfrm>
          <a:prstGeom xmlns:a="http://schemas.openxmlformats.org/drawingml/2006/main" prst="roundRect">
            <a:avLst>
              <a:gd name="adj" fmla="val 7547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B8514C4-F84C-4DF1-9CCC-676AF1A99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006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{{RISK_4_LEVEL}}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19E7CCE-0B73-465D-A618-F869BC97D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048250"/>
            <a:ext cx="9334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{{RISK_4_TITLE}}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05B96F3-FD7A-491F-B1AE-115B8E3C5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353050"/>
            <a:ext cx="9334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7085"/>
                </a:solidFill>
              </a:defRPr>
            </a:pPr>
            <a:r>
              <a:rPr sz="1050">
                <a:solidFill>
                  <a:srgbClr val="667085"/>
                </a:solidFill>
              </a:rPr>
              <a:t>{{RISK_4_IMPACT}}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CFBE9D6-F29B-49DF-94DB-DD99C9E76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5772150"/>
            <a:ext cx="990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FF6412"/>
                </a:solidFill>
              </a:defRPr>
            </a:pPr>
            <a:r>
              <a:rPr sz="975" b="1">
                <a:solidFill>
                  <a:srgbClr val="FF6412"/>
                </a:solidFill>
              </a:rPr>
              <a:t>Рекомендуем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75613AA-3342-43EE-94BD-D30D07476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734050"/>
            <a:ext cx="830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{{RISK_4_RECOMMENDATION}}</a:t>
            </a:r>
          </a:p>
        </p:txBody>
      </p:sp>
    </p:spTree>
    <p:extLst>
      <p:ext uri="{BB962C8B-B14F-4D97-AF65-F5344CB8AC3E}">
        <p14:creationId xmlns:p14="http://schemas.microsoft.com/office/powerpoint/2010/main" val="103615042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F8432A6-BA6F-4C53-8E9B-75FA2B7AE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666f20b1b14169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ED865D-F168-42E3-ACE6-71CACDCE5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Рекомендации: первоочередные меры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B374C2-4119-47B1-A029-31D66E43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C7D77E-A0B7-41A3-B7D8-AB4E2E9C2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9B1C33-556F-4B83-BED8-46E02CF29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6F26B6-3C6A-4676-8BC3-1CEEB6695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835497-1531-4B3E-8E40-0B1DA2433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79E959-E60E-4999-941E-F3946F6C5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DDDA7B-E4F2-411D-AD53-C8F69DD86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571625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{{REC_1_TITLE}}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C3BA58-7C1D-4826-96F3-517D5D7C4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{{REC_1_ACTION}}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A6CC37-4597-4362-A44F-0E26A1F32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82465B-A72B-42E1-9391-B82F1D43C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B76D31-8DDB-4F83-81E9-3066CB0E4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{{REC_1_SOLUTION}}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B296F4-72D5-4278-96B4-7A67F13D1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819400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67FE88-B21D-4F43-9E01-3134E1B07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{{REC_1_VENDORS}}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45A93B-9CDC-40F4-8BB3-0A2E498AD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428750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13EC2E-0DF2-4CCB-9AC9-4298145EB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0020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014147-D97B-48FC-834D-C67981D8D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571625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{{REC_2_TITLE}}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AD6679-8C83-4F14-A699-9DF3C7C05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47875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{{REC_2_ACTION}}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041FE5-DC93-4515-BFB8-9B3E24A42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86050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42A0EF-3934-4D64-B509-2EF5B0BBA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19400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95A062-ABA5-4FEB-AAAF-078C67A9E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{{REC_2_SOLUTION}}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9988D8-804E-4C7D-8D86-A07C9AEEB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19400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27DD719-292F-46CD-8293-C45E7BDAA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{{REC_2_VENDORS}}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AAB48DC-127F-4564-A76C-4A34CF991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57625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B477D6-E116-4A7C-B35C-CB656C8E0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8FDAD6F-B2F1-45E8-B4C3-13F3F7D77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{{REC_3_TITLE}}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DA1B32E-BED8-43DD-A1B2-29B457194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{{REC_3_ACTION}}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2EA6FC-76CA-45A6-B527-8649CF1BB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14925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0B6261C-8070-4212-916E-D43FDAA97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48275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146F02F-454D-4D83-A393-70635E508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{{REC_3_SOLUTION}}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1E94BC0-2765-44D3-820C-D4F133B48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248275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E7B733B-38F5-46BF-8111-FD0CF4847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{{REC_3_VENDORS}}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8434C4D-293B-4152-BBE4-DCD1FD58C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857625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870068B-CF35-4D94-9748-726D9E90C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29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C729FA-C03D-412F-ABF8-AC0BCA82F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00050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{{REC_4_TITLE}}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F3DBA1B-E438-40A4-A4CC-CED18B91F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{{REC_4_ACTION}}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1A5A174-9155-4E18-B0E4-B37C9FB52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114925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7447FA0-0D04-4C8B-9EF5-192DA1988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48275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1228415-E52F-4615-B9A7-DC2964FAF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{{REC_4_SOLUTION}}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A075D40-9039-4FE4-9AC6-2388D3DA6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248275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F7E5844-E5F6-4097-9050-FB0FE4C6D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{{REC_4_VENDORS}}</a:t>
            </a:r>
          </a:p>
        </p:txBody>
      </p:sp>
    </p:spTree>
    <p:extLst>
      <p:ext uri="{BB962C8B-B14F-4D97-AF65-F5344CB8AC3E}">
        <p14:creationId xmlns:p14="http://schemas.microsoft.com/office/powerpoint/2010/main" val="1995455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AF8DAEC-1BD1-4572-8A5E-B9636088C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f1e195a05e43fe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E31968-ABC6-4A3F-ABE3-FAABCFCE0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Рекомендации: следующий этап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9364CF-90EA-41B3-99D5-39C9D0876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4DBEFB-98B6-43DB-8258-6DA6FC754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724B38-2502-4E79-BD17-3F2594CB0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9CAC24-DF30-47C8-9985-7B9F35044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729CC3-6EC9-4F4E-9D12-75E7B7A8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28750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174E95-2D56-423E-8CAD-7F039C6CD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B4E14E-AC65-4B95-BCF0-86EBF3056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571625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{{REC_5_TITLE}}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2A909D-C2C4-48BF-A46F-5D740E6F3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{{REC_5_ACTION}}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B8E7F5-76F6-43D3-8BAD-310B52027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86050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50038F-95AD-445A-8D0E-85CC68558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55EB94-7A76-47BB-B524-51FCD87EB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{{REC_5_SOLUTION}}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98BA3C-F140-4AF6-9A89-EC9D928E9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819400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6FE7A5-42BD-4111-B7D0-86F158D59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{{REC_5_VENDORS}}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767916-24AB-4C14-A36A-545AE3149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428750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F8F617-067C-47A4-957B-0255C0B8C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00200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02FBEAE-E423-4AC3-8BE3-3B66660AC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571625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{{REC_6_TITLE}}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5373D1-46A2-4103-A9AD-5822FE271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47875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{{REC_6_ACTION}}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335895-2FB3-4D5C-BE8F-0311E899B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86050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C68E67A-6A99-4052-8D3D-D7C8DB77B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19400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B114F2-2A20-4487-82B2-6E3DE7815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{{REC_6_SOLUTION}}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71D8DE-3131-4532-B49E-A907DB368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19400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A79406B-76E8-47A8-B507-494236DD1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009900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{{REC_6_VENDORS}}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4F3EA60-3E19-4B5D-AC01-3122A7152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57625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AFF799-E16D-48AF-BA33-6A47C6E7F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29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07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D473F35-C25C-4364-B354-E64C24E88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{{REC_7_TITLE}}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2B246C6-18C8-4F04-B7F7-0C4346C05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76750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{{REC_7_ACTION}}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DF6F662-2F0C-44E3-B56D-8659FA21C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14925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E79A551-70AF-4450-B0F6-07FD88319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48275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D9FB0A5-1FE7-44E6-82E8-4F12742C9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{{REC_7_SOLUTION}}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CA7D851-E1EC-44FD-98AA-BE6C8AEC7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248275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57F3A35-4509-48CA-969C-A8A29CA26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{{REC_7_VENDORS}}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16A467E-8793-4D46-9DE2-90DB32377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857625"/>
            <a:ext cx="5162550" cy="2143125"/>
          </a:xfrm>
          <a:prstGeom xmlns:a="http://schemas.openxmlformats.org/drawingml/2006/main" prst="roundRect">
            <a:avLst>
              <a:gd name="adj" fmla="val 3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D2FF769-5C08-44B8-82CB-15FF0B850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29075"/>
            <a:ext cx="361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08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D7F4DE2-8E3F-4D42-AA3A-93C374A78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00050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61616"/>
                </a:solidFill>
              </a:defRPr>
            </a:pPr>
            <a:r>
              <a:rPr sz="1350" b="1">
                <a:solidFill>
                  <a:srgbClr val="161616"/>
                </a:solidFill>
              </a:rPr>
              <a:t>{{REC_8_TITLE}}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8D4E373-9FDC-4650-883B-7AB916A7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76750"/>
            <a:ext cx="4743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67085"/>
                </a:solidFill>
              </a:defRPr>
            </a:pPr>
            <a:r>
              <a:rPr sz="1125">
                <a:solidFill>
                  <a:srgbClr val="667085"/>
                </a:solidFill>
              </a:rPr>
              <a:t>{{REC_8_ACTION}}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7FFB5A9-1CBC-429D-BE0E-B6BFA9EDB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114925"/>
            <a:ext cx="47434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3639FB9-7949-4929-952A-237777968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48275"/>
            <a:ext cx="2171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Решение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F06082F-70FF-4465-B057-0F66340C3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{{REC_8_SOLUTION}}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8030A90-0500-48A8-8ADA-94F2CA80D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248275"/>
            <a:ext cx="2266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6412"/>
                </a:solidFill>
              </a:defRPr>
            </a:pPr>
            <a:r>
              <a:rPr sz="900" b="1">
                <a:solidFill>
                  <a:srgbClr val="FF6412"/>
                </a:solidFill>
              </a:rPr>
              <a:t>Производители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C797EE6-F45D-45B9-A83E-20F458917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438775"/>
            <a:ext cx="22669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61616"/>
                </a:solidFill>
              </a:defRPr>
            </a:pPr>
            <a:r>
              <a:rPr sz="1050" b="1">
                <a:solidFill>
                  <a:srgbClr val="161616"/>
                </a:solidFill>
              </a:rPr>
              <a:t>{{REC_8_VENDORS}}</a:t>
            </a:r>
          </a:p>
        </p:txBody>
      </p:sp>
    </p:spTree>
    <p:extLst>
      <p:ext uri="{BB962C8B-B14F-4D97-AF65-F5344CB8AC3E}">
        <p14:creationId xmlns:p14="http://schemas.microsoft.com/office/powerpoint/2010/main" val="196885467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26F3BB0-C6FC-494F-8377-E303D81C4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f5077f08f44310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48728C-CC13-48FA-90AE-A145FDFD0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План на 90 дней переводит выводы в действия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97A0ED-70CC-4BFA-AD03-3F7B8BC9A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6E0F10-3DEA-4B05-985B-510346A6B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43CCA3-7EB1-4BCE-9909-E1B8384B0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86B98F-6086-4FC9-B584-C50B55235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E11871-782B-4EAA-97D2-9E4231E4A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9F8227-85BC-4506-9E16-6557AD78F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24F0CA-1EE6-4819-8605-054AEA2E2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0–30 дней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EA1BCF-97DA-44E3-96D8-5E60E27FC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0E73E5D-2D6A-4D5E-A4A2-6442EF96A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{{ROADMAP_1_1}}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337966-C042-48C7-8169-CC08DDD8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2D97B3-8EE8-41A2-B878-FCCA813EC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1D97B1-345B-4CB3-8F6B-15CDFF45F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{{ROADMAP_1_2}}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01BEAB-9F62-40FE-BF80-4A693DD70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023C02-AB14-4094-8E8A-9C6F39914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1DBCF54-FFB3-4E36-8AAB-2D19C8923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31–60 дней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E5583D-AEC7-4C67-84E8-327D2E89C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C82E972-3925-4A16-9734-897BA17E2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{{ROADMAP_2_1}}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6FC08C-2D41-4429-9E98-D2C61D00F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7367B8-0008-44E7-B7F6-244CB9E5F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B6C679-D534-47F9-97B9-D39511165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{{ROADMAP_2_2}}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0B7F056-AD62-4D5B-8A5B-FAFED0344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04950"/>
            <a:ext cx="3371850" cy="4324350"/>
          </a:xfrm>
          <a:prstGeom xmlns:a="http://schemas.openxmlformats.org/drawingml/2006/main" prst="roundRect">
            <a:avLst>
              <a:gd name="adj" fmla="val 22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3E35A4-62FE-43E8-A777-9330B997B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04950"/>
            <a:ext cx="33718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16161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CD4B641-0459-4AA3-BE15-C0C60C71D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695450"/>
            <a:ext cx="2914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61–90 дней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5BD8461-1C37-4E71-B7B6-41D50FF70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505075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830FCF0-4EDC-4DBE-9EFD-4E24175E5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28875"/>
            <a:ext cx="2381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{{ROADMAP_3_1}}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A86C709-E54B-4A06-B30F-B8EA9FD36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705225"/>
            <a:ext cx="29146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5FB2226-B382-4B65-A211-B7DFC99A0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03860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43CB1B2-7AC5-42F9-AC9E-FC3879AD6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962400"/>
            <a:ext cx="238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{{ROADMAP_3_2}}</a:t>
            </a:r>
          </a:p>
        </p:txBody>
      </p:sp>
    </p:spTree>
    <p:extLst>
      <p:ext uri="{BB962C8B-B14F-4D97-AF65-F5344CB8AC3E}">
        <p14:creationId xmlns:p14="http://schemas.microsoft.com/office/powerpoint/2010/main" val="160212923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78004FB-C60F-41E7-93B1-00541F478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913d2947234515"/>
          <a:stretch xmlns:a="http://schemas.openxmlformats.org/drawingml/2006/main"/>
        </p:blipFill>
        <p:spPr>
          <a:xfrm xmlns:a="http://schemas.openxmlformats.org/drawingml/2006/main">
            <a:off x="9950954" y="247650"/>
            <a:ext cx="1529341" cy="5715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C42346-1508-49D1-90FD-9BD0C11E1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828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61616"/>
                </a:solidFill>
              </a:defRPr>
            </a:pPr>
            <a:r>
              <a:rPr sz="2550" b="1">
                <a:solidFill>
                  <a:srgbClr val="161616"/>
                </a:solidFill>
              </a:rPr>
              <a:t>Зафиксируйте решения и следующий шаг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8F5B10-FC99-4EFC-9D66-42FCFF57C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066800"/>
            <a:ext cx="9906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BD1CAB-364A-4070-BC11-31D4EC55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629400"/>
            <a:ext cx="12192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41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3A6D33-7F6E-4730-A022-8D2D24DB7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657975"/>
            <a:ext cx="5715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Khalil Audit System  |  by Ivan Rudoy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E2F6E7-D2B1-4646-B892-F5EF7D982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657975"/>
            <a:ext cx="428625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FFFFFF"/>
                </a:solidFill>
              </a:defRPr>
            </a:pPr>
            <a:r>
              <a:rPr sz="750" b="1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87D63C-DC85-4FB3-82EA-C9591B58F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5621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DCE38C-E76C-41B1-86F9-3EDC811D5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5240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{{DECISION_1}}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9BED18-6DDE-4FE8-9D30-B53487DF6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003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62D20D-C7D1-4046-AF12-758D5D85B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289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BC8AFE-56D8-41DD-BC7E-D0AEFF006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908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{{DECISION_2}}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B5BFC9-C386-4B78-83EB-B8C34D057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671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6D8969-4431-4C29-87E3-3D77A4510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ADB0A7-89B7-41A7-8026-0B1B214C9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6576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{{DECISION_3}}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C8BB8E-EDC3-4F8D-9177-6A1DAC352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33900"/>
            <a:ext cx="64198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7907F2-4511-4AE8-A17A-8A56E6971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762500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6412"/>
                </a:solidFill>
              </a:defRPr>
            </a:pPr>
            <a:r>
              <a:rPr sz="1200" b="1">
                <a:solidFill>
                  <a:srgbClr val="FF6412"/>
                </a:solidFill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71D3FC-20CB-4447-AD44-A22554762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24400"/>
            <a:ext cx="64198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161616"/>
                </a:solidFill>
              </a:defRPr>
            </a:pPr>
            <a:r>
              <a:rPr sz="1275">
                <a:solidFill>
                  <a:srgbClr val="161616"/>
                </a:solidFill>
              </a:rPr>
              <a:t>{{DECISION_4}}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D6B9B9-7416-4625-93CB-104FB4ADF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390650"/>
            <a:ext cx="3467100" cy="4705350"/>
          </a:xfrm>
          <a:prstGeom xmlns:a="http://schemas.openxmlformats.org/drawingml/2006/main" prst="roundRect">
            <a:avLst>
              <a:gd name="adj" fmla="val 3297"/>
            </a:avLst>
          </a:prstGeom>
          <a:solidFill xmlns:a="http://schemas.openxmlformats.org/drawingml/2006/main">
            <a:srgbClr val="FFF3EB"/>
          </a:solidFill>
          <a:ln xmlns:a="http://schemas.openxmlformats.org/drawingml/2006/main" w="9525">
            <a:solidFill>
              <a:srgbClr val="E4E7E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89F95D-A28B-437E-93F0-D445C590C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57350"/>
            <a:ext cx="285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61616"/>
                </a:solidFill>
              </a:defRPr>
            </a:pPr>
            <a:r>
              <a:rPr sz="1875" b="1">
                <a:solidFill>
                  <a:srgbClr val="161616"/>
                </a:solidFill>
              </a:rPr>
              <a:t>Хотите получить больше сведений?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ED36E7-3969-46D8-B5E8-186C23D91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305050"/>
            <a:ext cx="27813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>
                <a:solidFill>
                  <a:srgbClr val="667085"/>
                </a:solidFill>
              </a:defRPr>
            </a:pPr>
            <a:r>
              <a:rPr sz="1200">
                <a:solidFill>
                  <a:srgbClr val="667085"/>
                </a:solidFill>
              </a:rPr>
              <a:t>Обсудим приоритеты, варианты решений и практический план внедрения.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e28474f17934560"/>
          <a:stretch xmlns:a="http://schemas.openxmlformats.org/drawingml/2006/main"/>
        </p:blipFill>
        <p:spPr>
          <a:xfrm xmlns:a="http://schemas.openxmlformats.org/drawingml/2006/main">
            <a:off x="8705850" y="2990850"/>
            <a:ext cx="1866900" cy="1866900"/>
          </a:xfrm>
          <a:prstGeom xmlns:a="http://schemas.openxmlformats.org/drawingml/2006/main" prst="rect">
            <a:avLst/>
          </a:prstGeom>
        </p:spPr>
      </p:pic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C3E92D-FC8C-4C9D-95DD-BD22BF70D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95300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667085"/>
                </a:solidFill>
              </a:defRPr>
            </a:pPr>
            <a:r>
              <a:rPr sz="975">
                <a:solidFill>
                  <a:srgbClr val="667085"/>
                </a:solidFill>
              </a:rPr>
              <a:t>Сканируйте QR, чтобы сохранить контакты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0A95D8-E828-4787-BE89-17EC546FC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3149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6412"/>
                </a:solidFill>
              </a:defRPr>
            </a:pPr>
            <a:r>
              <a:rPr sz="1125" b="1">
                <a:solidFill>
                  <a:srgbClr val="FF6412"/>
                </a:solidFill>
              </a:rPr>
              <a:t>info@khalilgroup.kz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14AA21-CB74-4E18-BA1A-6462AEE23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581650"/>
            <a:ext cx="300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161616"/>
                </a:solidFill>
              </a:defRPr>
            </a:pPr>
            <a:r>
              <a:rPr sz="1125" b="1">
                <a:solidFill>
                  <a:srgbClr val="161616"/>
                </a:solidFill>
              </a:rPr>
              <a:t>+7 706 701 48 35</a:t>
            </a:r>
          </a:p>
        </p:txBody>
      </p:sp>
    </p:spTree>
    <p:extLst>
      <p:ext uri="{BB962C8B-B14F-4D97-AF65-F5344CB8AC3E}">
        <p14:creationId xmlns:p14="http://schemas.microsoft.com/office/powerpoint/2010/main" val="13412763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2026-07-17T09:58:18.8920000Z</dcterms:created>
  <dcterms:modified xsi:type="dcterms:W3CDTF">2026-07-17T09:58:18.8920000Z</dcterms:modified>
</coreProperties>
</file>