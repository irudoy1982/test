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25e0065ab184de4" /><Relationship Type="http://schemas.openxmlformats.org/officeDocument/2006/relationships/extended-properties" Target="/docProps/app.xml" Id="R6668ed8a3c13446d" /><Relationship Type="http://schemas.openxmlformats.org/officeDocument/2006/relationships/officeDocument" Target="/ppt/presentation.xml" Id="Reaf2c3fc3cef42f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af69b07ab284892"/>
  </p:sldMasterIdLst>
  <p:notesMasterIdLst>
    <p:notesMasterId xmlns:r="http://schemas.openxmlformats.org/officeDocument/2006/relationships" r:id="R5d8b11a077cf4bd3"/>
  </p:notesMasterIdLst>
  <p:sldIdLst>
    <p:sldId xmlns:r="http://schemas.openxmlformats.org/officeDocument/2006/relationships" id="256" r:id="R864b67e53cd3493e"/>
    <p:sldId xmlns:r="http://schemas.openxmlformats.org/officeDocument/2006/relationships" id="257" r:id="R24c29a92693a4db7"/>
    <p:sldId xmlns:r="http://schemas.openxmlformats.org/officeDocument/2006/relationships" id="258" r:id="R51f33f0bdd634b13"/>
    <p:sldId xmlns:r="http://schemas.openxmlformats.org/officeDocument/2006/relationships" id="259" r:id="R9fa745b91b0142bb"/>
    <p:sldId xmlns:r="http://schemas.openxmlformats.org/officeDocument/2006/relationships" id="260" r:id="R9f2e4736d4804a53"/>
    <p:sldId xmlns:r="http://schemas.openxmlformats.org/officeDocument/2006/relationships" id="261" r:id="Rd7e68d93c7f84aab"/>
    <p:sldId xmlns:r="http://schemas.openxmlformats.org/officeDocument/2006/relationships" id="262" r:id="R2246eea4933b4ae6"/>
    <p:sldId xmlns:r="http://schemas.openxmlformats.org/officeDocument/2006/relationships" id="263" r:id="R30f603dfeeed474a"/>
    <p:sldId xmlns:r="http://schemas.openxmlformats.org/officeDocument/2006/relationships" id="264" r:id="Ra83caeed769e4488"/>
    <p:sldId xmlns:r="http://schemas.openxmlformats.org/officeDocument/2006/relationships" id="265" r:id="R18606f114bec4bfc"/>
    <p:sldId xmlns:r="http://schemas.openxmlformats.org/officeDocument/2006/relationships" id="266" r:id="R374cb4873fcf48aa"/>
    <p:sldId xmlns:r="http://schemas.openxmlformats.org/officeDocument/2006/relationships" id="267" r:id="R9c4244b1b7ba40bf"/>
    <p:sldId xmlns:r="http://schemas.openxmlformats.org/officeDocument/2006/relationships" id="268" r:id="R61d95a60abc4451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ac82ab4363243d1" /><Relationship Type="http://schemas.openxmlformats.org/officeDocument/2006/relationships/slideMaster" Target="/ppt/slideMasters/slideMaster1.xml" Id="R0af69b07ab284892" /><Relationship Type="http://schemas.openxmlformats.org/officeDocument/2006/relationships/notesMaster" Target="/ppt/notesMasters/notesMaster1.xml" Id="R5d8b11a077cf4bd3" /><Relationship Type="http://schemas.openxmlformats.org/officeDocument/2006/relationships/presProps" Target="/ppt/presProps.xml" Id="Rc00b9785cbb0486a" /><Relationship Type="http://schemas.openxmlformats.org/officeDocument/2006/relationships/tableStyles" Target="/ppt/tableStyles.xml" Id="Re095ac332e1b4421" /><Relationship Type="http://schemas.openxmlformats.org/officeDocument/2006/relationships/slide" Target="/ppt/slides/slide1.xml" Id="R864b67e53cd3493e" /><Relationship Type="http://schemas.openxmlformats.org/officeDocument/2006/relationships/slide" Target="/ppt/slides/slide2.xml" Id="R24c29a92693a4db7" /><Relationship Type="http://schemas.openxmlformats.org/officeDocument/2006/relationships/slide" Target="/ppt/slides/slide3.xml" Id="R51f33f0bdd634b13" /><Relationship Type="http://schemas.openxmlformats.org/officeDocument/2006/relationships/slide" Target="/ppt/slides/slide4.xml" Id="R9fa745b91b0142bb" /><Relationship Type="http://schemas.openxmlformats.org/officeDocument/2006/relationships/slide" Target="/ppt/slides/slide5.xml" Id="R9f2e4736d4804a53" /><Relationship Type="http://schemas.openxmlformats.org/officeDocument/2006/relationships/slide" Target="/ppt/slides/slide6.xml" Id="Rd7e68d93c7f84aab" /><Relationship Type="http://schemas.openxmlformats.org/officeDocument/2006/relationships/slide" Target="/ppt/slides/slide7.xml" Id="R2246eea4933b4ae6" /><Relationship Type="http://schemas.openxmlformats.org/officeDocument/2006/relationships/slide" Target="/ppt/slides/slide8.xml" Id="R30f603dfeeed474a" /><Relationship Type="http://schemas.openxmlformats.org/officeDocument/2006/relationships/slide" Target="/ppt/slides/slide9.xml" Id="Ra83caeed769e4488" /><Relationship Type="http://schemas.openxmlformats.org/officeDocument/2006/relationships/slide" Target="/ppt/slides/slide10.xml" Id="R18606f114bec4bfc" /><Relationship Type="http://schemas.openxmlformats.org/officeDocument/2006/relationships/slide" Target="/ppt/slides/slide11.xml" Id="R374cb4873fcf48aa" /><Relationship Type="http://schemas.openxmlformats.org/officeDocument/2006/relationships/slide" Target="/ppt/slides/slide12.xml" Id="R9c4244b1b7ba40bf" /><Relationship Type="http://schemas.openxmlformats.org/officeDocument/2006/relationships/slide" Target="/ppt/slides/slide13.xml" Id="R61d95a60abc4451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97d5911c11c4ef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f37f4a6731047c7" /><Relationship Type="http://schemas.openxmlformats.org/officeDocument/2006/relationships/notesMaster" Target="/ppt/notesMasters/notesMaster1.xml" Id="R0ae1ac89af4c49c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2813fc16c5e42f2" /><Relationship Type="http://schemas.openxmlformats.org/officeDocument/2006/relationships/notesMaster" Target="/ppt/notesMasters/notesMaster1.xml" Id="R4b5c090852724d1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62ef3acb8734d34" /><Relationship Type="http://schemas.openxmlformats.org/officeDocument/2006/relationships/notesMaster" Target="/ppt/notesMasters/notesMaster1.xml" Id="Re16d536e60ec4b6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543348c69e1436e" /><Relationship Type="http://schemas.openxmlformats.org/officeDocument/2006/relationships/notesMaster" Target="/ppt/notesMasters/notesMaster1.xml" Id="Re5eb4043009e439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3f07a509f0a4e88" /><Relationship Type="http://schemas.openxmlformats.org/officeDocument/2006/relationships/notesMaster" Target="/ppt/notesMasters/notesMaster1.xml" Id="Rd7c773b582924d5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c33f5b2502b45c4" /><Relationship Type="http://schemas.openxmlformats.org/officeDocument/2006/relationships/notesMaster" Target="/ppt/notesMasters/notesMaster1.xml" Id="Ra4a829d1769f4f8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b5a709f22984620" /><Relationship Type="http://schemas.openxmlformats.org/officeDocument/2006/relationships/notesMaster" Target="/ppt/notesMasters/notesMaster1.xml" Id="R4aae957f87b1471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fab5e5f431f4c15" /><Relationship Type="http://schemas.openxmlformats.org/officeDocument/2006/relationships/notesMaster" Target="/ppt/notesMasters/notesMaster1.xml" Id="R013e622ed3594b8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2058d2b02104a2f" /><Relationship Type="http://schemas.openxmlformats.org/officeDocument/2006/relationships/notesMaster" Target="/ppt/notesMasters/notesMaster1.xml" Id="R7a47e099fa35436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a824d1b6c814b54" /><Relationship Type="http://schemas.openxmlformats.org/officeDocument/2006/relationships/notesMaster" Target="/ppt/notesMasters/notesMaster1.xml" Id="R3638e966ac31463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e5aa152aed249e0" /><Relationship Type="http://schemas.openxmlformats.org/officeDocument/2006/relationships/notesMaster" Target="/ppt/notesMasters/notesMaster1.xml" Id="Rfb6505d0c99f46b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b6744a378d64bdd" /><Relationship Type="http://schemas.openxmlformats.org/officeDocument/2006/relationships/notesMaster" Target="/ppt/notesMasters/notesMaster1.xml" Id="R2fded4e18ef442d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6c11c4be4ce4873" /><Relationship Type="http://schemas.openxmlformats.org/officeDocument/2006/relationships/notesMaster" Target="/ppt/notesMasters/notesMaster1.xml" Id="R6c367be8502749f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fe2f3380ea4dd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5d780156d18450e" /><Relationship Type="http://schemas.openxmlformats.org/officeDocument/2006/relationships/slideLayout" Target="/ppt/slideLayouts/slideLayout1.xml" Id="R9c27e470e8ab477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c27e470e8ab477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4f173cd88d4998" /><Relationship Type="http://schemas.openxmlformats.org/officeDocument/2006/relationships/image" Target="/ppt/media/image.jpeg" Id="Rce01c1e543334859" /><Relationship Type="http://schemas.openxmlformats.org/officeDocument/2006/relationships/image" Target="/ppt/media/image.png" Id="R88472fcca2d147f9" /><Relationship Type="http://schemas.openxmlformats.org/officeDocument/2006/relationships/notesSlide" Target="/ppt/notesSlides/notesSlide1.xml" Id="R713632fc76854ab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5bbeb4256444e2" /><Relationship Type="http://schemas.openxmlformats.org/officeDocument/2006/relationships/image" Target="/ppt/media/image2.png" Id="R0f3784872cf54bfa" /><Relationship Type="http://schemas.openxmlformats.org/officeDocument/2006/relationships/image" Target="/ppt/media/image3.png" Id="Rd78358faebbc4783" /><Relationship Type="http://schemas.openxmlformats.org/officeDocument/2006/relationships/notesSlide" Target="/ppt/notesSlides/notesSlide2.xml" Id="R08614eb96ea246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98252deb7746ce" /><Relationship Type="http://schemas.openxmlformats.org/officeDocument/2006/relationships/image" Target="/ppt/media/image4.png" Id="Rbfb8b02324164ce9" /><Relationship Type="http://schemas.openxmlformats.org/officeDocument/2006/relationships/notesSlide" Target="/ppt/notesSlides/notesSlide3.xml" Id="R7ed7a1de514e470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f24ebe247a422a" /><Relationship Type="http://schemas.openxmlformats.org/officeDocument/2006/relationships/image" Target="/ppt/media/image5.png" Id="R53448915ab624cec" /><Relationship Type="http://schemas.openxmlformats.org/officeDocument/2006/relationships/notesSlide" Target="/ppt/notesSlides/notesSlide4.xml" Id="R4c49d38d39ff40d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dbdde3d4634b8c" /><Relationship Type="http://schemas.openxmlformats.org/officeDocument/2006/relationships/image" Target="/ppt/media/image6.png" Id="R92f39de8e9f54909" /><Relationship Type="http://schemas.openxmlformats.org/officeDocument/2006/relationships/notesSlide" Target="/ppt/notesSlides/notesSlide5.xml" Id="R1cd66fbd26fb4e6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b6949a78e6461b" /><Relationship Type="http://schemas.openxmlformats.org/officeDocument/2006/relationships/image" Target="/ppt/media/image7.png" Id="Rbb62aeab3fbb4631" /><Relationship Type="http://schemas.openxmlformats.org/officeDocument/2006/relationships/notesSlide" Target="/ppt/notesSlides/notesSlide6.xml" Id="R61b50770c8cd4bc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12164016e04c86" /><Relationship Type="http://schemas.openxmlformats.org/officeDocument/2006/relationships/image" Target="/ppt/media/image8.png" Id="R0906560de1f34806" /><Relationship Type="http://schemas.openxmlformats.org/officeDocument/2006/relationships/notesSlide" Target="/ppt/notesSlides/notesSlide7.xml" Id="Re6045242432f417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3a59e321794202" /><Relationship Type="http://schemas.openxmlformats.org/officeDocument/2006/relationships/image" Target="/ppt/media/image9.png" Id="R38a5135ebabd4f64" /><Relationship Type="http://schemas.openxmlformats.org/officeDocument/2006/relationships/notesSlide" Target="/ppt/notesSlides/notesSlide8.xml" Id="R210d935151e94b5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b60e776bb648f0" /><Relationship Type="http://schemas.openxmlformats.org/officeDocument/2006/relationships/image" Target="/ppt/media/image10.png" Id="Re64246207faa41e7" /><Relationship Type="http://schemas.openxmlformats.org/officeDocument/2006/relationships/notesSlide" Target="/ppt/notesSlides/notesSlide9.xml" Id="Rdbfcb70aa81d4c5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02adc1f2844f58" /><Relationship Type="http://schemas.openxmlformats.org/officeDocument/2006/relationships/image" Target="/ppt/media/image11.png" Id="Rf4de30e079024ecc" /><Relationship Type="http://schemas.openxmlformats.org/officeDocument/2006/relationships/notesSlide" Target="/ppt/notesSlides/notesSlide10.xml" Id="R71c9d1ec9cfa400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b863e2344e4809" /><Relationship Type="http://schemas.openxmlformats.org/officeDocument/2006/relationships/image" Target="/ppt/media/image12.png" Id="Ra5e1e44a3fea483c" /><Relationship Type="http://schemas.openxmlformats.org/officeDocument/2006/relationships/notesSlide" Target="/ppt/notesSlides/notesSlide11.xml" Id="R98a21a6bb1754e8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42680886a74be7" /><Relationship Type="http://schemas.openxmlformats.org/officeDocument/2006/relationships/image" Target="/ppt/media/image13.png" Id="Rc1c6be9a33cc4926" /><Relationship Type="http://schemas.openxmlformats.org/officeDocument/2006/relationships/notesSlide" Target="/ppt/notesSlides/notesSlide12.xml" Id="R753545a9133d479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805b34a5d64394" /><Relationship Type="http://schemas.openxmlformats.org/officeDocument/2006/relationships/image" Target="/ppt/media/image14.png" Id="R2fed1c53c8124456" /><Relationship Type="http://schemas.openxmlformats.org/officeDocument/2006/relationships/image" Target="/ppt/media/image15.png" Id="Rba22ffe696e1496d" /><Relationship Type="http://schemas.openxmlformats.org/officeDocument/2006/relationships/notesSlide" Target="/ppt/notesSlides/notesSlide13.xml" Id="R4208884025ef40e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C4F07F-17C1-4A53-984D-B3815E53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0EAC63-385F-4080-BAFF-1CC0C8507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0"/>
            <a:ext cx="7010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B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01c1e543334859"/>
          <a:srcRect xmlns:a="http://schemas.openxmlformats.org/drawingml/2006/main" l="0" t="11037" r="0" b="110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11F944-6156-43DE-B41D-69C41166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472fcca2d147f9"/>
          <a:stretch xmlns:a="http://schemas.openxmlformats.org/drawingml/2006/main"/>
        </p:blipFill>
        <p:spPr>
          <a:xfrm xmlns:a="http://schemas.openxmlformats.org/drawingml/2006/main">
            <a:off x="754908" y="514350"/>
            <a:ext cx="2243034" cy="8382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2D82B2-8DFC-4B5E-8E9D-A4DC1E2D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ЭКСПЕРТНЫЙ АУДИТ ИТ И ИБ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BEE5A3-0C12-412D-BBAD-2701DD353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590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61616"/>
                </a:solidFill>
              </a:defRPr>
            </a:pPr>
            <a:r>
              <a:rPr sz="3600" b="1">
                <a:solidFill>
                  <a:srgbClr val="161616"/>
                </a:solidFill>
              </a:rPr>
              <a:t>{{COMPANY}}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587601-D4D6-471E-AB05-208625660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7085"/>
                </a:solidFill>
              </a:defRPr>
            </a:pPr>
            <a:r>
              <a:rPr sz="1500">
                <a:solidFill>
                  <a:srgbClr val="667085"/>
                </a:solidFill>
              </a:rPr>
              <a:t>{{INDUSTRY}}  •  {{CITY}}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C35822-2E31-42A1-8B68-39583979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8859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C10001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702D17-C65B-4AEF-A94B-827933298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20001"/>
                </a:solidFill>
              </a:defRPr>
            </a:pPr>
            <a:r>
              <a:rPr sz="1050" b="1">
                <a:solidFill>
                  <a:srgbClr val="C20001"/>
                </a:solidFill>
              </a:rPr>
              <a:t>Зрелость ИТ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F67304-7F61-481D-A75F-41BA5CCE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158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C20001"/>
                </a:solidFill>
              </a:defRPr>
            </a:pPr>
            <a:r>
              <a:rPr sz="2400" b="1">
                <a:solidFill>
                  <a:srgbClr val="C20001"/>
                </a:solidFill>
              </a:rPr>
              <a:t>{{IT_SCORE}}%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2E329B-F074-401D-B5AB-33225D7C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62500"/>
            <a:ext cx="18859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C10002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D021D4-D507-40CC-BB19-2D65CEEE0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933950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20002"/>
                </a:solidFill>
              </a:defRPr>
            </a:pPr>
            <a:r>
              <a:rPr sz="1050" b="1">
                <a:solidFill>
                  <a:srgbClr val="C20002"/>
                </a:solidFill>
              </a:rPr>
              <a:t>Зрелость ИБ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FC91A8-C4ED-4D25-8E84-4BA232B1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219700"/>
            <a:ext cx="158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C20002"/>
                </a:solidFill>
              </a:defRPr>
            </a:pPr>
            <a:r>
              <a:rPr sz="2400" b="1">
                <a:solidFill>
                  <a:srgbClr val="C20002"/>
                </a:solidFill>
              </a:rPr>
              <a:t>{{SCORE}}%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F1FC26-ADFF-4CBC-B957-0FB00FFAE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5780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67085"/>
                </a:solidFill>
              </a:defRPr>
            </a:pPr>
            <a:r>
              <a:rPr sz="1200" b="1">
                <a:solidFill>
                  <a:srgbClr val="667085"/>
                </a:solidFill>
              </a:rPr>
              <a:t>{{DATE}}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3D98D0-2804-45C2-A34F-1D79A0614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by Ivan Rudoy</a:t>
            </a:r>
          </a:p>
        </p:txBody>
      </p:sp>
    </p:spTree>
    <p:extLst>
      <p:ext uri="{BB962C8B-B14F-4D97-AF65-F5344CB8AC3E}">
        <p14:creationId xmlns:p14="http://schemas.microsoft.com/office/powerpoint/2010/main" val="7963996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D442D6-EE93-4C7E-9FBF-96F487771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3784872cf54bfa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2BEBC7-1B9F-418F-82D8-7AAB827DA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Кто стоит за аудитом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124B26-7FAD-4384-8EB5-4AEEA497F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C4FE44-28D5-45C6-96EB-4188481CF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8BE45D-E747-4D4D-9808-67173E83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C64567-FF93-49E6-B22F-AD2148DF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69B9E5-F88D-47B5-8007-A628F6677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6412"/>
                </a:solidFill>
              </a:defRPr>
            </a:pPr>
            <a:r>
              <a:rPr sz="1875" b="1">
                <a:solidFill>
                  <a:srgbClr val="FF6412"/>
                </a:solidFill>
              </a:rPr>
              <a:t>ТОО «Khalil Trade»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995E1A-6F30-439C-93FC-A701CC81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Системный интегратор и поставщик ИТ-решений для государственных и корпоративных организаций.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8FF976-0AF4-4192-B2DB-A93E76EB0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От аудита и проектирования - до внедрения, поддержки и развития.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72442E-C88C-40DE-AD12-B2DAAD7D8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2020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73C9F1-393F-4D6E-9485-E8CD2F3DB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год основания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6E2336-7962-48BB-81DD-7AD0D8229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61616"/>
                </a:solidFill>
              </a:defRPr>
            </a:pPr>
            <a:r>
              <a:rPr sz="2700" b="1">
                <a:solidFill>
                  <a:srgbClr val="161616"/>
                </a:solidFill>
              </a:rPr>
              <a:t>70+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756BF3-8D7A-45B8-B38D-0C70A224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крупных проектов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B104DA-3EF4-4744-9600-9AC38D5A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40+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89D7DC-8120-497A-9902-1D37530DE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технологических партнеров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76983-3C79-49FD-BE57-306DB1688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14950"/>
            <a:ext cx="495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CFEAEA-9590-4007-8652-E8644186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Одна команда отвечает за архитектуру, безопасность и практическую реализацию.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14EF44-3BDC-4CE7-9809-F2A1C2C33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668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532D41-D84D-42EA-98B5-8356B0467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2875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Информационная безопасность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49FBF1-DEA6-4C35-B66E-297FFF39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7165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Аудит, проектирование защиты, внедрение, поддержка и обучение.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FB4296-B999-4FC6-AC08-508C3EE9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982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7FFD95-D622-4C9C-ACF3-32761B0B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60032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B662F5-F5D4-4DC5-BA9C-B816F215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6222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Системная интеграция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797BA2-F66A-4797-A658-85EF5C6A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0512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Сетевая, серверная и вычислительная инфраструктура под ключ.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AB104B-223F-4E17-AA98-73B6EC00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43300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818774-CEA5-4361-A60F-48970001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338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2F5127-3587-4EF6-9A8E-7E157FC5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9570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Автоматизация процессов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D61EDD-7F10-466A-A83B-363BAFB6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СЭД, low-code, ESM/BPM и цифровые решения для бизнеса.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4ADB09-46EF-48C5-9069-466514776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7677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ECE1B10-40C8-4BC9-B48D-07F7437D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672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2EF525-6837-49A2-A698-54087A90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2917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Сопровождение и развитие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0E25B4E-97BD-4214-847D-01B403046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7207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Рабочие сессии, внедрение, поддержка и передача знаний команде.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2EAFC32-C495-464D-8018-D0F79638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F35FB1-9DA4-460F-BB72-4EF622416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8358faebbc4783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2B6FC3A-1025-4B05-AC67-84E87CD2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Аудит в одном экране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378D2A1-6831-4A17-9037-0259B0E3C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1CF04E5-85C0-4A7E-9762-EC1D918A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6E372FC-C6B2-4523-A658-A71723BF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5DAFCC9-47D5-4A77-A98A-752701DA3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69CD5CC-CC90-46ED-9585-8C5F9112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685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61616"/>
                </a:solidFill>
              </a:defRPr>
            </a:pPr>
            <a:r>
              <a:rPr sz="2175" b="1">
                <a:solidFill>
                  <a:srgbClr val="161616"/>
                </a:solidFill>
              </a:rPr>
              <a:t>{{SUMMARY_TITLE}}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350B5B6-73C8-49AB-9B5A-998B9154F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09700"/>
            <a:ext cx="15049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C1000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0ADB008-4E3B-41CA-AAC2-71327DC4D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19250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C20001"/>
                </a:solidFill>
              </a:defRPr>
            </a:pPr>
            <a:r>
              <a:rPr sz="900" b="1">
                <a:solidFill>
                  <a:srgbClr val="C20001"/>
                </a:solidFill>
              </a:rPr>
              <a:t>ЗРЕЛОСТЬ ИТ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DF81C83-8EC1-4226-9F8C-6F4600206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914525"/>
            <a:ext cx="116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20001"/>
                </a:solidFill>
              </a:defRPr>
            </a:pPr>
            <a:r>
              <a:rPr sz="2550" b="1">
                <a:solidFill>
                  <a:srgbClr val="C20001"/>
                </a:solidFill>
              </a:rPr>
              <a:t>{{IT_SCORE}}%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7CD290B-E20D-4FFF-B95D-D180956A3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409700"/>
            <a:ext cx="15049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C1000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B301372-F3A7-4ACB-9BF1-8B9FB883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619250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C20002"/>
                </a:solidFill>
              </a:defRPr>
            </a:pPr>
            <a:r>
              <a:rPr sz="900" b="1">
                <a:solidFill>
                  <a:srgbClr val="C20002"/>
                </a:solidFill>
              </a:rPr>
              <a:t>ЗРЕЛОСТЬ ИБ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8EE8B5D-1E4F-469E-BF0D-80CB9D853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914525"/>
            <a:ext cx="116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20002"/>
                </a:solidFill>
              </a:defRPr>
            </a:pPr>
            <a:r>
              <a:rPr sz="2550" b="1">
                <a:solidFill>
                  <a:srgbClr val="C20002"/>
                </a:solidFill>
              </a:rPr>
              <a:t>{{SCORE}}%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284680D-E48E-4678-807E-70C1BBA63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146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6412"/>
                </a:solidFill>
              </a:defRPr>
            </a:pPr>
            <a:r>
              <a:rPr sz="1425" b="1">
                <a:solidFill>
                  <a:srgbClr val="FF6412"/>
                </a:solidFill>
              </a:rPr>
              <a:t>Ключевые наблюдения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D3001B9-723E-4F22-9E08-710479A9E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3278A97-0D5A-45D0-A107-99B7C3C2F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90900"/>
            <a:ext cx="10048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{{SUMMARY_1}}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7A04A2D-4AA6-40F4-9952-3FFD036B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9575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89730B8-F8E5-432A-9702-667C278F5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7B4BD2C-55DB-4008-A497-B9F40BEF9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67200"/>
            <a:ext cx="10048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{{SUMMARY_2}}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3C7524D-163A-4E93-942F-E558F128C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7205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59BA586-FD9B-4487-AEAD-186D11B3D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6C28309-0F3B-44A1-8846-B18A7DEAD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0"/>
            <a:ext cx="10048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{{SUMMARY_3}}</a:t>
            </a:r>
          </a:p>
        </p:txBody>
      </p:sp>
    </p:spTree>
    <p:extLst>
      <p:ext uri="{BB962C8B-B14F-4D97-AF65-F5344CB8AC3E}">
        <p14:creationId xmlns:p14="http://schemas.microsoft.com/office/powerpoint/2010/main" val="2144708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224227-DE2C-4785-832D-438D64A1B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b8b02324164ce9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7A1432-1007-4FA8-8E6F-2AE11995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Что должно измениться за первые 90 дней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2FF6A1-472C-46DB-B864-E39D0D363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8E3F2E-BACC-4556-B325-3426DC66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E5C563-9E98-4E8C-8015-492E2FB95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5CDF3F-9450-4C24-AD2B-02338AB7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533EF5-D04E-453F-B7C6-E9DEE23A5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0648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6412"/>
                </a:solidFill>
              </a:defRPr>
            </a:pPr>
            <a:r>
              <a:rPr sz="1500" b="1">
                <a:solidFill>
                  <a:srgbClr val="FF6412"/>
                </a:solidFill>
              </a:rPr>
              <a:t>Четыре приоритета связывают факты анкеты с измеримым результатом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EF129E-1D10-4422-91FB-AAAEA9308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67085"/>
                </a:solidFill>
              </a:defRPr>
            </a:pPr>
            <a:r>
              <a:rPr sz="825" b="1">
                <a:solidFill>
                  <a:srgbClr val="667085"/>
                </a:solidFill>
              </a:rPr>
              <a:t>ПРИОРИТЕТ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821E53-8912-4D27-8C42-D506FF178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80975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67085"/>
                </a:solidFill>
              </a:defRPr>
            </a:pPr>
            <a:r>
              <a:rPr sz="825" b="1">
                <a:solidFill>
                  <a:srgbClr val="667085"/>
                </a:solidFill>
              </a:rPr>
              <a:t>СЕЙЧАС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5DA742-6BCD-47D5-9ACE-F9D55E8D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09750"/>
            <a:ext cx="3962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667085"/>
                </a:solidFill>
              </a:defRPr>
            </a:pPr>
            <a:r>
              <a:rPr sz="825" b="1">
                <a:solidFill>
                  <a:srgbClr val="667085"/>
                </a:solidFill>
              </a:rPr>
              <a:t>ЦЕЛЬ 90 ДНЕЙ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B0356C-DD5D-445C-BFA3-B8F183501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907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23BB12-5952-4B1B-9C49-349B1692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52650"/>
            <a:ext cx="2076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{{OUTCOME_1_TITLE}}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B47251-7CBD-430F-8DE7-3A7E02A0E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526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{{OUTCOME_1_FROM}}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F7CDC6-7851-44A7-9689-64BF3D728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669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6412"/>
                </a:solidFill>
              </a:defRPr>
            </a:pPr>
            <a:r>
              <a:rPr sz="1950" b="1">
                <a:solidFill>
                  <a:srgbClr val="FF6412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8325A0-6669-4B04-92A7-E04E6E9FF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52650"/>
            <a:ext cx="3962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{{OUTCOME_1_TO}}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CC5106-11D8-4105-8683-DF98ED121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90850"/>
            <a:ext cx="10648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D0A1C5-83DD-4D70-B708-35BC4A97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194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E81436-11BC-4D66-9D5D-B75D09633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81350"/>
            <a:ext cx="2076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{{OUTCOME_2_TITLE}}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BBFF18-F0F0-4FEE-A2AA-282785854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813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{{OUTCOME_2_FROM}}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51CD59-C176-4939-AD4E-A782A74EC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956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6412"/>
                </a:solidFill>
              </a:defRPr>
            </a:pPr>
            <a:r>
              <a:rPr sz="1950" b="1">
                <a:solidFill>
                  <a:srgbClr val="FF6412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8075CE-5D48-44DC-92AE-72001820F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81350"/>
            <a:ext cx="3962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{{OUTCOME_2_TO}}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97B298-515F-44B5-AF06-F2DCF0C1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10648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479DB2-4DB4-4D77-A910-50520C267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481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4BA4FB-D174-4895-BA84-8132D65A2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10050"/>
            <a:ext cx="2076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{{OUTCOME_3_TITLE}}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E2B636-2238-408D-BD28-0C7678E12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{{OUTCOME_3_FROM}}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575D56-D6F0-44ED-A731-67E7A751D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243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6412"/>
                </a:solidFill>
              </a:defRPr>
            </a:pPr>
            <a:r>
              <a:rPr sz="1950" b="1">
                <a:solidFill>
                  <a:srgbClr val="FF6412"/>
                </a:solidFill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1065AF-D8A1-4244-80D8-8CB1EFDB3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10050"/>
            <a:ext cx="3962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{{OUTCOME_3_TO}}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C4C56D-786C-4AFB-AB71-307E8C7F2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0"/>
            <a:ext cx="10648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2FCB11-276C-427D-929F-5560E6D4B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768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DA5FF5-15CC-4E8A-89A4-626B6985C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38750"/>
            <a:ext cx="2076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{{OUTCOME_4_TITLE}}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F29442-FBDC-4848-91D8-8AA74A450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2387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{{OUTCOME_4_FROM}}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BC0BE7-5EA6-459A-A1E7-3A60A7FE9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3530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6412"/>
                </a:solidFill>
              </a:defRPr>
            </a:pPr>
            <a:r>
              <a:rPr sz="1950" b="1">
                <a:solidFill>
                  <a:srgbClr val="FF6412"/>
                </a:solidFill>
              </a:rPr>
              <a:t>→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3FDF836-F6FD-42A0-94E9-721BB8B5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238750"/>
            <a:ext cx="3962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{{OUTCOME_4_TO}}</a:t>
            </a:r>
          </a:p>
        </p:txBody>
      </p:sp>
    </p:spTree>
    <p:extLst>
      <p:ext uri="{BB962C8B-B14F-4D97-AF65-F5344CB8AC3E}">
        <p14:creationId xmlns:p14="http://schemas.microsoft.com/office/powerpoint/2010/main" val="19101441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E3B3F96-3E7F-4C2C-913B-17B3FAC6A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448915ab624cec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F8D13E-3B9C-478D-9D5C-B051D6984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Контекст среды и уже работающие контроли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30EDB7-B48D-42F1-90C5-440FB3A1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3B3EC6-BCFB-457F-88DC-464940D63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F31EBF-5C95-4493-B776-1A6829280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E85FBC-8425-4370-9C47-561358964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EF5F6B-8FFB-401C-8A2E-11EA8762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9525">
            <a:solidFill>
              <a:srgbClr val="FF641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1DFAE6-7CDE-4085-8282-28E7CDB6A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{{USERS}}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7FA07D-B852-435A-A264-22B7BBD82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рабочих мест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8C9CAC-2771-4776-BE89-F24B51D3F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BF0B06-ACFC-4630-B1CE-1CEDA530D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{{SERVERS}}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8942FA-A3A4-4C40-9A64-23BFECC8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серверов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B74547-E281-4573-8325-69E7D85B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ED12AA-53D1-4D60-B4EC-644236969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{{PUBLIC}}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ECADD2-B70A-4FC6-A029-66D0D800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публичные сервисы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EAF537-60B0-4FCF-87F7-5176BC728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2062E3-40D2-4274-B2D1-6CE8DE9A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{{BUSINESS}}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1C67DF-8CFB-4CA9-918F-561BC929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бизнес-системы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18DFF-D77A-42CC-9E1E-8A4C6E7DF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Профиль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C8831A-C492-44B6-AE74-CCFF84B94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064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{{PROFILE}}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BAB738-5208-4714-A566-B575BFCD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412"/>
                </a:solidFill>
              </a:defRPr>
            </a:pPr>
            <a:r>
              <a:rPr sz="1350" b="1">
                <a:solidFill>
                  <a:srgbClr val="FF6412"/>
                </a:solidFill>
              </a:rPr>
              <a:t>Подтвержденные сильные стороны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0B13E6-2F0D-4CA1-ABC4-CEA98E55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F13390-BD2E-4641-BC83-8B7DCD6B5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3105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{{STRENGTH_1}}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6E9AF1-5069-42A4-A10B-DA7A6353A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5FD827-AF41-4B5B-B00C-248EE96D9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667250"/>
            <a:ext cx="3105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{{STRENGTH_2}}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A0C8B7-16F7-4C8B-80FC-905E9AD7C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8DFEB1-656B-4C81-B8BF-360B3B90D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67250"/>
            <a:ext cx="3105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{{STRENGTH_3}}</a:t>
            </a:r>
          </a:p>
        </p:txBody>
      </p:sp>
    </p:spTree>
    <p:extLst>
      <p:ext uri="{BB962C8B-B14F-4D97-AF65-F5344CB8AC3E}">
        <p14:creationId xmlns:p14="http://schemas.microsoft.com/office/powerpoint/2010/main" val="19895088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C80DA7-F741-41DB-A811-F92457E8B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39de8e9f54909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C5EDA6-B11A-4603-834E-93A177473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Карта подтвержденных рисков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B07F88-EF4E-4E2B-BE43-DE2AF4CF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A5D9CA-8557-4EB5-B1B1-5553694E4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A2CE24-F5C6-4EFE-A052-6FE348BAB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0E804F-1575-4FCB-B193-161155FC0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834D24-8F7B-4501-8A37-F4ADF9C00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24989C-5816-4DCA-91F4-89C22533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17DD7A-D918-4A4A-9C68-743A6FDF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050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1"/>
                </a:solidFill>
              </a:defRPr>
            </a:pPr>
            <a:r>
              <a:rPr sz="900" b="1">
                <a:solidFill>
                  <a:srgbClr val="A20001"/>
                </a:solidFill>
              </a:rPr>
              <a:t>{{RISK_1_LEVEL}}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68350B-70D7-4E73-B146-7055A835F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430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{{RISK_1_TITLE}}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3E7506-3A9C-4A23-899A-4B6160A6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0193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{{RISK_1_IMPACT}}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23BFD7-9249-41A3-9244-8DE8CCBD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3906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D6FB27-09EE-4B2E-A6AF-5F6639E79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3906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64E088-2F52-4F40-AA78-B3680BEE3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050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2"/>
                </a:solidFill>
              </a:defRPr>
            </a:pPr>
            <a:r>
              <a:rPr sz="900" b="1">
                <a:solidFill>
                  <a:srgbClr val="A20002"/>
                </a:solidFill>
              </a:rPr>
              <a:t>{{RISK_2_LEVEL}}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FA0AF5-CC63-46BC-885D-649526BFE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5430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{{RISK_2_TITLE}}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9CCCEA-9D98-43DD-8EA5-AA538B3D9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0193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{{RISK_2_IMPACT}}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89EFE0-3BEB-4C33-88C9-2A2C90802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E1711D-D319-4E8C-9DD9-B3A1D95E7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221ED9-211D-4E57-A780-25D45FBFF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671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3"/>
                </a:solidFill>
              </a:defRPr>
            </a:pPr>
            <a:r>
              <a:rPr sz="900" b="1">
                <a:solidFill>
                  <a:srgbClr val="A20003"/>
                </a:solidFill>
              </a:rPr>
              <a:t>{{RISK_3_LEVEL}}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42D542-2139-46D3-853D-B8094624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1051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{{RISK_3_TITLE}}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635FD7-2B90-404B-8DB0-28DA6944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814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{{RISK_3_IMPACT}}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3F88DD-CB33-4900-BD07-95C0ACF33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9527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F74A70-D96C-4493-9AF5-B82CE0720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9527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E54FE3-5733-48E6-9D27-C0C9BA54D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4671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4"/>
                </a:solidFill>
              </a:defRPr>
            </a:pPr>
            <a:r>
              <a:rPr sz="900" b="1">
                <a:solidFill>
                  <a:srgbClr val="A20004"/>
                </a:solidFill>
              </a:rPr>
              <a:t>{{RISK_4_LEVEL}}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C4E5E9-BAF0-43D1-BE19-80794943F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{{RISK_4_TITLE}}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097B3B-2C86-4B26-9B5E-D3E9171CF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5814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{{RISK_4_IMPACT}}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0D885F-AE43-48C2-9D73-EBBDEF70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48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BB842B-79EA-43DB-97DA-B6750C89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48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4443252-CB6D-4B65-ABB4-CEF47D8F6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292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5"/>
                </a:solidFill>
              </a:defRPr>
            </a:pPr>
            <a:r>
              <a:rPr sz="900" b="1">
                <a:solidFill>
                  <a:srgbClr val="A20005"/>
                </a:solidFill>
              </a:rPr>
              <a:t>{{RISK_5_LEVEL}}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DCA9D6-2F67-4C40-B804-51D4F74B4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6672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{{RISK_5_TITLE}}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AA547A-644A-414D-ACCF-CCA84AD0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1435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{{RISK_5_IMPACT}}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5EB1A8-97AC-41AA-879B-34AD61FC9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5148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4523A3A-BAC1-4186-8A88-B99D99CF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5148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75409C4-F7B7-45EA-A06F-DFBD185D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0292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6"/>
                </a:solidFill>
              </a:defRPr>
            </a:pPr>
            <a:r>
              <a:rPr sz="900" b="1">
                <a:solidFill>
                  <a:srgbClr val="A20006"/>
                </a:solidFill>
              </a:rPr>
              <a:t>{{RISK_6_LEVEL}}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A4C39D3-4CA8-4866-9411-CD3DD5998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6672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{{RISK_6_TITLE}}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62903AC-ECAD-435A-A721-41149D899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1435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{{RISK_6_IMPACT}}</a:t>
            </a:r>
          </a:p>
        </p:txBody>
      </p:sp>
    </p:spTree>
    <p:extLst>
      <p:ext uri="{BB962C8B-B14F-4D97-AF65-F5344CB8AC3E}">
        <p14:creationId xmlns:p14="http://schemas.microsoft.com/office/powerpoint/2010/main" val="11245172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B6F091-AB3D-4048-9806-C6FEF8AC0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62aeab3fbb4631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F836C0-52D2-40B0-BE7F-FFBB62FBE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Почему требования применимы к вашей организации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D109BA-4DA8-4E7D-B952-0E76A9E1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FC8EA6-0041-458A-B7FE-AB76B192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914929-3FF3-4A45-8D7B-706CEBBB9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FEF9B6-F647-40E2-A942-327A36125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1B3222-CF54-45DC-A7DF-911F7549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10648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6412"/>
                </a:solidFill>
              </a:defRPr>
            </a:pPr>
            <a:r>
              <a:rPr sz="2025" b="1">
                <a:solidFill>
                  <a:srgbClr val="FF6412"/>
                </a:solidFill>
              </a:rPr>
              <a:t>{{REG_TITLE}}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96FFCB-00CB-41A4-99FA-5D3B584FF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47F531-94BC-4AB4-A1A4-098DC62E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8130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Основание профиля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B61225-B54F-441F-8299-B14B861A6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31051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{{REG_APPLICABILITY}}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EBBD85-098C-454B-9E09-24BAD907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400300"/>
            <a:ext cx="9525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07AD50-0B02-45A5-A85D-FB70C8F17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D531E1-D9FA-40C7-970C-087439B3D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8130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Что требуется подтвердить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631974-25DC-4D11-B4C6-8DE21C5F9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29000"/>
            <a:ext cx="31051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{{REG_EXPECTATIONS}}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721252-9BE5-403D-95E2-3F470055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400300"/>
            <a:ext cx="9525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FBFD61-8B4B-4C94-8922-C81523B14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55A751-1EFC-4591-A795-EC80036A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8130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Как читать рекомендации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12B464-A8E5-4EDE-BBD8-6A694A966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429000"/>
            <a:ext cx="31051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{{REG_IMPLEMENTATION}}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43EF06-4031-4C34-8D6F-1CB98632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05400"/>
            <a:ext cx="106489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99F5A9-530B-4641-B60D-B2DE9C1F1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2190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Нормы Республики Казахстан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B6A872-D8E6-4400-8A4D-FB429E700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19725"/>
            <a:ext cx="1019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{{REG_ANCHORS}}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51705D-FD86-44C8-821E-1C2C576A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72150"/>
            <a:ext cx="106489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A44838-8EB8-4227-8733-5CCD10D6A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76925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Стандарты при подтверждении применимости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670CAC-BCB7-47B8-9898-BDA82268C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76950"/>
            <a:ext cx="1019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{{FRAMEWORKS}}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8E4A0F-DE58-46AF-A78E-29543306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0648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67085"/>
                </a:solidFill>
              </a:defRPr>
            </a:pPr>
            <a:r>
              <a:rPr sz="750">
                <a:solidFill>
                  <a:srgbClr val="667085"/>
                </a:solidFill>
              </a:rPr>
              <a:t>PCI DSS и GDPR применяются только при наличии соответствующих данных и операций.</a:t>
            </a:r>
          </a:p>
        </p:txBody>
      </p:sp>
    </p:spTree>
    <p:extLst>
      <p:ext uri="{BB962C8B-B14F-4D97-AF65-F5344CB8AC3E}">
        <p14:creationId xmlns:p14="http://schemas.microsoft.com/office/powerpoint/2010/main" val="4430810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C78711-8571-4846-A0B1-DB3E29E7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06560de1f34806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595CBF-FD0E-4C32-82F6-935518D26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первоочередные меры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36FA0B-EC37-4278-BFE9-842A15DF1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AF1488-CC7B-4C81-989E-E73524247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87FCAE-BB28-4100-B818-F4E00094C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E99881-30FE-4DEA-8A9E-C69FA0BC2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336D72-6EC4-4A2C-B09A-132A86051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E40425-4157-401A-A8A2-17DDD3669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F53CD7-890F-431F-8A02-83F15930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1"/>
                </a:solidFill>
              </a:defRPr>
            </a:pPr>
            <a:r>
              <a:rPr sz="900" b="1">
                <a:solidFill>
                  <a:srgbClr val="B20001"/>
                </a:solidFill>
              </a:rPr>
              <a:t>{{REC_1_LEVEL}}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FF4699-9AB6-492F-AAD0-A77174C4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1"/>
                </a:solidFill>
              </a:defRPr>
            </a:pPr>
            <a:r>
              <a:rPr sz="2550" b="1">
                <a:solidFill>
                  <a:srgbClr val="B20001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A01D2E-A60D-4FF3-B231-2EF57BF8D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{{REC_1_TITLE}}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D0989B-692B-4C08-BF83-88288B101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 приоритета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12A214-8493-40B8-847E-91088743B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{{REC_1_EVIDENCE}}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2021BE-534A-423B-AE47-8449DF44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A3435F-A511-49EB-892E-75E04296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{{REC_1_ACTION}}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369C08-8FE8-4A2B-9457-2313FFF3F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E5DF71-E8C5-43D8-A1C9-F6B75F77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29BD4A-9FAE-4810-86EA-AD86B835A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{{REC_1_SOLUTION}} · {{REC_1_VENDORS}}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A4B2D7-AF26-4500-B31D-F080DA68D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62CD3B-82BB-47EA-B9E7-0ECA13F43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{{REC_1_LEGAL}}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628850-3AA0-403A-8B27-B25C1FE82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47F358-C136-4C40-8085-CF7002974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{{REC_1_METRIC}}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0B08C4-49CF-4E11-8DDA-FFD7AC82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C11BC9-593C-4F48-9584-2F99243FB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DB37C6-0C2C-4FDB-B34D-B3077877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2"/>
                </a:solidFill>
              </a:defRPr>
            </a:pPr>
            <a:r>
              <a:rPr sz="900" b="1">
                <a:solidFill>
                  <a:srgbClr val="B20002"/>
                </a:solidFill>
              </a:rPr>
              <a:t>{{REC_2_LEVEL}}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7B0848-4781-42E6-969A-F88848D02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2"/>
                </a:solidFill>
              </a:defRPr>
            </a:pPr>
            <a:r>
              <a:rPr sz="2550" b="1">
                <a:solidFill>
                  <a:srgbClr val="B20002"/>
                </a:solidFill>
              </a:rPr>
              <a:t>02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BA296B-F326-4D62-BC3E-528FD9952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{{REC_2_TITLE}}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67AD41-0E4C-4D0D-9255-8FBCD79C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 приоритета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43FE20-A5F9-4E82-B83E-707D51B5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{{REC_2_EVIDENCE}}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F592A1-42F7-451B-AB5B-DAE8353AE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FCF298-6F25-44DB-879B-40614798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{{REC_2_ACTION}}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326C44F-B053-4923-AB85-C9123DAE8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C6095B-3C20-4A58-873A-92774F51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BA7DF0B-CECA-49F3-B630-8CE82EA17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{{REC_2_SOLUTION}} · {{REC_2_VENDORS}}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9AD8C4-A281-423F-9D56-7E9C91C34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A4B4086-6C6C-4E64-A05C-9175DE82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{{REC_2_LEGAL}}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C31DE63-2FD9-4970-8EFB-948B21E1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DD1DCBC-9BEA-4298-AFD1-02FEFB65A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{{REC_2_METRIC}}</a:t>
            </a:r>
          </a:p>
        </p:txBody>
      </p:sp>
    </p:spTree>
    <p:extLst>
      <p:ext uri="{BB962C8B-B14F-4D97-AF65-F5344CB8AC3E}">
        <p14:creationId xmlns:p14="http://schemas.microsoft.com/office/powerpoint/2010/main" val="182081367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43DF02-8041-418A-A374-25C4DF4E2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a5135ebabd4f64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EBE2A6-AA60-4437-A173-8B1EF3F1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снижение основных рисков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FB0AC0-A22A-43D9-A243-48D43BAE4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BCE62A-6872-482C-A78B-8BD70D9C6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C08D5E-E5F4-4CCB-BE6D-62E8F46CC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D8F9B4-94FC-4266-A625-F6E53F71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02B740-C365-4B02-BB5D-A23CD98DF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3A5D12-1CE2-448F-894B-CEEB10B28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4B721E-17AE-4A14-9CCC-4659F114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3"/>
                </a:solidFill>
              </a:defRPr>
            </a:pPr>
            <a:r>
              <a:rPr sz="900" b="1">
                <a:solidFill>
                  <a:srgbClr val="B20003"/>
                </a:solidFill>
              </a:rPr>
              <a:t>{{REC_3_LEVEL}}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B84BC5-8FCA-41C4-A2E1-E8013DAE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3"/>
                </a:solidFill>
              </a:defRPr>
            </a:pPr>
            <a:r>
              <a:rPr sz="2550" b="1">
                <a:solidFill>
                  <a:srgbClr val="B20003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C31CED-0CE0-40EA-9E17-CEC9B127C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{{REC_3_TITLE}}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F2474A-7C13-40B1-B567-83B678863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 приоритета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C0FD3D-68F8-421B-9B4F-867F0A9D6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{{REC_3_EVIDENCE}}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AC25A6-7BBC-4785-A988-674EE0C85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2450B8-E3F0-4AA4-BC28-99E710E0E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{{REC_3_ACTION}}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B97AF2-8E8F-4696-BDA1-B10B07D6A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97251D-C5C5-421E-A8C9-50AEFB27C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690FAE-0E46-4E69-9871-1EE5D250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{{REC_3_SOLUTION}} · {{REC_3_VENDORS}}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649514-D1C0-41A0-8E93-DBDA50BD3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4FDFB7-A4B1-46AB-805B-98C0CE96D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{{REC_3_LEGAL}}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3F61D6-FFF4-40CA-82D6-E3925C3CA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51FFA0-E99F-41E5-A578-EB25B3FE2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{{REC_3_METRIC}}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7B2F5D-26DA-4A81-BE3D-B32B4DF1A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B352F7-044A-4BA1-AFAF-DF4ED01A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640E73-40FA-44E7-AA43-AB09B1F3B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4"/>
                </a:solidFill>
              </a:defRPr>
            </a:pPr>
            <a:r>
              <a:rPr sz="900" b="1">
                <a:solidFill>
                  <a:srgbClr val="B20004"/>
                </a:solidFill>
              </a:rPr>
              <a:t>{{REC_4_LEVEL}}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CAE111-C8D1-46C9-897C-61BADC71E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4"/>
                </a:solidFill>
              </a:defRPr>
            </a:pPr>
            <a:r>
              <a:rPr sz="2550" b="1">
                <a:solidFill>
                  <a:srgbClr val="B20004"/>
                </a:solidFill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214735-BC38-4884-9AC7-9B271512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{{REC_4_TITLE}}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59CAD5-4C37-4BD8-B572-9BAA85CCD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 приоритета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06110D-8A07-4ACA-AFC2-94C0FCE02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{{REC_4_EVIDENCE}}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A55A0C-71AE-4257-9F50-49B8B6827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4E0EC60-55F3-4136-94AF-F56C77B5F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{{REC_4_ACTION}}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7F9D9A-D86B-43A5-99BA-65F6BD1FE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8F1465-D8E4-4B50-8AE3-C87B71613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7A01757-33E2-48F5-B9EA-4F72A95DE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{{REC_4_SOLUTION}} · {{REC_4_VENDORS}}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7E7EE4B-360B-4B85-A2E9-6C011BDD1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6BB6C91-6191-41FB-8682-B2E94E69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{{REC_4_LEGAL}}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A519A58-A359-4228-AC04-7221498F6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478A2E7-2729-4EEF-9127-B85F50DCB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{{REC_4_METRIC}}</a:t>
            </a:r>
          </a:p>
        </p:txBody>
      </p:sp>
    </p:spTree>
    <p:extLst>
      <p:ext uri="{BB962C8B-B14F-4D97-AF65-F5344CB8AC3E}">
        <p14:creationId xmlns:p14="http://schemas.microsoft.com/office/powerpoint/2010/main" val="15699333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C895F08-7329-4659-9F4E-A8FC2F848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4246207faa41e7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985F3B-F97F-43F5-8F2A-4C113B83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устойчивость ИТ и ИБ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FE38B5-C47C-4A6F-95E7-88011AE6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579237-D278-43E0-9B57-0B936E7A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3EB76E-BC1D-4B55-8517-469F872A6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0D7F54-B30D-4F95-A82D-18773C41E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99C28A-5106-4FE3-9005-DC257119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9882B3-0F1D-4503-8D2E-DEFCA02A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5B94C2-676D-4F46-8E91-2A05F4F6A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5"/>
                </a:solidFill>
              </a:defRPr>
            </a:pPr>
            <a:r>
              <a:rPr sz="900" b="1">
                <a:solidFill>
                  <a:srgbClr val="B20005"/>
                </a:solidFill>
              </a:rPr>
              <a:t>{{REC_5_LEVEL}}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301DA0-5B49-42B1-AA9F-B32B75C74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5"/>
                </a:solidFill>
              </a:defRPr>
            </a:pPr>
            <a:r>
              <a:rPr sz="2550" b="1">
                <a:solidFill>
                  <a:srgbClr val="B20005"/>
                </a:solidFill>
              </a:rPr>
              <a:t>05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16813C-DC8D-4128-8712-D69999BD3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{{REC_5_TITLE}}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4AFE25-C9DC-4348-8845-96183C12C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 приоритета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B54A13-D617-4C7A-B6B9-6FF521E7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{{REC_5_EVIDENCE}}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AE007E-BE40-470B-9532-1EF1C763D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9C5BF8-4E06-4E10-95C7-C1C630F3B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{{REC_5_ACTION}}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7F4ADB-A9F3-4F16-A714-44D24C41C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0F4466-727C-4CA6-83B2-D1B9254A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963A3D-CC98-4F66-967F-C3EB1101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{{REC_5_SOLUTION}} · {{REC_5_VENDORS}}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3AA9A8-D678-46CC-933F-E6C3BD94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480916-63C6-4DAA-9FD3-E78E9B65A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{{REC_5_LEGAL}}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925296-B3BA-47D6-8091-E5ED2827B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E57D86-5775-40AD-8295-BACB501B4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{{REC_5_METRIC}}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C8F7E5-5023-45F3-83E3-8893E36B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30FE1E-0AD4-4349-A49F-D14D3C176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A81FCB-08B9-4B87-96A0-57309067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6"/>
                </a:solidFill>
              </a:defRPr>
            </a:pPr>
            <a:r>
              <a:rPr sz="900" b="1">
                <a:solidFill>
                  <a:srgbClr val="B20006"/>
                </a:solidFill>
              </a:rPr>
              <a:t>{{REC_6_LEVEL}}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874769-00C2-44C5-9B80-F4EC03C96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6"/>
                </a:solidFill>
              </a:defRPr>
            </a:pPr>
            <a:r>
              <a:rPr sz="2550" b="1">
                <a:solidFill>
                  <a:srgbClr val="B20006"/>
                </a:solidFill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9E7505-50B7-4B45-B069-581F2A331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{{REC_6_TITLE}}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D1CD7C-B91A-4FBA-95D0-9CEEE63A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 приоритета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B26E52-F79F-40F6-8AD3-43C77BDE1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{{REC_6_EVIDENCE}}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0CE971-8B81-4BD6-954E-801DB049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2FBCF6C-662A-4A8C-84A3-65120084F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{{REC_6_ACTION}}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8425614-8C31-4585-A442-4EF17FB92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F3D2785-762D-4418-A13B-71DF06A0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581770D-3965-4BCE-BB92-E3F746F12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{{REC_6_SOLUTION}} · {{REC_6_VENDORS}}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53ED1A-097B-4D76-9CE0-002AC2E59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3311183-5DA8-41C0-BD46-801DC11E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{{REC_6_LEGAL}}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E480913-63B1-4568-AC4C-1CAE12B7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B1B1E-1808-4046-8CDD-CABAE1A2B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{{REC_6_METRIC}}</a:t>
            </a:r>
          </a:p>
        </p:txBody>
      </p:sp>
    </p:spTree>
    <p:extLst>
      <p:ext uri="{BB962C8B-B14F-4D97-AF65-F5344CB8AC3E}">
        <p14:creationId xmlns:p14="http://schemas.microsoft.com/office/powerpoint/2010/main" val="187399442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3F4900-501E-4FC9-856A-F948CF4C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de30e079024ecc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0F6348-490E-41BC-807B-07114E9BB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следующий уровень зрелости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F5925B-A2C8-41DE-A777-035178F2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E5DE98-B52C-493D-A7B6-FB5640E7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F95574-1BF1-498C-85C6-3808930EF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DEDB6B-74E6-43FF-B7A0-4C304F856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ED250D-0EE4-4C0D-B0C3-93866AA5F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DF393A-64AF-47FB-9E65-BB2D35AA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79DC58-9EF0-4EE3-A27A-8E29BD5FA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7"/>
                </a:solidFill>
              </a:defRPr>
            </a:pPr>
            <a:r>
              <a:rPr sz="900" b="1">
                <a:solidFill>
                  <a:srgbClr val="B20007"/>
                </a:solidFill>
              </a:rPr>
              <a:t>{{REC_7_LEVEL}}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2DB09D-E39C-42A3-9601-007317BE7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7"/>
                </a:solidFill>
              </a:defRPr>
            </a:pPr>
            <a:r>
              <a:rPr sz="2550" b="1">
                <a:solidFill>
                  <a:srgbClr val="B20007"/>
                </a:solidFill>
              </a:rPr>
              <a:t>07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A269D8-AF5A-4A22-8B65-3042BFF74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{{REC_7_TITLE}}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C6E8AF-B962-440B-8E25-FF7DA3B2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 приоритета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9A8A5F-7845-4A1E-9FAB-428EE7AC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{{REC_7_EVIDENCE}}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C7F4A9-2755-424D-A658-6A086CF76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08CA34-AFF5-4C2C-A8AB-6284454DD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{{REC_7_ACTION}}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B6616D-DE17-497C-8032-B3E2D02B7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21C956-2E76-40F2-9CF3-37BB98ED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7E2D48-3C03-4201-9A99-AFB8B54D4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{{REC_7_SOLUTION}} · {{REC_7_VENDORS}}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435778-60CB-4768-B551-DB4E6F2F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9C1981-E634-4952-AE9B-72CED6B8A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{{REC_7_LEGAL}}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17A7E5-41DC-46AE-84F6-E06E464D4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5C4703-07F5-4010-843E-0C3DD025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{{REC_7_METRIC}}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BD99BC-C867-433B-A669-3311119F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7F00BC-3975-4209-9556-466554DF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D6F31F-8FAC-4D9B-AA80-0D9D9ABD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8"/>
                </a:solidFill>
              </a:defRPr>
            </a:pPr>
            <a:r>
              <a:rPr sz="900" b="1">
                <a:solidFill>
                  <a:srgbClr val="B20008"/>
                </a:solidFill>
              </a:rPr>
              <a:t>{{REC_8_LEVEL}}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D0C140-807E-4378-984D-B42B95784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8"/>
                </a:solidFill>
              </a:defRPr>
            </a:pPr>
            <a:r>
              <a:rPr sz="2550" b="1">
                <a:solidFill>
                  <a:srgbClr val="B20008"/>
                </a:solidFill>
              </a:rPr>
              <a:t>08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D4AB45-3E4F-4AA3-B9E7-7A46A0265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{{REC_8_TITLE}}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AC7D45-A6F5-4272-8B49-15E564A56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 приоритета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9C1953B-F773-4D3A-B96A-CA61F96C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{{REC_8_EVIDENCE}}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472AA6A-BBE9-41C3-A7E7-89A12706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CCAEB3-6DBD-43D7-99AD-321D4C45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{{REC_8_ACTION}}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153C490-6A1D-4D0A-9693-E26D7358F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5BD69D7-B9D3-40B3-9A68-722C72533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D4A0AA-5B08-498F-B6A6-D973E4554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{{REC_8_SOLUTION}} · {{REC_8_VENDORS}}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E2CF958-2C87-42DF-9128-F2B233BB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3BF21A4-77E1-4BED-B496-0E74E69C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  <a:r>
              <a:rPr sz="900">
                <a:solidFill>
                  <a:srgbClr val="667085"/>
                </a:solidFill>
              </a:rPr>
              <a:t>{{REC_8_LEGAL}}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8422129-99DE-42EA-8C1F-B4104EF4B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FF6412"/>
                </a:solidFill>
              </a:defRPr>
            </a:pPr>
            <a:r>
              <a:rPr sz="825" b="1">
                <a:solidFill>
                  <a:srgbClr val="FF6412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68AF536-C932-4C78-8D0C-FFEACA49A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1616"/>
                </a:solidFill>
              </a:defRPr>
            </a:pPr>
            <a:r>
              <a:rPr sz="900" b="1">
                <a:solidFill>
                  <a:srgbClr val="161616"/>
                </a:solidFill>
              </a:rPr>
              <a:t>{{REC_8_METRIC}}</a:t>
            </a:r>
          </a:p>
        </p:txBody>
      </p:sp>
    </p:spTree>
    <p:extLst>
      <p:ext uri="{BB962C8B-B14F-4D97-AF65-F5344CB8AC3E}">
        <p14:creationId xmlns:p14="http://schemas.microsoft.com/office/powerpoint/2010/main" val="187966041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ADE308-4427-47F3-BD76-FB56008EF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e1e44a3fea483c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FC4377-C9D1-48D2-91F2-445A0E58C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План на 90 дней переводит выводы в действия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BBCE17-2EF5-4752-B194-5DA2A852E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A018F8-40A7-4181-BB0A-5A5299C8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794758-6892-4363-BEF6-E41B0F704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558649-7F8C-4EB3-B88D-9CD99F0C6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634AE4-765A-49C9-A967-679917FE2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064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7085"/>
                </a:solidFill>
              </a:defRPr>
            </a:pPr>
            <a:r>
              <a:rPr sz="1350">
                <a:solidFill>
                  <a:srgbClr val="667085"/>
                </a:solidFill>
              </a:rPr>
              <a:t>Сначала 20% первоочередных мер, которые закрывают основную долю подтвержденных рисков.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2224AA-32F1-4CD4-ADDC-98D457F24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152650"/>
            <a:ext cx="876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24101-FA58-4D5A-A7C3-D750ADC2A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3371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0–30 дней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C93DC6-B57C-4783-8B7E-A19D63D64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9240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CE3502-C3A1-45B7-8986-298167EB5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028825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057113-38E8-4D45-9246-4F5FC165C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3181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ПРИОРИТЕТЫ И БЫСТРЫЕ МЕРЫ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C1F6E8-63CC-4EFE-AA2F-6BC620A0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575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2468CF-A260-4881-B331-FAAD3B754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00400"/>
            <a:ext cx="278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61616"/>
                </a:solidFill>
              </a:defRPr>
            </a:pPr>
            <a:r>
              <a:rPr sz="1125">
                <a:solidFill>
                  <a:srgbClr val="161616"/>
                </a:solidFill>
              </a:rPr>
              <a:t>{{ROADMAP_1_1}}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2EF81D-CF19-49C8-B685-2FF55CE67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719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677A2A-EE85-43F4-B8BB-7DD440A2B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14800"/>
            <a:ext cx="278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61616"/>
                </a:solidFill>
              </a:defRPr>
            </a:pPr>
            <a:r>
              <a:rPr sz="1125">
                <a:solidFill>
                  <a:srgbClr val="161616"/>
                </a:solidFill>
              </a:rPr>
              <a:t>{{ROADMAP_1_2}}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027772-8494-4969-9639-9BA336841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62550"/>
            <a:ext cx="31813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5BB709-BBD1-4AB9-93FD-05F2C24A5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86375"/>
            <a:ext cx="2876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6412"/>
                </a:solidFill>
              </a:defRPr>
            </a:pPr>
            <a:r>
              <a:rPr sz="750" b="1">
                <a:solidFill>
                  <a:srgbClr val="FF6412"/>
                </a:solidFill>
              </a:rPr>
              <a:t>ЧТО ДАСТ ЭТАП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83DC77-6951-4981-92D5-79BD9C4F5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1497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{{ROADMAP_1_RESULT}}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3AF778-2DAA-401C-A726-45286CFDD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628900"/>
            <a:ext cx="952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E752B3-70CB-49DB-AED2-EA9C5E265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752600"/>
            <a:ext cx="3371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31–60 дней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65C9E7-C223-41F0-A82A-F883529C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19240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57E365-6EDE-4849-BAAB-BDCB4A756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28825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F173A5-50FA-4078-99C2-09D5D812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28900"/>
            <a:ext cx="3181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ПИЛОТЫ И РЕГЛАМЕНТЫ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3D6E51-C521-4A17-9A25-75F16A7B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575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328EB4-938A-4BFE-BAA5-7C82CDDF2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00400"/>
            <a:ext cx="278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61616"/>
                </a:solidFill>
              </a:defRPr>
            </a:pPr>
            <a:r>
              <a:rPr sz="1125">
                <a:solidFill>
                  <a:srgbClr val="161616"/>
                </a:solidFill>
              </a:rPr>
              <a:t>{{ROADMAP_2_1}}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183359-1EB6-48A3-B04D-EDCE75BA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719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0FEB1C-471E-43E0-B23B-51C81F43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114800"/>
            <a:ext cx="278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61616"/>
                </a:solidFill>
              </a:defRPr>
            </a:pPr>
            <a:r>
              <a:rPr sz="1125">
                <a:solidFill>
                  <a:srgbClr val="161616"/>
                </a:solidFill>
              </a:rPr>
              <a:t>{{ROADMAP_2_2}}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581329F-9C2B-4188-90C7-469DA97AF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162550"/>
            <a:ext cx="31813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FD790F-49E4-4D08-AA70-87BC4F912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86375"/>
            <a:ext cx="2876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6412"/>
                </a:solidFill>
              </a:defRPr>
            </a:pPr>
            <a:r>
              <a:rPr sz="750" b="1">
                <a:solidFill>
                  <a:srgbClr val="FF6412"/>
                </a:solidFill>
              </a:rPr>
              <a:t>ЧТО ДАСТ ЭТАП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7E7F23E-0332-4994-BF1E-676AB070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51497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{{ROADMAP_2_RESULT}}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760AB1-0944-4D77-BA40-C42019BE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628900"/>
            <a:ext cx="952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79FAE5-0219-479B-B379-250C27C7B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752600"/>
            <a:ext cx="3371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61–90 дней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1FC3819-26F5-481A-B3DF-5041B7CB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9240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64DC81E-6070-47FF-8747-CC7588C29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028825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5206C03-B144-4055-95F4-976641D2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28900"/>
            <a:ext cx="3181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МАСШТАБИРОВАНИЕ И КОНТРОЛЬ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F68555C-8724-46A2-A549-4F356F15C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575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BF43A6C-658B-4B91-A2FB-CA0B4B004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00400"/>
            <a:ext cx="278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61616"/>
                </a:solidFill>
              </a:defRPr>
            </a:pPr>
            <a:r>
              <a:rPr sz="1125">
                <a:solidFill>
                  <a:srgbClr val="161616"/>
                </a:solidFill>
              </a:rPr>
              <a:t>{{ROADMAP_3_1}}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9FC33A1-545F-4BE4-A862-68D86620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1719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001AD3B-7BB7-4FC0-8DA1-F16B6B0B6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114800"/>
            <a:ext cx="27813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61616"/>
                </a:solidFill>
              </a:defRPr>
            </a:pPr>
            <a:r>
              <a:rPr sz="1125">
                <a:solidFill>
                  <a:srgbClr val="161616"/>
                </a:solidFill>
              </a:rPr>
              <a:t>{{ROADMAP_3_2}}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EA0D391-81DE-43BA-98A1-DDDA79E2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162550"/>
            <a:ext cx="31813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7B1ED3B-22FA-4F0D-A7D4-FF75EC7C9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286375"/>
            <a:ext cx="2876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6412"/>
                </a:solidFill>
              </a:defRPr>
            </a:pPr>
            <a:r>
              <a:rPr sz="750" b="1">
                <a:solidFill>
                  <a:srgbClr val="FF6412"/>
                </a:solidFill>
              </a:rPr>
              <a:t>ЧТО ДАСТ ЭТАП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34E7032-1E41-435C-B96F-D0040605C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51497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1616"/>
                </a:solidFill>
              </a:defRPr>
            </a:pPr>
            <a:r>
              <a:rPr sz="975" b="1">
                <a:solidFill>
                  <a:srgbClr val="161616"/>
                </a:solidFill>
              </a:rPr>
              <a:t>{{ROADMAP_3_RESULT}}</a:t>
            </a:r>
          </a:p>
        </p:txBody>
      </p:sp>
    </p:spTree>
    <p:extLst>
      <p:ext uri="{BB962C8B-B14F-4D97-AF65-F5344CB8AC3E}">
        <p14:creationId xmlns:p14="http://schemas.microsoft.com/office/powerpoint/2010/main" val="105819782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13B66E-BC2B-45D2-AF30-4842AEFE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c6be9a33cc4926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8E759B-67F2-47C5-9909-CE97A076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Команда для реализации изменений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8916FF-FAEA-4CD0-AEE8-EABC37F66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7B8866-DC0A-4622-9B61-DB67DCBF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EE9B67-9932-4624-A7F5-2F737EA59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04C0C8-B2A6-479D-AF06-4B365E2D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FF0BAF-FDAF-4BDA-90D3-711C1F735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4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61616"/>
                </a:solidFill>
              </a:defRPr>
            </a:pPr>
            <a:r>
              <a:rPr sz="2025" b="1">
                <a:solidFill>
                  <a:srgbClr val="161616"/>
                </a:solidFill>
              </a:rPr>
              <a:t>ТОО «Khalil Trade»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102504-7185-4935-AD70-9972BA76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19300"/>
            <a:ext cx="514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7085"/>
                </a:solidFill>
              </a:defRPr>
            </a:pPr>
            <a:r>
              <a:rPr sz="1350">
                <a:solidFill>
                  <a:srgbClr val="667085"/>
                </a:solidFill>
              </a:rPr>
              <a:t>Системный интегратор и поставщик ИТ-решений для государственных и корпоративных организаций.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45C9E2-6D8A-48F4-9798-6785C1308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86100"/>
            <a:ext cx="514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6412"/>
                </a:solidFill>
              </a:defRPr>
            </a:pPr>
            <a:r>
              <a:rPr sz="1650" b="1">
                <a:solidFill>
                  <a:srgbClr val="FF6412"/>
                </a:solidFill>
              </a:rPr>
              <a:t>От оценки и проектирования до внедрения, поддержки и развития.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561B0D-65C7-4259-B39C-AA06D0985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2020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B62FB4-FA16-4E9B-9D36-C56E28F8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год основания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13AF1C-8FED-4031-BD0A-8770D1A30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70+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1A8CC0-E865-4F85-A7EE-CC5377C3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крупных проектов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DB5E98-A233-4CF0-895A-7309D37CE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40+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C27D87-5556-43F8-87B2-00285CB1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технологических партнеров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40D177-65C1-42DE-A618-5349E9DBF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90650"/>
            <a:ext cx="4953000" cy="4438650"/>
          </a:xfrm>
          <a:prstGeom xmlns:a="http://schemas.openxmlformats.org/drawingml/2006/main" prst="roundRect">
            <a:avLst>
              <a:gd name="adj" fmla="val 1717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36FA4A-0380-458D-8373-A7D084A7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954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61616"/>
                </a:solidFill>
              </a:defRPr>
            </a:pPr>
            <a:r>
              <a:rPr sz="1725" b="1">
                <a:solidFill>
                  <a:srgbClr val="161616"/>
                </a:solidFill>
              </a:rPr>
              <a:t>Компетенции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4281A4-FDE7-4EF1-8AFC-EA5BFEA75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622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412"/>
                </a:solidFill>
              </a:defRPr>
            </a:pPr>
            <a:r>
              <a:rPr sz="105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B35724-3323-483E-A04A-5A56E082E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3362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Аудит и информационная безопасность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E7009D-4DCE-4F05-A656-2B4D70727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432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412"/>
                </a:solidFill>
              </a:defRPr>
            </a:pPr>
            <a:r>
              <a:rPr sz="105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97DE4D-F0B1-40A1-95E0-2904F2467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11467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Сетевая и серверная инфраструктура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C5EF58-BF60-4BFA-8DE1-1258268A8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412"/>
                </a:solidFill>
              </a:defRPr>
            </a:pPr>
            <a:r>
              <a:rPr sz="105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5F4707-110A-455E-90C1-39D5BB795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89572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Автоматизация и цифровые решения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A4C0F9-252B-4A4B-9569-CA66426F9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053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412"/>
                </a:solidFill>
              </a:defRPr>
            </a:pPr>
            <a:r>
              <a:rPr sz="105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65FCF8-0223-476A-A064-E0DA82B5B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7677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61616"/>
                </a:solidFill>
              </a:defRPr>
            </a:pPr>
            <a:r>
              <a:rPr sz="1275" b="1">
                <a:solidFill>
                  <a:srgbClr val="161616"/>
                </a:solidFill>
              </a:rPr>
              <a:t>Внедрение, поддержка и передача знаний</a:t>
            </a:r>
          </a:p>
        </p:txBody>
      </p:sp>
    </p:spTree>
    <p:extLst>
      <p:ext uri="{BB962C8B-B14F-4D97-AF65-F5344CB8AC3E}">
        <p14:creationId xmlns:p14="http://schemas.microsoft.com/office/powerpoint/2010/main" val="195904447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7116F1-C659-4952-BF81-72ECA6BAE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ed1c53c8124456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901A31-5259-426E-B0BC-B08D4B28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Зафиксируйте решения и следующий шаг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4AB6CB-13E1-4AC5-A900-7C28E071B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CC7305-2A1C-4B41-BFFD-C7ED69C53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F21ED4-F2A9-455C-AA1A-F5AA4A87A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000F48-6F05-4B59-B457-B1E36E9A2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8CA4C1-2FDC-43B1-BAB8-1154EB2A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51858C-65CA-442B-8D2D-79FE68A1A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240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{{DECISION_1}}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8BB0FA-AAFA-40E8-9A80-7F91BD0D8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B5057E-945D-4C9C-AE2C-1B036BB3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F41AB4-65B6-457B-BBD3-17028855B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{{DECISION_2}}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0E4E6F-F4B5-4F9D-9A8F-2C2D58B71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671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6672F4-F9A8-4E68-9332-F8673B5A5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7D37CA-41C8-459F-B475-7D77AD587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576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{{DECISION_3}}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C87964-E6EE-419F-BCA0-FEE28D996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C48159-5F28-45F3-9B9D-093151F0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556A49-CCE9-45F4-8849-274EB508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244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{{DECISION_4}}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7DE605-C0F1-4AF4-A271-ADA3095BC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90650"/>
            <a:ext cx="3467100" cy="470535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19D255-D72D-4E38-9590-0E479DA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573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1616"/>
                </a:solidFill>
              </a:defRPr>
            </a:pPr>
            <a:r>
              <a:rPr sz="1875" b="1">
                <a:solidFill>
                  <a:srgbClr val="161616"/>
                </a:solidFill>
              </a:rPr>
              <a:t>Хотите получить больше сведений?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DF746F-390A-4DC4-A513-73B64AB77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05050"/>
            <a:ext cx="2781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Обсудим приоритеты, варианты решений и практический план внедрения.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22ffe696e1496d"/>
          <a:stretch xmlns:a="http://schemas.openxmlformats.org/drawingml/2006/main"/>
        </p:blipFill>
        <p:spPr>
          <a:xfrm xmlns:a="http://schemas.openxmlformats.org/drawingml/2006/main">
            <a:off x="8705850" y="2990850"/>
            <a:ext cx="1866900" cy="18669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AA7A32-F968-4505-9B33-127A6B7ED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530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Сканируйте QR, чтобы сохранить контакты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77DAEB-C3DD-47F5-A552-57E94523F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149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info@khalilgroup.kz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F3BAA1-D8A7-4903-B9CA-B6CF82C60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816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+7 706 701 48 35</a:t>
            </a:r>
          </a:p>
        </p:txBody>
      </p:sp>
    </p:spTree>
    <p:extLst>
      <p:ext uri="{BB962C8B-B14F-4D97-AF65-F5344CB8AC3E}">
        <p14:creationId xmlns:p14="http://schemas.microsoft.com/office/powerpoint/2010/main" val="6528519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2026-07-17T15:38:54.1270000Z</dcterms:created>
  <dcterms:modified xsi:type="dcterms:W3CDTF">2026-07-17T15:38:54.1270000Z</dcterms:modified>
</coreProperties>
</file>