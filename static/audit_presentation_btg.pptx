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3ff5f19150045bf" /><Relationship Type="http://schemas.openxmlformats.org/officeDocument/2006/relationships/extended-properties" Target="/docProps/app.xml" Id="R8150e6c26c7944b5" /><Relationship Type="http://schemas.openxmlformats.org/officeDocument/2006/relationships/officeDocument" Target="/ppt/presentation.xml" Id="Rf55b5f4032c6416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a21ee96f7934f54"/>
  </p:sldMasterIdLst>
  <p:notesMasterIdLst>
    <p:notesMasterId xmlns:r="http://schemas.openxmlformats.org/officeDocument/2006/relationships" r:id="R8e094d5400184e84"/>
  </p:notesMasterIdLst>
  <p:sldIdLst>
    <p:sldId xmlns:r="http://schemas.openxmlformats.org/officeDocument/2006/relationships" id="256" r:id="R9a06513a3cfd4750"/>
    <p:sldId xmlns:r="http://schemas.openxmlformats.org/officeDocument/2006/relationships" id="257" r:id="Rc7588171560c4098"/>
    <p:sldId xmlns:r="http://schemas.openxmlformats.org/officeDocument/2006/relationships" id="258" r:id="R2cb07ed0307a4021"/>
    <p:sldId xmlns:r="http://schemas.openxmlformats.org/officeDocument/2006/relationships" id="259" r:id="R39bd52957246482e"/>
    <p:sldId xmlns:r="http://schemas.openxmlformats.org/officeDocument/2006/relationships" id="260" r:id="Rf5cfe13f54f64a4f"/>
    <p:sldId xmlns:r="http://schemas.openxmlformats.org/officeDocument/2006/relationships" id="261" r:id="R4c212deff81d4a88"/>
    <p:sldId xmlns:r="http://schemas.openxmlformats.org/officeDocument/2006/relationships" id="262" r:id="Rfcab83bce36b4a93"/>
    <p:sldId xmlns:r="http://schemas.openxmlformats.org/officeDocument/2006/relationships" id="263" r:id="R2a80efd113944bd9"/>
    <p:sldId xmlns:r="http://schemas.openxmlformats.org/officeDocument/2006/relationships" id="264" r:id="Re95c3d0cd6524826"/>
    <p:sldId xmlns:r="http://schemas.openxmlformats.org/officeDocument/2006/relationships" id="265" r:id="Rdbe307845d344204"/>
    <p:sldId xmlns:r="http://schemas.openxmlformats.org/officeDocument/2006/relationships" id="266" r:id="R2096c5951c3c4a79"/>
    <p:sldId xmlns:r="http://schemas.openxmlformats.org/officeDocument/2006/relationships" id="267" r:id="R02dac3d398074c02"/>
    <p:sldId xmlns:r="http://schemas.openxmlformats.org/officeDocument/2006/relationships" id="268" r:id="R7c9baa24c1a34b3b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3a9615d04f04eec" /><Relationship Type="http://schemas.openxmlformats.org/officeDocument/2006/relationships/slideMaster" Target="/ppt/slideMasters/slideMaster1.xml" Id="Raa21ee96f7934f54" /><Relationship Type="http://schemas.openxmlformats.org/officeDocument/2006/relationships/notesMaster" Target="/ppt/notesMasters/notesMaster1.xml" Id="R8e094d5400184e84" /><Relationship Type="http://schemas.openxmlformats.org/officeDocument/2006/relationships/presProps" Target="/ppt/presProps.xml" Id="Rba940d499a864f56" /><Relationship Type="http://schemas.openxmlformats.org/officeDocument/2006/relationships/tableStyles" Target="/ppt/tableStyles.xml" Id="R990e9e06e7034957" /><Relationship Type="http://schemas.openxmlformats.org/officeDocument/2006/relationships/slide" Target="/ppt/slides/slide1.xml" Id="R9a06513a3cfd4750" /><Relationship Type="http://schemas.openxmlformats.org/officeDocument/2006/relationships/slide" Target="/ppt/slides/slide2.xml" Id="Rc7588171560c4098" /><Relationship Type="http://schemas.openxmlformats.org/officeDocument/2006/relationships/slide" Target="/ppt/slides/slide3.xml" Id="R2cb07ed0307a4021" /><Relationship Type="http://schemas.openxmlformats.org/officeDocument/2006/relationships/slide" Target="/ppt/slides/slide4.xml" Id="R39bd52957246482e" /><Relationship Type="http://schemas.openxmlformats.org/officeDocument/2006/relationships/slide" Target="/ppt/slides/slide5.xml" Id="Rf5cfe13f54f64a4f" /><Relationship Type="http://schemas.openxmlformats.org/officeDocument/2006/relationships/slide" Target="/ppt/slides/slide6.xml" Id="R4c212deff81d4a88" /><Relationship Type="http://schemas.openxmlformats.org/officeDocument/2006/relationships/slide" Target="/ppt/slides/slide7.xml" Id="Rfcab83bce36b4a93" /><Relationship Type="http://schemas.openxmlformats.org/officeDocument/2006/relationships/slide" Target="/ppt/slides/slide8.xml" Id="R2a80efd113944bd9" /><Relationship Type="http://schemas.openxmlformats.org/officeDocument/2006/relationships/slide" Target="/ppt/slides/slide9.xml" Id="Re95c3d0cd6524826" /><Relationship Type="http://schemas.openxmlformats.org/officeDocument/2006/relationships/slide" Target="/ppt/slides/slide10.xml" Id="Rdbe307845d344204" /><Relationship Type="http://schemas.openxmlformats.org/officeDocument/2006/relationships/slide" Target="/ppt/slides/slide11.xml" Id="R2096c5951c3c4a79" /><Relationship Type="http://schemas.openxmlformats.org/officeDocument/2006/relationships/slide" Target="/ppt/slides/slide12.xml" Id="R02dac3d398074c02" /><Relationship Type="http://schemas.openxmlformats.org/officeDocument/2006/relationships/slide" Target="/ppt/slides/slide13.xml" Id="R7c9baa24c1a34b3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95fe1b3c85042a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24ce0d8cc314ab5" /><Relationship Type="http://schemas.openxmlformats.org/officeDocument/2006/relationships/notesMaster" Target="/ppt/notesMasters/notesMaster1.xml" Id="R39aa627b146f43f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a287458972d4747" /><Relationship Type="http://schemas.openxmlformats.org/officeDocument/2006/relationships/notesMaster" Target="/ppt/notesMasters/notesMaster1.xml" Id="R7fb21b7755c14dc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13e7a8104f74f8d" /><Relationship Type="http://schemas.openxmlformats.org/officeDocument/2006/relationships/notesMaster" Target="/ppt/notesMasters/notesMaster1.xml" Id="R6387c58b4bc94ff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50a6f217b3d4186" /><Relationship Type="http://schemas.openxmlformats.org/officeDocument/2006/relationships/notesMaster" Target="/ppt/notesMasters/notesMaster1.xml" Id="Rb13d7b6152094ec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1d0b404c23043c3" /><Relationship Type="http://schemas.openxmlformats.org/officeDocument/2006/relationships/notesMaster" Target="/ppt/notesMasters/notesMaster1.xml" Id="Rb78e1e6c22684e2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f1a9280bd444acf" /><Relationship Type="http://schemas.openxmlformats.org/officeDocument/2006/relationships/notesMaster" Target="/ppt/notesMasters/notesMaster1.xml" Id="R32032bbe83be441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3608ffe61d64243" /><Relationship Type="http://schemas.openxmlformats.org/officeDocument/2006/relationships/notesMaster" Target="/ppt/notesMasters/notesMaster1.xml" Id="Rae789072cac54b2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370c118af1c45bd" /><Relationship Type="http://schemas.openxmlformats.org/officeDocument/2006/relationships/notesMaster" Target="/ppt/notesMasters/notesMaster1.xml" Id="R1c077bfd5050456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89a391cc2b84cb5" /><Relationship Type="http://schemas.openxmlformats.org/officeDocument/2006/relationships/notesMaster" Target="/ppt/notesMasters/notesMaster1.xml" Id="R15ae5d4782fd4b7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5f4bdcd331d442f" /><Relationship Type="http://schemas.openxmlformats.org/officeDocument/2006/relationships/notesMaster" Target="/ppt/notesMasters/notesMaster1.xml" Id="R08332331c3fb450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6d9658054ec4929" /><Relationship Type="http://schemas.openxmlformats.org/officeDocument/2006/relationships/notesMaster" Target="/ppt/notesMasters/notesMaster1.xml" Id="R5eec86225dee474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ccf47357a32444d" /><Relationship Type="http://schemas.openxmlformats.org/officeDocument/2006/relationships/notesMaster" Target="/ppt/notesMasters/notesMaster1.xml" Id="R406069f902c54ad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b1bf37f1c634cf7" /><Relationship Type="http://schemas.openxmlformats.org/officeDocument/2006/relationships/notesMaster" Target="/ppt/notesMasters/notesMaster1.xml" Id="R779e2f6b1a2f4e4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aa41ef3efc1460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b686859355c4076" /><Relationship Type="http://schemas.openxmlformats.org/officeDocument/2006/relationships/slideLayout" Target="/ppt/slideLayouts/slideLayout1.xml" Id="R2f2d9c33c8cd48a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f2d9c33c8cd48a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475dab97754b0d" /><Relationship Type="http://schemas.openxmlformats.org/officeDocument/2006/relationships/image" Target="/ppt/media/image.jpeg" Id="R07d6caf2f18c4fef" /><Relationship Type="http://schemas.openxmlformats.org/officeDocument/2006/relationships/image" Target="/ppt/media/image.png" Id="R8c1f2e9d564c41ee" /><Relationship Type="http://schemas.openxmlformats.org/officeDocument/2006/relationships/notesSlide" Target="/ppt/notesSlides/notesSlide1.xml" Id="Rb87d06a5d5ea4ef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414afb54fc45e4" /><Relationship Type="http://schemas.openxmlformats.org/officeDocument/2006/relationships/image" Target="/ppt/media/image2.png" Id="R4d91da8a58394285" /><Relationship Type="http://schemas.openxmlformats.org/officeDocument/2006/relationships/image" Target="/ppt/media/image3.png" Id="R36e4f65935b843a8" /><Relationship Type="http://schemas.openxmlformats.org/officeDocument/2006/relationships/notesSlide" Target="/ppt/notesSlides/notesSlide2.xml" Id="Rdc47e41acd3b44a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d45a1c79214a7a" /><Relationship Type="http://schemas.openxmlformats.org/officeDocument/2006/relationships/image" Target="/ppt/media/image4.png" Id="R40bc0d2f93cf4828" /><Relationship Type="http://schemas.openxmlformats.org/officeDocument/2006/relationships/notesSlide" Target="/ppt/notesSlides/notesSlide3.xml" Id="R25d6b132b3064d0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203b5f85dc4b2e" /><Relationship Type="http://schemas.openxmlformats.org/officeDocument/2006/relationships/image" Target="/ppt/media/image5.png" Id="R001da3cfb2d840f7" /><Relationship Type="http://schemas.openxmlformats.org/officeDocument/2006/relationships/notesSlide" Target="/ppt/notesSlides/notesSlide4.xml" Id="R50c4c5ee91374c7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39b4adb6ef4dab" /><Relationship Type="http://schemas.openxmlformats.org/officeDocument/2006/relationships/image" Target="/ppt/media/image6.png" Id="R861699691eb14dfa" /><Relationship Type="http://schemas.openxmlformats.org/officeDocument/2006/relationships/notesSlide" Target="/ppt/notesSlides/notesSlide5.xml" Id="Ra28f7ff250f34d0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e6d0fe83a74302" /><Relationship Type="http://schemas.openxmlformats.org/officeDocument/2006/relationships/image" Target="/ppt/media/image7.png" Id="Rfbf788fc9af74394" /><Relationship Type="http://schemas.openxmlformats.org/officeDocument/2006/relationships/notesSlide" Target="/ppt/notesSlides/notesSlide6.xml" Id="R2b81183378914ca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6ca0a7ecb547c2" /><Relationship Type="http://schemas.openxmlformats.org/officeDocument/2006/relationships/image" Target="/ppt/media/image8.png" Id="Rb57891b469664600" /><Relationship Type="http://schemas.openxmlformats.org/officeDocument/2006/relationships/notesSlide" Target="/ppt/notesSlides/notesSlide7.xml" Id="R6dfff06a5b7f410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c6ff5cd1a34e79" /><Relationship Type="http://schemas.openxmlformats.org/officeDocument/2006/relationships/image" Target="/ppt/media/image9.png" Id="Rc032bc97b7504649" /><Relationship Type="http://schemas.openxmlformats.org/officeDocument/2006/relationships/notesSlide" Target="/ppt/notesSlides/notesSlide8.xml" Id="R4acc045e3c314bb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d780eb77cb4b70" /><Relationship Type="http://schemas.openxmlformats.org/officeDocument/2006/relationships/image" Target="/ppt/media/image10.png" Id="R57d8f55904914ee7" /><Relationship Type="http://schemas.openxmlformats.org/officeDocument/2006/relationships/notesSlide" Target="/ppt/notesSlides/notesSlide9.xml" Id="R992b374f0e7442b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5de8642c874ffc" /><Relationship Type="http://schemas.openxmlformats.org/officeDocument/2006/relationships/image" Target="/ppt/media/image11.png" Id="R5053c05f93dc4797" /><Relationship Type="http://schemas.openxmlformats.org/officeDocument/2006/relationships/notesSlide" Target="/ppt/notesSlides/notesSlide10.xml" Id="R817b15f86edb4c5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137a5b740e41b4" /><Relationship Type="http://schemas.openxmlformats.org/officeDocument/2006/relationships/image" Target="/ppt/media/image12.png" Id="R25835bcd83384c7b" /><Relationship Type="http://schemas.openxmlformats.org/officeDocument/2006/relationships/notesSlide" Target="/ppt/notesSlides/notesSlide11.xml" Id="R70deb24a3d8640a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968b7dd01845b8" /><Relationship Type="http://schemas.openxmlformats.org/officeDocument/2006/relationships/image" Target="/ppt/media/image13.png" Id="R8c2aae64b92c4514" /><Relationship Type="http://schemas.openxmlformats.org/officeDocument/2006/relationships/notesSlide" Target="/ppt/notesSlides/notesSlide12.xml" Id="Rafc296fad4614d7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33c5cacd734a09" /><Relationship Type="http://schemas.openxmlformats.org/officeDocument/2006/relationships/image" Target="/ppt/media/image14.png" Id="R7c4ec0d2fac247c4" /><Relationship Type="http://schemas.openxmlformats.org/officeDocument/2006/relationships/image" Target="/ppt/media/image15.png" Id="R03f417cc75844f0f" /><Relationship Type="http://schemas.openxmlformats.org/officeDocument/2006/relationships/notesSlide" Target="/ppt/notesSlides/notesSlide13.xml" Id="Re9ab98e242054d7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57C95B7-1758-49DF-96EC-C4D608E4F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28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C5D383-58C3-492C-97CD-9AD03C56C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0"/>
            <a:ext cx="7010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d6caf2f18c4fef"/>
          <a:srcRect xmlns:a="http://schemas.openxmlformats.org/drawingml/2006/main" l="0" t="11037" r="0" b="1103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39000" y="0"/>
            <a:ext cx="4953000" cy="68580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CBF6EB-85D5-4FBB-87F1-80F2E3EAA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1f2e9d564c41ee"/>
          <a:stretch xmlns:a="http://schemas.openxmlformats.org/drawingml/2006/main"/>
        </p:blipFill>
        <p:spPr>
          <a:xfrm xmlns:a="http://schemas.openxmlformats.org/drawingml/2006/main">
            <a:off x="963386" y="514350"/>
            <a:ext cx="1826079" cy="8382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10FDF6-92E5-4449-A20C-A108960A5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581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ЭКСПЕРТНЫЙ АУДИТ ИТ И ИБ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E60018-7E65-4458-A4D0-CD7DA1F76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5905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02A63"/>
                </a:solidFill>
              </a:defRPr>
            </a:pPr>
            <a:r>
              <a:rPr sz="3600" b="1">
                <a:solidFill>
                  <a:srgbClr val="102A63"/>
                </a:solidFill>
              </a:rPr>
              <a:t>{{COMPANY}}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A485FA-6B66-4547-A027-52692F9A5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750"/>
            <a:ext cx="590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96780"/>
                </a:solidFill>
              </a:defRPr>
            </a:pPr>
            <a:r>
              <a:rPr sz="1500">
                <a:solidFill>
                  <a:srgbClr val="596780"/>
                </a:solidFill>
              </a:rPr>
              <a:t>{{INDUSTRY}}  •  {{CITY}}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3E918D-4BF0-478E-A4F3-072766017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18859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C10001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E80A06-F08D-4E05-8D9F-EEB6EBEF0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33950"/>
            <a:ext cx="1581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C20001"/>
                </a:solidFill>
              </a:defRPr>
            </a:pPr>
            <a:r>
              <a:rPr sz="1050" b="1">
                <a:solidFill>
                  <a:srgbClr val="C20001"/>
                </a:solidFill>
              </a:rPr>
              <a:t>Зрелость ИТ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1616D1-4EE0-4D10-876A-490CB5FE0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19700"/>
            <a:ext cx="1581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C20001"/>
                </a:solidFill>
              </a:defRPr>
            </a:pPr>
            <a:r>
              <a:rPr sz="2400" b="1">
                <a:solidFill>
                  <a:srgbClr val="C20001"/>
                </a:solidFill>
              </a:rPr>
              <a:t>{{IT_SCORE}}%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85015D-07AC-4757-B30F-4550CFAF1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762500"/>
            <a:ext cx="18859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C10002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54B998-1460-4EF5-B8DD-DEDE61B2D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933950"/>
            <a:ext cx="1581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C20002"/>
                </a:solidFill>
              </a:defRPr>
            </a:pPr>
            <a:r>
              <a:rPr sz="1050" b="1">
                <a:solidFill>
                  <a:srgbClr val="C20002"/>
                </a:solidFill>
              </a:rPr>
              <a:t>Зрелость ИБ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3D833D-3801-4984-A841-F71303CCE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5219700"/>
            <a:ext cx="1581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C20002"/>
                </a:solidFill>
              </a:defRPr>
            </a:pPr>
            <a:r>
              <a:rPr sz="2400" b="1">
                <a:solidFill>
                  <a:srgbClr val="C20002"/>
                </a:solidFill>
              </a:rPr>
              <a:t>{{SCORE}}%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CCC509-21C1-40BC-9A22-E8FECED0C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257800"/>
            <a:ext cx="1657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96780"/>
                </a:solidFill>
              </a:defRPr>
            </a:pPr>
            <a:r>
              <a:rPr sz="1200" b="1">
                <a:solidFill>
                  <a:srgbClr val="596780"/>
                </a:solidFill>
              </a:rPr>
              <a:t>{{DATE}}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E2A3B92-747D-4520-A310-45F098C13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96780"/>
                </a:solidFill>
              </a:defRPr>
            </a:pPr>
            <a:r>
              <a:rPr sz="1050" b="1">
                <a:solidFill>
                  <a:srgbClr val="596780"/>
                </a:solidFill>
              </a:rPr>
              <a:t>by Ivan Rudoy</a:t>
            </a:r>
          </a:p>
        </p:txBody>
      </p:sp>
    </p:spTree>
    <p:extLst>
      <p:ext uri="{BB962C8B-B14F-4D97-AF65-F5344CB8AC3E}">
        <p14:creationId xmlns:p14="http://schemas.microsoft.com/office/powerpoint/2010/main" val="100492952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E31D577-8326-4FFF-9A49-D18F5CAF2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5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91da8a58394285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E592DE-207B-4E6D-BFD3-A025C6094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Кто стоит за аудитом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6F9E7E-8AB2-4758-B248-E623C4984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6615DE-5412-44BA-B8C8-8F9218C20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16CEF0-06B4-45C3-8D2C-CA08FC94B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88536F-6927-4EAE-B254-5491B66E7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BBB16C-3E64-4A17-BBF6-CA9CC87AD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495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048A8"/>
                </a:solidFill>
              </a:defRPr>
            </a:pPr>
            <a:r>
              <a:rPr sz="1875" b="1">
                <a:solidFill>
                  <a:srgbClr val="2048A8"/>
                </a:solidFill>
              </a:rPr>
              <a:t>ТОО «Bolashak Tamer Group»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27F2D1-EE6F-4FED-BF61-B9638445B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52625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02A63"/>
                </a:solidFill>
              </a:defRPr>
            </a:pPr>
            <a:r>
              <a:rPr sz="1350">
                <a:solidFill>
                  <a:srgbClr val="102A63"/>
                </a:solidFill>
              </a:rPr>
              <a:t>Системный интегратор и поставщик ИТ-решений для государственных и корпоративных организаций.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4D072A-7217-432D-AE06-30CD4F095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67050"/>
            <a:ext cx="4953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02A63"/>
                </a:solidFill>
              </a:defRPr>
            </a:pPr>
            <a:r>
              <a:rPr sz="1500" b="1">
                <a:solidFill>
                  <a:srgbClr val="102A63"/>
                </a:solidFill>
              </a:rPr>
              <a:t>От аудита и проектирования - до внедрения, поддержки и развития.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D4BF73-EB70-4C80-B902-318D9D698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14800"/>
            <a:ext cx="1409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02A63"/>
                </a:solidFill>
              </a:defRPr>
            </a:pPr>
            <a:r>
              <a:rPr sz="2325" b="1">
                <a:solidFill>
                  <a:srgbClr val="102A63"/>
                </a:solidFill>
              </a:rPr>
              <a:t>2019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956F27-D590-4E39-AB77-0301606A6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81525"/>
            <a:ext cx="1409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год основания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2398AE-4B27-4A38-A14E-BAF9A5D91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114800"/>
            <a:ext cx="1409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02A63"/>
                </a:solidFill>
              </a:defRPr>
            </a:pPr>
            <a:r>
              <a:rPr sz="2700" b="1">
                <a:solidFill>
                  <a:srgbClr val="102A63"/>
                </a:solidFill>
              </a:rPr>
              <a:t>70+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5DCBE4-C25E-4AA0-AB91-4E96B3033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581525"/>
            <a:ext cx="1409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крупных проектов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CA1771-99E3-4D81-A672-6E27D0731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114800"/>
            <a:ext cx="1409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02A63"/>
                </a:solidFill>
              </a:defRPr>
            </a:pPr>
            <a:r>
              <a:rPr sz="2325" b="1">
                <a:solidFill>
                  <a:srgbClr val="102A63"/>
                </a:solidFill>
              </a:rPr>
              <a:t>40+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863707-845E-45AE-BD08-1277FD1BC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581525"/>
            <a:ext cx="1409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технологических партнеров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67AF132-5854-4DAF-9830-1D62ED7B5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14950"/>
            <a:ext cx="4953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ABBBAFF-6912-4FE7-97D7-05868D34B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44830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A63"/>
                </a:solidFill>
              </a:defRPr>
            </a:pPr>
            <a:r>
              <a:rPr sz="1125" b="1">
                <a:solidFill>
                  <a:srgbClr val="102A63"/>
                </a:solidFill>
              </a:rPr>
              <a:t>Одна команда отвечает за архитектуру, безопасность и практическую реализацию.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0279CC-53DF-4336-A047-58D119C06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4668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1586A15-13A3-4980-94DD-6FA1EFCEC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428750"/>
            <a:ext cx="4629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02A63"/>
                </a:solidFill>
              </a:defRPr>
            </a:pPr>
            <a:r>
              <a:rPr sz="1425" b="1">
                <a:solidFill>
                  <a:srgbClr val="102A63"/>
                </a:solidFill>
              </a:rPr>
              <a:t>Информационная безопасность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2B393C6-471A-4DE2-ABA7-F5DAB0CFE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71650"/>
            <a:ext cx="4629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Аудит, проектирование защиты, внедрение, поддержка и обучение.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B7AAB23-22D5-4CF2-B899-2DFAE1290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409825"/>
            <a:ext cx="4629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391A08E-14AB-4A58-ABA8-507A1E08F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600325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B0E8DAD-3C9F-4F08-8D57-1E0EEC8F4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62225"/>
            <a:ext cx="4629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02A63"/>
                </a:solidFill>
              </a:defRPr>
            </a:pPr>
            <a:r>
              <a:rPr sz="1425" b="1">
                <a:solidFill>
                  <a:srgbClr val="102A63"/>
                </a:solidFill>
              </a:rPr>
              <a:t>Системная интеграция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376C99C-9C02-4E6B-9E51-CECC14155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905125"/>
            <a:ext cx="4629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Сетевая, серверная и вычислительная инфраструктура под ключ.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A8F4DC1-6520-464D-A062-5B4E4E0C5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543300"/>
            <a:ext cx="4629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228C9BC-70E9-42DC-BD1F-668ABE141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73380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1C146DF-8B99-49F0-9549-F68E1F5D2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695700"/>
            <a:ext cx="4629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02A63"/>
                </a:solidFill>
              </a:defRPr>
            </a:pPr>
            <a:r>
              <a:rPr sz="1425" b="1">
                <a:solidFill>
                  <a:srgbClr val="102A63"/>
                </a:solidFill>
              </a:rPr>
              <a:t>Автоматизация процессов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8255B7E-6E2E-4A1C-89C9-1909BBD17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38600"/>
            <a:ext cx="4629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СЭД, low-code, ESM/BPM и цифровые решения для бизнеса.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A4681E-FC1B-49C4-ABD0-12585B5A4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676775"/>
            <a:ext cx="4629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0CD3568-90C2-41B8-9E63-3974B04DE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867275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04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06C94C4-947D-42E1-ABA4-C3FDAEB42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829175"/>
            <a:ext cx="4629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02A63"/>
                </a:solidFill>
              </a:defRPr>
            </a:pPr>
            <a:r>
              <a:rPr sz="1425" b="1">
                <a:solidFill>
                  <a:srgbClr val="102A63"/>
                </a:solidFill>
              </a:rPr>
              <a:t>Сопровождение и развитие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7010A83-6580-466F-872F-B061C839D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172075"/>
            <a:ext cx="4629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Рабочие сессии, внедрение, поддержка и передача знаний команде.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99F8F0F-F3BF-47E1-8534-11926CAF2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05F70F8-F789-46E3-9AA4-E35045AAC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9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e4f65935b843a8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88A6DEB-D58A-4A7D-8994-A167417FC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Аудит в одном экране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4CFE81F-C6EC-4705-B228-606ED4B10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AD0AC2B-8399-409E-82DD-1C1EC5DC2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D241FBB-030D-4AC5-A513-FC33B9621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C87D740-1516-4F4E-9AAA-FA52F1453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9C30A30-1F26-4F56-A495-CCBB83E9B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6858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02A63"/>
                </a:solidFill>
              </a:defRPr>
            </a:pPr>
            <a:r>
              <a:rPr sz="2175" b="1">
                <a:solidFill>
                  <a:srgbClr val="102A63"/>
                </a:solidFill>
              </a:rPr>
              <a:t>{{SUMMARY_TITLE}}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D977766-9934-4D2D-BCB0-4875A82A9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409700"/>
            <a:ext cx="15049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C1000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5D5429C-7792-4644-9434-D87BB908A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619250"/>
            <a:ext cx="116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C20001"/>
                </a:solidFill>
              </a:defRPr>
            </a:pPr>
            <a:r>
              <a:rPr sz="900" b="1">
                <a:solidFill>
                  <a:srgbClr val="C20001"/>
                </a:solidFill>
              </a:rPr>
              <a:t>ЗРЕЛОСТЬ ИТ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60DF17C-9C1A-4AB2-A8D5-58086B5DA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914525"/>
            <a:ext cx="116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C20001"/>
                </a:solidFill>
              </a:defRPr>
            </a:pPr>
            <a:r>
              <a:rPr sz="2550" b="1">
                <a:solidFill>
                  <a:srgbClr val="C20001"/>
                </a:solidFill>
              </a:rPr>
              <a:t>{{IT_SCORE}}%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A1379D0-4E3C-4AD5-9112-AD1417D4D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1409700"/>
            <a:ext cx="15049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C1000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846E74A-0680-487B-9B14-D2D6A6175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1619250"/>
            <a:ext cx="116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C20002"/>
                </a:solidFill>
              </a:defRPr>
            </a:pPr>
            <a:r>
              <a:rPr sz="900" b="1">
                <a:solidFill>
                  <a:srgbClr val="C20002"/>
                </a:solidFill>
              </a:rPr>
              <a:t>ЗРЕЛОСТЬ ИБ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D491D72-D0DD-4FD3-966B-218271124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1914525"/>
            <a:ext cx="1162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C20002"/>
                </a:solidFill>
              </a:defRPr>
            </a:pPr>
            <a:r>
              <a:rPr sz="2550" b="1">
                <a:solidFill>
                  <a:srgbClr val="C20002"/>
                </a:solidFill>
              </a:rPr>
              <a:t>{{SCORE}}%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D36B4C0-9753-4A00-872A-54A67B9F1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146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2048A8"/>
                </a:solidFill>
              </a:defRPr>
            </a:pPr>
            <a:r>
              <a:rPr sz="1425" b="1">
                <a:solidFill>
                  <a:srgbClr val="2048A8"/>
                </a:solidFill>
              </a:rPr>
              <a:t>Ключевые наблюдения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C93DAE8-5BDE-4A2E-BB68-3F4D3D17F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80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048A8"/>
                </a:solidFill>
              </a:defRPr>
            </a:pPr>
            <a:r>
              <a:rPr sz="1275" b="1">
                <a:solidFill>
                  <a:srgbClr val="2048A8"/>
                </a:solidFill>
              </a:rPr>
              <a:t>01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A1763F7-97A4-4300-B872-66FCCAD2E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390900"/>
            <a:ext cx="100488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02A63"/>
                </a:solidFill>
              </a:defRPr>
            </a:pPr>
            <a:r>
              <a:rPr sz="1350">
                <a:solidFill>
                  <a:srgbClr val="102A63"/>
                </a:solidFill>
              </a:rPr>
              <a:t>{{SUMMARY_1}}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6E95A55-5926-4B7C-AA44-AE61AB1C0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095750"/>
            <a:ext cx="10048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EEB0A2C-4AFB-4E4A-B3AD-965E1727E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243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048A8"/>
                </a:solidFill>
              </a:defRPr>
            </a:pPr>
            <a:r>
              <a:rPr sz="1275" b="1">
                <a:solidFill>
                  <a:srgbClr val="2048A8"/>
                </a:solidFill>
              </a:rPr>
              <a:t>02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45EC6DA-DFCC-406D-A412-D38787B7F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267200"/>
            <a:ext cx="100488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02A63"/>
                </a:solidFill>
              </a:defRPr>
            </a:pPr>
            <a:r>
              <a:rPr sz="1350">
                <a:solidFill>
                  <a:srgbClr val="102A63"/>
                </a:solidFill>
              </a:rPr>
              <a:t>{{SUMMARY_2}}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46C64F3-D81B-4F23-889D-148807B76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972050"/>
            <a:ext cx="10048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98D4FFD-AD30-49CC-B164-D342BBD9A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00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048A8"/>
                </a:solidFill>
              </a:defRPr>
            </a:pPr>
            <a:r>
              <a:rPr sz="1275" b="1">
                <a:solidFill>
                  <a:srgbClr val="2048A8"/>
                </a:solidFill>
              </a:rPr>
              <a:t>03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EDCC406-2DD4-46EC-AF6D-B3B70E4D4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143500"/>
            <a:ext cx="100488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02A63"/>
                </a:solidFill>
              </a:defRPr>
            </a:pPr>
            <a:r>
              <a:rPr sz="1350">
                <a:solidFill>
                  <a:srgbClr val="102A63"/>
                </a:solidFill>
              </a:rPr>
              <a:t>{{SUMMARY_3}}</a:t>
            </a:r>
          </a:p>
        </p:txBody>
      </p:sp>
    </p:spTree>
    <p:extLst>
      <p:ext uri="{BB962C8B-B14F-4D97-AF65-F5344CB8AC3E}">
        <p14:creationId xmlns:p14="http://schemas.microsoft.com/office/powerpoint/2010/main" val="180765009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6EEDB5A-F308-42A4-BE0D-9752ABA4D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bc0d2f93cf4828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19ECD4-19AD-44FD-A8B7-BAEC9B633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Профиль покрытия ключевых контролей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22A5B1-59B9-4432-B9D0-081B781C8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EB1069-3913-47A7-91B5-4501A6976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6A47D6-7998-43AF-B2CB-1B58BFB8E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2CCD23-4CB4-4892-95C8-1F16E8C38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FEA680-C157-4F74-BA7B-A30C15981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335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2048A8"/>
                </a:solidFill>
              </a:defRPr>
            </a:pPr>
            <a:r>
              <a:rPr sz="1425" b="1">
                <a:solidFill>
                  <a:srgbClr val="2048A8"/>
                </a:solidFill>
              </a:rPr>
              <a:t>0% — контроль не подтвержден; 100% — целевой контур закрыт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8BCF5D-A490-400B-9FC5-75D7E8419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95450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96780"/>
                </a:solidFill>
              </a:defRPr>
            </a:pPr>
            <a:r>
              <a:rPr sz="1050">
                <a:solidFill>
                  <a:srgbClr val="596780"/>
                </a:solidFill>
              </a:rPr>
              <a:t>Красный требует первоочередного решения, желтый — управляемого плана, зеленый — контроля эффективности.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1A278E-1694-4B50-8BF8-A7F556521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333500"/>
            <a:ext cx="22669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80D136-671A-4E53-901B-BCDB57B62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428750"/>
            <a:ext cx="781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02A63"/>
                </a:solidFill>
              </a:defRPr>
            </a:pPr>
            <a:r>
              <a:rPr sz="2025" b="1">
                <a:solidFill>
                  <a:srgbClr val="102A63"/>
                </a:solidFill>
              </a:rPr>
              <a:t>{{COVERAGE_AVERAGE}}%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2E2561-733E-4477-955C-971B54715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1504950"/>
            <a:ext cx="106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596780"/>
                </a:solidFill>
              </a:defRPr>
            </a:pPr>
            <a:r>
              <a:rPr sz="900" b="1">
                <a:solidFill>
                  <a:srgbClr val="596780"/>
                </a:solidFill>
              </a:rPr>
              <a:t>среднее покрытие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6420B6-FF1B-457C-A26A-F107656ED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247900"/>
            <a:ext cx="1257300" cy="1257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3000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43ACFD-FB91-48CF-BCDE-78DAA2C12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41935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042D92-D879-4273-A996-9C7490928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695575"/>
            <a:ext cx="838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02A63"/>
                </a:solidFill>
              </a:defRPr>
            </a:pPr>
            <a:r>
              <a:rPr sz="1800" b="1">
                <a:solidFill>
                  <a:srgbClr val="102A63"/>
                </a:solidFill>
              </a:rPr>
              <a:t>{{THREAT_1_VALUE}}%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E29C220-EFA6-42F1-820F-938BC5C7B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38550"/>
            <a:ext cx="2247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02A63"/>
                </a:solidFill>
              </a:defRPr>
            </a:pPr>
            <a:r>
              <a:rPr sz="1200" b="1">
                <a:solidFill>
                  <a:srgbClr val="102A63"/>
                </a:solidFill>
              </a:rPr>
              <a:t>{{THREAT_1_LABEL}}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AC29238-739B-45CB-A529-076850739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33825"/>
            <a:ext cx="2247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>
                <a:solidFill>
                  <a:srgbClr val="596780"/>
                </a:solidFill>
              </a:defRPr>
            </a:pPr>
            <a:r>
              <a:rPr sz="900">
                <a:solidFill>
                  <a:srgbClr val="596780"/>
                </a:solidFill>
              </a:rPr>
              <a:t>уровень покрытия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46C913-44FE-4894-991B-EB386F56C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247900"/>
            <a:ext cx="1257300" cy="1257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3000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4A01931-9907-4C0A-9F90-7C03F5558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41935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553741E-AC99-4BEC-8B5F-FAA64EBD0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695575"/>
            <a:ext cx="838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02A63"/>
                </a:solidFill>
              </a:defRPr>
            </a:pPr>
            <a:r>
              <a:rPr sz="1800" b="1">
                <a:solidFill>
                  <a:srgbClr val="102A63"/>
                </a:solidFill>
              </a:rPr>
              <a:t>{{THREAT_2_VALUE}}%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E56E1F-C101-4543-8650-67C0A7225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638550"/>
            <a:ext cx="2247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02A63"/>
                </a:solidFill>
              </a:defRPr>
            </a:pPr>
            <a:r>
              <a:rPr sz="1200" b="1">
                <a:solidFill>
                  <a:srgbClr val="102A63"/>
                </a:solidFill>
              </a:rPr>
              <a:t>{{THREAT_2_LABEL}}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BF9F52F-5F86-455F-A838-B2181898F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933825"/>
            <a:ext cx="2247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>
                <a:solidFill>
                  <a:srgbClr val="596780"/>
                </a:solidFill>
              </a:defRPr>
            </a:pPr>
            <a:r>
              <a:rPr sz="900">
                <a:solidFill>
                  <a:srgbClr val="596780"/>
                </a:solidFill>
              </a:rPr>
              <a:t>уровень покрытия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571B67A-8943-4280-B837-506586CB9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247900"/>
            <a:ext cx="1257300" cy="1257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3000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9CE8040-EE48-4E09-BDAF-8E1226513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41935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CA2D459-6C47-48D6-AB4F-6D1CEA48C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695575"/>
            <a:ext cx="838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02A63"/>
                </a:solidFill>
              </a:defRPr>
            </a:pPr>
            <a:r>
              <a:rPr sz="1800" b="1">
                <a:solidFill>
                  <a:srgbClr val="102A63"/>
                </a:solidFill>
              </a:rPr>
              <a:t>{{THREAT_3_VALUE}}%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31381E2-DE55-497C-86DC-8BA48D2DF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638550"/>
            <a:ext cx="2247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02A63"/>
                </a:solidFill>
              </a:defRPr>
            </a:pPr>
            <a:r>
              <a:rPr sz="1200" b="1">
                <a:solidFill>
                  <a:srgbClr val="102A63"/>
                </a:solidFill>
              </a:rPr>
              <a:t>{{THREAT_3_LABEL}}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BED3C14-C0DD-46A4-8DA4-B4AE5A3DC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933825"/>
            <a:ext cx="2247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>
                <a:solidFill>
                  <a:srgbClr val="596780"/>
                </a:solidFill>
              </a:defRPr>
            </a:pPr>
            <a:r>
              <a:rPr sz="900">
                <a:solidFill>
                  <a:srgbClr val="596780"/>
                </a:solidFill>
              </a:rPr>
              <a:t>уровень покрытия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FCD163A-F8B7-43DC-BAD6-BDC260E10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48150"/>
            <a:ext cx="1257300" cy="1257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3000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4CE66A2-F82C-4029-8769-A2458778C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41960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F85EFF7-EA7D-470B-9D52-D9603DA9E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695825"/>
            <a:ext cx="838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02A63"/>
                </a:solidFill>
              </a:defRPr>
            </a:pPr>
            <a:r>
              <a:rPr sz="1800" b="1">
                <a:solidFill>
                  <a:srgbClr val="102A63"/>
                </a:solidFill>
              </a:rPr>
              <a:t>{{THREAT_4_VALUE}}%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3517125-AD00-4F41-A898-F89059A57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638800"/>
            <a:ext cx="2247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02A63"/>
                </a:solidFill>
              </a:defRPr>
            </a:pPr>
            <a:r>
              <a:rPr sz="1200" b="1">
                <a:solidFill>
                  <a:srgbClr val="102A63"/>
                </a:solidFill>
              </a:rPr>
              <a:t>{{THREAT_4_LABEL}}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D92FCFC-7B37-4A29-9D13-400BAF70C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34075"/>
            <a:ext cx="2247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>
                <a:solidFill>
                  <a:srgbClr val="596780"/>
                </a:solidFill>
              </a:defRPr>
            </a:pPr>
            <a:r>
              <a:rPr sz="900">
                <a:solidFill>
                  <a:srgbClr val="596780"/>
                </a:solidFill>
              </a:rPr>
              <a:t>уровень покрытия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61A22BC-C607-4353-8DDC-E384C4D47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248150"/>
            <a:ext cx="1257300" cy="1257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3000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4A8EBD9-2E3B-4176-845C-A5E616155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41960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4BD3130-F9EA-4A9B-8FBF-DA2AF81D0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695825"/>
            <a:ext cx="838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02A63"/>
                </a:solidFill>
              </a:defRPr>
            </a:pPr>
            <a:r>
              <a:rPr sz="1800" b="1">
                <a:solidFill>
                  <a:srgbClr val="102A63"/>
                </a:solidFill>
              </a:rPr>
              <a:t>{{THREAT_5_VALUE}}%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820BDFF-5248-4C4D-A0EA-2769F78FD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5638800"/>
            <a:ext cx="2247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02A63"/>
                </a:solidFill>
              </a:defRPr>
            </a:pPr>
            <a:r>
              <a:rPr sz="1200" b="1">
                <a:solidFill>
                  <a:srgbClr val="102A63"/>
                </a:solidFill>
              </a:rPr>
              <a:t>{{THREAT_5_LABEL}}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48EBE50-DB1B-43BD-BC02-F4B4623D9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5934075"/>
            <a:ext cx="2247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>
                <a:solidFill>
                  <a:srgbClr val="596780"/>
                </a:solidFill>
              </a:defRPr>
            </a:pPr>
            <a:r>
              <a:rPr sz="900">
                <a:solidFill>
                  <a:srgbClr val="596780"/>
                </a:solidFill>
              </a:rPr>
              <a:t>уровень покрытия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D3E7B0A-981A-4CF5-8DE7-365A35C93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248150"/>
            <a:ext cx="1257300" cy="1257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3000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D98E8A5-A25D-43E0-A013-E12D57878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41960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CBEC312-EB1D-4C49-B5E3-3B6234C4A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695825"/>
            <a:ext cx="838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02A63"/>
                </a:solidFill>
              </a:defRPr>
            </a:pPr>
            <a:r>
              <a:rPr sz="1800" b="1">
                <a:solidFill>
                  <a:srgbClr val="102A63"/>
                </a:solidFill>
              </a:rPr>
              <a:t>{{THREAT_6_VALUE}}%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AFB7FBE-5B59-4915-9621-3D975C968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638800"/>
            <a:ext cx="2247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02A63"/>
                </a:solidFill>
              </a:defRPr>
            </a:pPr>
            <a:r>
              <a:rPr sz="1200" b="1">
                <a:solidFill>
                  <a:srgbClr val="102A63"/>
                </a:solidFill>
              </a:rPr>
              <a:t>{{THREAT_6_LABEL}}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2BC7AFF-6CBC-44CB-8889-3F92F93E0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934075"/>
            <a:ext cx="2247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>
                <a:solidFill>
                  <a:srgbClr val="596780"/>
                </a:solidFill>
              </a:defRPr>
            </a:pPr>
            <a:r>
              <a:rPr sz="900">
                <a:solidFill>
                  <a:srgbClr val="596780"/>
                </a:solidFill>
              </a:rPr>
              <a:t>уровень покрытия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C7D1508-713D-4DB6-B31E-679EA1747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72200"/>
            <a:ext cx="106489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39BE2AE-4FA1-4108-B4EB-EC4E3955C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248400"/>
            <a:ext cx="10267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02A63"/>
                </a:solidFill>
              </a:defRPr>
            </a:pPr>
            <a:r>
              <a:rPr sz="900" b="1">
                <a:solidFill>
                  <a:srgbClr val="102A63"/>
                </a:solidFill>
              </a:rPr>
              <a:t>{{COVERAGE_INSIGHT}}</a:t>
            </a:r>
          </a:p>
        </p:txBody>
      </p:sp>
    </p:spTree>
    <p:extLst>
      <p:ext uri="{BB962C8B-B14F-4D97-AF65-F5344CB8AC3E}">
        <p14:creationId xmlns:p14="http://schemas.microsoft.com/office/powerpoint/2010/main" val="34942435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C4C0BD5-6658-4A57-B30C-1F697ABCD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1da3cfb2d840f7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094A8B-3F05-44D1-9EB6-EE75C2133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Контекст среды и уже работающие контроли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74085E-68D1-41DB-BC11-74BFBBD31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516CED-4A97-417D-9BE0-25022B912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69166E-BA54-48E0-83E3-EE1210350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99293F-F42A-4318-B03F-C71038B89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69CA15-2ED2-4F0A-B5BD-54901AE8A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76375"/>
            <a:ext cx="2476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9525">
            <a:solidFill>
              <a:srgbClr val="2048A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099E5E-DB15-41B8-8E7C-5C25F18BD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57350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{{USERS}}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4AE2D1-C7A0-4627-BEC8-9CD14EAD4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812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FFFFFF"/>
                </a:solidFill>
              </a:defRPr>
            </a:pPr>
            <a:r>
              <a:rPr sz="1125">
                <a:solidFill>
                  <a:srgbClr val="FFFFFF"/>
                </a:solidFill>
              </a:rPr>
              <a:t>рабочих мест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4132B9-3114-4344-B83A-2A1EC7294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1476375"/>
            <a:ext cx="2476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9BC7BE-ECCF-448F-BF35-1FCE7F07A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1657350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02A63"/>
                </a:solidFill>
              </a:defRPr>
            </a:pPr>
            <a:r>
              <a:rPr sz="2400" b="1">
                <a:solidFill>
                  <a:srgbClr val="102A63"/>
                </a:solidFill>
              </a:rPr>
              <a:t>{{SERVERS}}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AF60B1-26CC-498A-8672-81F314D16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1812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серверов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7263520-F555-46AB-B0F6-AD9FD9ABD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476375"/>
            <a:ext cx="2476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8904B8-30CA-417B-82FE-870B80E2A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657350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02A63"/>
                </a:solidFill>
              </a:defRPr>
            </a:pPr>
            <a:r>
              <a:rPr sz="2400" b="1">
                <a:solidFill>
                  <a:srgbClr val="102A63"/>
                </a:solidFill>
              </a:rPr>
              <a:t>{{PUBLIC}}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68F6E71-F766-4B4D-A930-7C0FE3DE4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812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публичные сервисы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B3D27B-BDFC-4E5E-AED9-A392113DF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1476375"/>
            <a:ext cx="2476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9E8645-76F5-4BD6-BAD6-52AA3702E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657350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02A63"/>
                </a:solidFill>
              </a:defRPr>
            </a:pPr>
            <a:r>
              <a:rPr sz="2400" b="1">
                <a:solidFill>
                  <a:srgbClr val="102A63"/>
                </a:solidFill>
              </a:rPr>
              <a:t>{{BUSINESS}}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F97D0D6-6F2B-403C-B459-3E94AB664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1812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бизнес-системы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89A5EC1-DB44-4CE1-84A4-33A986F9C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0990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048A8"/>
                </a:solidFill>
              </a:defRPr>
            </a:pPr>
            <a:r>
              <a:rPr sz="1275" b="1">
                <a:solidFill>
                  <a:srgbClr val="2048A8"/>
                </a:solidFill>
              </a:rPr>
              <a:t>Профиль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BCEC238-B233-476F-8BFE-1B9E717A9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14700"/>
            <a:ext cx="10648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63"/>
                </a:solidFill>
              </a:defRPr>
            </a:pPr>
            <a:r>
              <a:rPr sz="1350" b="1">
                <a:solidFill>
                  <a:srgbClr val="102A63"/>
                </a:solidFill>
              </a:rPr>
              <a:t>{{PROFILE}}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339AAF8-266D-42C8-96F2-C2ECBABD1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148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048A8"/>
                </a:solidFill>
              </a:defRPr>
            </a:pPr>
            <a:r>
              <a:rPr sz="1350" b="1">
                <a:solidFill>
                  <a:srgbClr val="2048A8"/>
                </a:solidFill>
              </a:rPr>
              <a:t>Подтвержденные сильные стороны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D45FC29-E475-475D-AB3C-4F962F8CD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91050"/>
            <a:ext cx="66675" cy="1333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7EC4781-BC35-4E6E-A616-6F00C05BE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67250"/>
            <a:ext cx="31051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02A63"/>
                </a:solidFill>
              </a:defRPr>
            </a:pPr>
            <a:r>
              <a:rPr sz="1275" b="1">
                <a:solidFill>
                  <a:srgbClr val="102A63"/>
                </a:solidFill>
              </a:rPr>
              <a:t>{{STRENGTH_1}}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5ABF1BB-8B88-4117-AEBE-B570EBDBE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591050"/>
            <a:ext cx="66675" cy="1333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DF799C1-0B0F-4B08-8CC6-4586B3D07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667250"/>
            <a:ext cx="31051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02A63"/>
                </a:solidFill>
              </a:defRPr>
            </a:pPr>
            <a:r>
              <a:rPr sz="1275" b="1">
                <a:solidFill>
                  <a:srgbClr val="102A63"/>
                </a:solidFill>
              </a:rPr>
              <a:t>{{STRENGTH_2}}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B901829-78A7-42A8-AE29-ADB4F05B2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591050"/>
            <a:ext cx="66675" cy="1333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D5ACD58-570C-4992-AAD4-404C7AB33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667250"/>
            <a:ext cx="31051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02A63"/>
                </a:solidFill>
              </a:defRPr>
            </a:pPr>
            <a:r>
              <a:rPr sz="1275" b="1">
                <a:solidFill>
                  <a:srgbClr val="102A63"/>
                </a:solidFill>
              </a:rPr>
              <a:t>{{STRENGTH_3}}</a:t>
            </a:r>
          </a:p>
        </p:txBody>
      </p:sp>
    </p:spTree>
    <p:extLst>
      <p:ext uri="{BB962C8B-B14F-4D97-AF65-F5344CB8AC3E}">
        <p14:creationId xmlns:p14="http://schemas.microsoft.com/office/powerpoint/2010/main" val="101888375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15C91B6-F354-4A84-BF16-7087F31F0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1699691eb14dfa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8B90B1-FDE7-4338-A2DD-0DAD595C5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Карта подтвержденных рисков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FF8229-65A2-4AE1-A083-32FB27CA9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D76ADB-00C8-4EEE-8CE2-29DA96F02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D64783-FD59-4CF8-A819-D265BFE76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550190-E6AF-4374-942F-EB3B8D2F0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58C17D-2E1C-4AD1-BEDD-60600353F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51625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B6F96D-DCB9-4631-9152-719E48E90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028700" cy="13525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A1000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B018BC-C426-49DE-800E-0D0F8C763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905000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A20001"/>
                </a:solidFill>
              </a:defRPr>
            </a:pPr>
            <a:r>
              <a:rPr sz="900" b="1">
                <a:solidFill>
                  <a:srgbClr val="A20001"/>
                </a:solidFill>
              </a:rPr>
              <a:t>{{RISK_1_LEVEL}}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08CD4E-7B86-426E-9AE0-F0DB437C7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543050"/>
            <a:ext cx="3695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02A63"/>
                </a:solidFill>
              </a:defRPr>
            </a:pPr>
            <a:r>
              <a:rPr sz="1275" b="1">
                <a:solidFill>
                  <a:srgbClr val="102A63"/>
                </a:solidFill>
              </a:rPr>
              <a:t>{{RISK_1_TITLE}}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0B5470-E2CF-4F09-92A8-6CE877FA4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019300"/>
            <a:ext cx="3695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{{RISK_1_IMPACT}}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6D836A-434D-4AB3-8C5F-86654C0A5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390650"/>
            <a:ext cx="51625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E2C9BB-2A68-4EA1-9B31-BC61D8566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390650"/>
            <a:ext cx="1028700" cy="13525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A1000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EEF1553-ED43-49FF-9EC5-EC2BC3B89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905000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A20002"/>
                </a:solidFill>
              </a:defRPr>
            </a:pPr>
            <a:r>
              <a:rPr sz="900" b="1">
                <a:solidFill>
                  <a:srgbClr val="A20002"/>
                </a:solidFill>
              </a:rPr>
              <a:t>{{RISK_2_LEVEL}}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748506-7ACE-49DE-9B30-87AA03C2A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1543050"/>
            <a:ext cx="3695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02A63"/>
                </a:solidFill>
              </a:defRPr>
            </a:pPr>
            <a:r>
              <a:rPr sz="1275" b="1">
                <a:solidFill>
                  <a:srgbClr val="102A63"/>
                </a:solidFill>
              </a:rPr>
              <a:t>{{RISK_2_TITLE}}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239C57-E82B-4B8A-B5AE-596AE87AF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019300"/>
            <a:ext cx="3695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{{RISK_2_IMPACT}}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E88CBEC-8DCF-4FFA-9EAB-F6DC0EDAE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52750"/>
            <a:ext cx="51625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AA0BDBA-33F8-4296-874F-6CCEB03FB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52750"/>
            <a:ext cx="1028700" cy="13525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A1000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FE06D95-34C4-4C58-902C-E3EF3C2E6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67100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A20003"/>
                </a:solidFill>
              </a:defRPr>
            </a:pPr>
            <a:r>
              <a:rPr sz="900" b="1">
                <a:solidFill>
                  <a:srgbClr val="A20003"/>
                </a:solidFill>
              </a:rPr>
              <a:t>{{RISK_3_LEVEL}}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E92D5BB-73FB-4E97-BE81-FE446C7D5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105150"/>
            <a:ext cx="3695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02A63"/>
                </a:solidFill>
              </a:defRPr>
            </a:pPr>
            <a:r>
              <a:rPr sz="1275" b="1">
                <a:solidFill>
                  <a:srgbClr val="102A63"/>
                </a:solidFill>
              </a:rPr>
              <a:t>{{RISK_3_TITLE}}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71A019C-DCDC-4947-BE4F-A6CF3AC26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581400"/>
            <a:ext cx="3695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{{RISK_3_IMPACT}}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C8E5159-C885-40B6-9B86-12E7763B2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952750"/>
            <a:ext cx="51625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7F636C3-C0AC-4AB6-909D-E971AA628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952750"/>
            <a:ext cx="1028700" cy="13525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A1000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57FEEDA-5A8F-4A82-A762-ADEE9B1FC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467100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A20004"/>
                </a:solidFill>
              </a:defRPr>
            </a:pPr>
            <a:r>
              <a:rPr sz="900" b="1">
                <a:solidFill>
                  <a:srgbClr val="A20004"/>
                </a:solidFill>
              </a:rPr>
              <a:t>{{RISK_4_LEVEL}}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196DD0B-B045-40CF-9501-B2214AA72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105150"/>
            <a:ext cx="3695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02A63"/>
                </a:solidFill>
              </a:defRPr>
            </a:pPr>
            <a:r>
              <a:rPr sz="1275" b="1">
                <a:solidFill>
                  <a:srgbClr val="102A63"/>
                </a:solidFill>
              </a:rPr>
              <a:t>{{RISK_4_TITLE}}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2FA70F2-C100-4F05-A75C-687118626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581400"/>
            <a:ext cx="3695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{{RISK_4_IMPACT}}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59C78E9-94E4-4431-9D12-605B13356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14850"/>
            <a:ext cx="51625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4C25685-DF83-49C7-998F-459A1AA5C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14850"/>
            <a:ext cx="1028700" cy="13525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A1000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2AF4A35-7DC5-45B8-9F89-828799C93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029200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A20005"/>
                </a:solidFill>
              </a:defRPr>
            </a:pPr>
            <a:r>
              <a:rPr sz="900" b="1">
                <a:solidFill>
                  <a:srgbClr val="A20005"/>
                </a:solidFill>
              </a:rPr>
              <a:t>{{RISK_5_LEVEL}}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FA98EA7-ECDE-4D47-8478-75FB80676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667250"/>
            <a:ext cx="3695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02A63"/>
                </a:solidFill>
              </a:defRPr>
            </a:pPr>
            <a:r>
              <a:rPr sz="1275" b="1">
                <a:solidFill>
                  <a:srgbClr val="102A63"/>
                </a:solidFill>
              </a:rPr>
              <a:t>{{RISK_5_TITLE}}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B8BDF87-90A6-4C4C-91FB-BB02450BE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5143500"/>
            <a:ext cx="3695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{{RISK_5_IMPACT}}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7609F70-CCB2-425C-BE20-4D37F1967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514850"/>
            <a:ext cx="51625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8F50BE8-482C-4A0F-AA92-5A4BDC029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514850"/>
            <a:ext cx="1028700" cy="135255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A1000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68EAF1B-859A-4FBE-A3EC-F82102DC2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5029200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A20006"/>
                </a:solidFill>
              </a:defRPr>
            </a:pPr>
            <a:r>
              <a:rPr sz="900" b="1">
                <a:solidFill>
                  <a:srgbClr val="A20006"/>
                </a:solidFill>
              </a:rPr>
              <a:t>{{RISK_6_LEVEL}}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C5C64E6-50BD-4A7B-B30D-54B70B1ED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4667250"/>
            <a:ext cx="3695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02A63"/>
                </a:solidFill>
              </a:defRPr>
            </a:pPr>
            <a:r>
              <a:rPr sz="1275" b="1">
                <a:solidFill>
                  <a:srgbClr val="102A63"/>
                </a:solidFill>
              </a:rPr>
              <a:t>{{RISK_6_TITLE}}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3EBF66E-6450-4F0C-8F2B-1005A565D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5143500"/>
            <a:ext cx="3695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{{RISK_6_IMPACT}}</a:t>
            </a:r>
          </a:p>
        </p:txBody>
      </p:sp>
    </p:spTree>
    <p:extLst>
      <p:ext uri="{BB962C8B-B14F-4D97-AF65-F5344CB8AC3E}">
        <p14:creationId xmlns:p14="http://schemas.microsoft.com/office/powerpoint/2010/main" val="5156463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0090B9F-A841-4A3E-974E-8907A2ECB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f788fc9af74394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5A83B8-2F74-40B9-B8F8-16BE38671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Почему требования применимы к вашей организации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4EE3AF-C59E-41FA-B9F5-FDD18BC3E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C79727-B334-4FF7-97D8-1806CC013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1170B2-0261-4E03-9554-97914028D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E9B089-F392-4573-A4F2-EBAE3D4EF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E2639C-8DFF-454F-A9EC-6F2EBC801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71600"/>
            <a:ext cx="106489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048A8"/>
                </a:solidFill>
              </a:defRPr>
            </a:pPr>
            <a:r>
              <a:rPr sz="2025" b="1">
                <a:solidFill>
                  <a:srgbClr val="2048A8"/>
                </a:solidFill>
              </a:rPr>
              <a:t>{{REG_TITLE}}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717178-F25C-4FA7-A826-2682F6E92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1935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048A8"/>
                </a:solidFill>
              </a:defRPr>
            </a:pPr>
            <a:r>
              <a:rPr sz="1125" b="1">
                <a:solidFill>
                  <a:srgbClr val="2048A8"/>
                </a:solidFill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A49C09-6B3E-4FE4-B175-8ACC4D032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781300"/>
            <a:ext cx="3105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02A63"/>
                </a:solidFill>
              </a:defRPr>
            </a:pPr>
            <a:r>
              <a:rPr sz="1500" b="1">
                <a:solidFill>
                  <a:srgbClr val="102A63"/>
                </a:solidFill>
              </a:rPr>
              <a:t>Основание профиля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77F744-0998-47B8-B195-396F9AA32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29000"/>
            <a:ext cx="31051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96780"/>
                </a:solidFill>
              </a:defRPr>
            </a:pPr>
            <a:r>
              <a:rPr sz="1200">
                <a:solidFill>
                  <a:srgbClr val="596780"/>
                </a:solidFill>
              </a:rPr>
              <a:t>{{REG_APPLICABILITY}}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74D7A87-D6C6-4D0D-885B-4B1DEEEDF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400300"/>
            <a:ext cx="9525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C56CB8-A752-4FE8-9569-A480C0B91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41935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048A8"/>
                </a:solidFill>
              </a:defRPr>
            </a:pPr>
            <a:r>
              <a:rPr sz="1125" b="1">
                <a:solidFill>
                  <a:srgbClr val="2048A8"/>
                </a:solidFill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D3332E-BF69-4BC4-87B5-2B9B8A75D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781300"/>
            <a:ext cx="3105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02A63"/>
                </a:solidFill>
              </a:defRPr>
            </a:pPr>
            <a:r>
              <a:rPr sz="1500" b="1">
                <a:solidFill>
                  <a:srgbClr val="102A63"/>
                </a:solidFill>
              </a:rPr>
              <a:t>Что требуется подтвердить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D7F37A-E3C7-479A-9F07-C20BB8521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429000"/>
            <a:ext cx="31051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96780"/>
                </a:solidFill>
              </a:defRPr>
            </a:pPr>
            <a:r>
              <a:rPr sz="1200">
                <a:solidFill>
                  <a:srgbClr val="596780"/>
                </a:solidFill>
              </a:rPr>
              <a:t>{{REG_EXPECTATIONS}}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641DD7F-CE29-4249-A305-493BA6CAB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400300"/>
            <a:ext cx="9525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1D3C54-D30F-4921-B068-E0ABC5D4B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41935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048A8"/>
                </a:solidFill>
              </a:defRPr>
            </a:pPr>
            <a:r>
              <a:rPr sz="1125" b="1">
                <a:solidFill>
                  <a:srgbClr val="2048A8"/>
                </a:solidFill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A69D32B-7587-42C9-883C-FB596FA57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781300"/>
            <a:ext cx="3105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02A63"/>
                </a:solidFill>
              </a:defRPr>
            </a:pPr>
            <a:r>
              <a:rPr sz="1500" b="1">
                <a:solidFill>
                  <a:srgbClr val="102A63"/>
                </a:solidFill>
              </a:rPr>
              <a:t>Как читать рекомендации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247FF9-D9C6-479A-92A1-4A8B192AF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429000"/>
            <a:ext cx="31051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96780"/>
                </a:solidFill>
              </a:defRPr>
            </a:pPr>
            <a:r>
              <a:rPr sz="1200">
                <a:solidFill>
                  <a:srgbClr val="596780"/>
                </a:solidFill>
              </a:rPr>
              <a:t>{{REG_IMPLEMENTATION}}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68EF42C-ABF6-4330-8445-80E1F2E16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05400"/>
            <a:ext cx="106489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340477B-A4B4-4CF6-8722-2662C147F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19700"/>
            <a:ext cx="2190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Нормы Республики Казахстан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7463443-32FC-4205-B8C9-9EDC995B9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419725"/>
            <a:ext cx="1019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02A63"/>
                </a:solidFill>
              </a:defRPr>
            </a:pPr>
            <a:r>
              <a:rPr sz="900" b="1">
                <a:solidFill>
                  <a:srgbClr val="102A63"/>
                </a:solidFill>
              </a:rPr>
              <a:t>{{REG_ANCHORS}}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7FEACF7-6002-4E2F-9DA2-46F6F16AF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772150"/>
            <a:ext cx="106489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90CDF2-4A39-43E5-ABFB-3F1C63EBF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76925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Стандарты при подтверждении применимости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834F1F5-900A-458C-A699-49C5786B8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076950"/>
            <a:ext cx="1019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02A63"/>
                </a:solidFill>
              </a:defRPr>
            </a:pPr>
            <a:r>
              <a:rPr sz="900" b="1">
                <a:solidFill>
                  <a:srgbClr val="102A63"/>
                </a:solidFill>
              </a:rPr>
              <a:t>{{FRAMEWORKS}}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72609F4-9AF3-4495-8BF2-10103F944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06489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596780"/>
                </a:solidFill>
              </a:defRPr>
            </a:pPr>
            <a:r>
              <a:rPr sz="750">
                <a:solidFill>
                  <a:srgbClr val="596780"/>
                </a:solidFill>
              </a:rPr>
              <a:t>PCI DSS и GDPR применяются только при наличии соответствующих данных и операций.</a:t>
            </a:r>
          </a:p>
        </p:txBody>
      </p:sp>
    </p:spTree>
    <p:extLst>
      <p:ext uri="{BB962C8B-B14F-4D97-AF65-F5344CB8AC3E}">
        <p14:creationId xmlns:p14="http://schemas.microsoft.com/office/powerpoint/2010/main" val="166102546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12697B5-4B3F-4E5A-8790-82D1E6CD5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7891b469664600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197218-4F05-46E0-82BD-C44706EF3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Рекомендации: первоочередные меры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AAFBF9-4608-476D-9D57-ABAAEEF72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4DDC89-71FB-4493-88E4-412507501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99627D-9AB1-47C3-938D-35E930E5D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36C2F2-E686-45ED-B9B7-20CA63EC9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BF25ED-288E-4676-A751-3E5692C90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0668000" cy="20764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ABD00F-0862-4253-9B0B-D49E92C8D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23950" cy="20764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B1000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E40810-DA12-4899-9975-CB4C23CA5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28775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B20001"/>
                </a:solidFill>
              </a:defRPr>
            </a:pPr>
            <a:r>
              <a:rPr sz="900" b="1">
                <a:solidFill>
                  <a:srgbClr val="B20001"/>
                </a:solidFill>
              </a:rPr>
              <a:t>{{REC_1_LEVEL}}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31B602-5DC0-4AFC-8FEE-82665D581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62175"/>
            <a:ext cx="742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B20001"/>
                </a:solidFill>
              </a:defRPr>
            </a:pPr>
            <a:r>
              <a:rPr sz="2550" b="1">
                <a:solidFill>
                  <a:srgbClr val="B20001"/>
                </a:solidFill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F0C972-AA8F-4239-9B6F-DB8584A27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1524000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02A63"/>
                </a:solidFill>
              </a:defRPr>
            </a:pPr>
            <a:r>
              <a:rPr sz="1425" b="1">
                <a:solidFill>
                  <a:srgbClr val="102A63"/>
                </a:solidFill>
              </a:rPr>
              <a:t>{{REC_1_TITLE}}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6A82A8-0E0A-4517-A712-0CD7C08C6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1933575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Основание приоритета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B98DE8-F024-4A73-8B7D-449C2FD63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124075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{{REC_1_EVIDENCE}}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5A316F-7696-4D02-A593-4F3BAFB12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63842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Что сделать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2553A7-7F88-4633-85C7-2785BA013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828925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02A63"/>
                </a:solidFill>
              </a:defRPr>
            </a:pPr>
            <a:r>
              <a:rPr sz="975" b="1">
                <a:solidFill>
                  <a:srgbClr val="102A63"/>
                </a:solidFill>
              </a:rPr>
              <a:t>{{REC_1_ACTION}}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52196F8-0395-47DE-BCD4-8CC232899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552575"/>
            <a:ext cx="9525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B74521-7265-407C-A4BA-4AEFADB93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55257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Решение и производители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167A2B1-E2DC-4BE6-8EA4-6EBB3E13C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762125"/>
            <a:ext cx="4000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02A63"/>
                </a:solidFill>
              </a:defRPr>
            </a:pPr>
            <a:r>
              <a:rPr sz="975" b="1">
                <a:solidFill>
                  <a:srgbClr val="102A63"/>
                </a:solidFill>
              </a:rPr>
              <a:t>{{REC_1_SOLUTION}} · {{REC_1_VENDORS}}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0B8442C-85EE-4EA0-A5F9-A9550A2F8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28600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Основание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4D572DC-8355-499E-9CE2-1B72E1673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486025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96780"/>
                </a:solidFill>
              </a:defRPr>
            </a:pPr>
            <a:r>
              <a:rPr sz="900">
                <a:solidFill>
                  <a:srgbClr val="596780"/>
                </a:solidFill>
              </a:rPr>
              <a:t>{{REC_1_LEGAL}}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FF7B11B-EC8C-4BFA-8DCF-CC9880FEC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905125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Критерий результата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A46EB28-4215-4072-A716-56FE790FF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1051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02A63"/>
                </a:solidFill>
              </a:defRPr>
            </a:pPr>
            <a:r>
              <a:rPr sz="900" b="1">
                <a:solidFill>
                  <a:srgbClr val="102A63"/>
                </a:solidFill>
              </a:rPr>
              <a:t>{{REC_1_METRIC}}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9429099-A760-48E5-8A09-2E9B7C408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33800"/>
            <a:ext cx="10668000" cy="20764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BBE48B7-6A52-4AAF-B718-BFEE3F3A5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33800"/>
            <a:ext cx="1123950" cy="20764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B1000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8375BBC-B88D-40E4-A709-B0D2B2861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81450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B20002"/>
                </a:solidFill>
              </a:defRPr>
            </a:pPr>
            <a:r>
              <a:rPr sz="900" b="1">
                <a:solidFill>
                  <a:srgbClr val="B20002"/>
                </a:solidFill>
              </a:rPr>
              <a:t>{{REC_2_LEVEL}}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EA7F522-7D73-4E76-BE55-B897C175E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14850"/>
            <a:ext cx="742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B20002"/>
                </a:solidFill>
              </a:defRPr>
            </a:pPr>
            <a:r>
              <a:rPr sz="2550" b="1">
                <a:solidFill>
                  <a:srgbClr val="B20002"/>
                </a:solidFill>
              </a:rPr>
              <a:t>02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DCF7AEE-CCEE-4602-AFEC-89B8F74B2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3876675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02A63"/>
                </a:solidFill>
              </a:defRPr>
            </a:pPr>
            <a:r>
              <a:rPr sz="1425" b="1">
                <a:solidFill>
                  <a:srgbClr val="102A63"/>
                </a:solidFill>
              </a:rPr>
              <a:t>{{REC_2_TITLE}}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E610AF7-22A6-4B1D-81CE-39D1E985E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2862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Основание приоритета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8CCC10B-41E9-4DAC-B490-67CDB842F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476750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{{REC_2_EVIDENCE}}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C1D4DDB-CE72-4751-9794-24FC2226A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99110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Что сделать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6AB6A58-57AB-4893-A530-418724BC5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5181600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02A63"/>
                </a:solidFill>
              </a:defRPr>
            </a:pPr>
            <a:r>
              <a:rPr sz="975" b="1">
                <a:solidFill>
                  <a:srgbClr val="102A63"/>
                </a:solidFill>
              </a:rPr>
              <a:t>{{REC_2_ACTION}}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C44DD50-98EB-4492-9322-640E93D38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905250"/>
            <a:ext cx="9525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FB6B401-D1BF-493B-9CBF-CDEA0307A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9052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Решение и производители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773FDFD-6E9C-43FC-867B-3D637989B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114800"/>
            <a:ext cx="4000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02A63"/>
                </a:solidFill>
              </a:defRPr>
            </a:pPr>
            <a:r>
              <a:rPr sz="975" b="1">
                <a:solidFill>
                  <a:srgbClr val="102A63"/>
                </a:solidFill>
              </a:rPr>
              <a:t>{{REC_2_SOLUTION}} · {{REC_2_VENDORS}}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0649C8C-A8CD-4B2F-B637-EB34ACAAB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63867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Основание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97D2736-369E-43A6-B399-F072C2BE0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83870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96780"/>
                </a:solidFill>
              </a:defRPr>
            </a:pPr>
            <a:r>
              <a:rPr sz="900">
                <a:solidFill>
                  <a:srgbClr val="596780"/>
                </a:solidFill>
              </a:rPr>
              <a:t>{{REC_2_LEGAL}}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E76F1FD-FC44-447D-A43A-EDB32C3DA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2578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Критерий результата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18462D8-5EF0-4B7C-9103-9178FE2A8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457825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02A63"/>
                </a:solidFill>
              </a:defRPr>
            </a:pPr>
            <a:r>
              <a:rPr sz="900" b="1">
                <a:solidFill>
                  <a:srgbClr val="102A63"/>
                </a:solidFill>
              </a:rPr>
              <a:t>{{REC_2_METRIC}}</a:t>
            </a:r>
          </a:p>
        </p:txBody>
      </p:sp>
    </p:spTree>
    <p:extLst>
      <p:ext uri="{BB962C8B-B14F-4D97-AF65-F5344CB8AC3E}">
        <p14:creationId xmlns:p14="http://schemas.microsoft.com/office/powerpoint/2010/main" val="156105765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AA72E8B-6780-4519-AFF0-F2D1752D9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32bc97b7504649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5008DA-BEA0-4B29-84E8-8A6D009B1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Рекомендации: снижение основных рисков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28E7DA-C350-4965-8AC1-F03B23532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5A4087-4EFF-4E3E-98DB-3B42010B3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D1E190-CFF4-4AD0-A4C8-5CD3E1588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2E2B95-73AD-4FC0-B365-D2CA09579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29F105-77F8-44C1-8F6B-023E2A182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0668000" cy="20764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36FA18-F1AD-4B34-8F46-BC858C10F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23950" cy="20764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B1000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ED5BF0-D571-46AF-B83C-BFFB86F9C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28775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B20003"/>
                </a:solidFill>
              </a:defRPr>
            </a:pPr>
            <a:r>
              <a:rPr sz="900" b="1">
                <a:solidFill>
                  <a:srgbClr val="B20003"/>
                </a:solidFill>
              </a:rPr>
              <a:t>{{REC_3_LEVEL}}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8F9330-000D-43BE-A835-A3F4C63A8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62175"/>
            <a:ext cx="742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B20003"/>
                </a:solidFill>
              </a:defRPr>
            </a:pPr>
            <a:r>
              <a:rPr sz="2550" b="1">
                <a:solidFill>
                  <a:srgbClr val="B20003"/>
                </a:solidFill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07D6E9-D7F7-47B2-B8F4-70AF435A4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1524000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02A63"/>
                </a:solidFill>
              </a:defRPr>
            </a:pPr>
            <a:r>
              <a:rPr sz="1425" b="1">
                <a:solidFill>
                  <a:srgbClr val="102A63"/>
                </a:solidFill>
              </a:rPr>
              <a:t>{{REC_3_TITLE}}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A4079F-19C6-41C7-BFE5-ECED9BF1D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1933575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Основание приоритета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F38D56-8EFD-4EEC-AAD7-D36ED46D8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124075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{{REC_3_EVIDENCE}}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6FCD12-B5C9-45EA-96F9-077D88E7D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63842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Что сделать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B5B8F04-2735-4A24-AECF-9EF2EB026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828925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02A63"/>
                </a:solidFill>
              </a:defRPr>
            </a:pPr>
            <a:r>
              <a:rPr sz="975" b="1">
                <a:solidFill>
                  <a:srgbClr val="102A63"/>
                </a:solidFill>
              </a:rPr>
              <a:t>{{REC_3_ACTION}}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4A0738-AFCE-4A73-A915-516C5F456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552575"/>
            <a:ext cx="9525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8696BB7-128D-494A-ABAA-94821007E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55257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Решение и производители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6BD5224-ED7C-4434-8C8F-66D2994D7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762125"/>
            <a:ext cx="4000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02A63"/>
                </a:solidFill>
              </a:defRPr>
            </a:pPr>
            <a:r>
              <a:rPr sz="975" b="1">
                <a:solidFill>
                  <a:srgbClr val="102A63"/>
                </a:solidFill>
              </a:rPr>
              <a:t>{{REC_3_SOLUTION}} · {{REC_3_VENDORS}}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D4B62D0-4876-46B5-A1F1-3B9915F50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28600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Основание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9ACD499-881E-4B66-910A-2087F9FF6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486025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96780"/>
                </a:solidFill>
              </a:defRPr>
            </a:pPr>
            <a:r>
              <a:rPr sz="900">
                <a:solidFill>
                  <a:srgbClr val="596780"/>
                </a:solidFill>
              </a:rPr>
              <a:t>{{REC_3_LEGAL}}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B8E60E6-D7EB-4544-A222-1815EC45B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905125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Критерий результата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BF89930-F73C-498E-B57C-2E84D411F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1051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02A63"/>
                </a:solidFill>
              </a:defRPr>
            </a:pPr>
            <a:r>
              <a:rPr sz="900" b="1">
                <a:solidFill>
                  <a:srgbClr val="102A63"/>
                </a:solidFill>
              </a:rPr>
              <a:t>{{REC_3_METRIC}}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F1BBD98-0672-4AAB-A259-84687AD44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33800"/>
            <a:ext cx="10668000" cy="20764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DBC45DB-24A4-4E33-8B10-B0D4AFFAD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33800"/>
            <a:ext cx="1123950" cy="20764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B1000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E62DB4F-76DE-4CC2-ADB3-7D8FD8ACB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81450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B20004"/>
                </a:solidFill>
              </a:defRPr>
            </a:pPr>
            <a:r>
              <a:rPr sz="900" b="1">
                <a:solidFill>
                  <a:srgbClr val="B20004"/>
                </a:solidFill>
              </a:rPr>
              <a:t>{{REC_4_LEVEL}}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70B7261-29C1-41F5-940E-C93DF98BD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14850"/>
            <a:ext cx="742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B20004"/>
                </a:solidFill>
              </a:defRPr>
            </a:pPr>
            <a:r>
              <a:rPr sz="2550" b="1">
                <a:solidFill>
                  <a:srgbClr val="B20004"/>
                </a:solidFill>
              </a:rPr>
              <a:t>04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B9BBA43-DCE9-46BF-88D9-B08A96ED9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3876675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02A63"/>
                </a:solidFill>
              </a:defRPr>
            </a:pPr>
            <a:r>
              <a:rPr sz="1425" b="1">
                <a:solidFill>
                  <a:srgbClr val="102A63"/>
                </a:solidFill>
              </a:rPr>
              <a:t>{{REC_4_TITLE}}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ACFE59F-FECB-491B-A569-BAC9C4A88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2862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Основание приоритета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DFFEFFD-35C2-4892-BBE1-DDFC8F026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476750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{{REC_4_EVIDENCE}}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A871351-380D-4C4F-9C73-6F5175937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99110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Что сделать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BB77C8B-14E8-464A-87CE-902CDDD1A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5181600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02A63"/>
                </a:solidFill>
              </a:defRPr>
            </a:pPr>
            <a:r>
              <a:rPr sz="975" b="1">
                <a:solidFill>
                  <a:srgbClr val="102A63"/>
                </a:solidFill>
              </a:rPr>
              <a:t>{{REC_4_ACTION}}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612B897-2017-4CDB-BC1C-FDB916BBA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905250"/>
            <a:ext cx="9525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CE75C8E-471E-4C2C-A504-5C5ED3E15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9052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Решение и производители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E480C71-7221-4D8D-A3E1-076326C2F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114800"/>
            <a:ext cx="4000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02A63"/>
                </a:solidFill>
              </a:defRPr>
            </a:pPr>
            <a:r>
              <a:rPr sz="975" b="1">
                <a:solidFill>
                  <a:srgbClr val="102A63"/>
                </a:solidFill>
              </a:rPr>
              <a:t>{{REC_4_SOLUTION}} · {{REC_4_VENDORS}}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079518A-3734-4715-A394-5B652D66C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63867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Основание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8C24DAE-0AC5-4EE3-8A8E-CA46BAB5B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83870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96780"/>
                </a:solidFill>
              </a:defRPr>
            </a:pPr>
            <a:r>
              <a:rPr sz="900">
                <a:solidFill>
                  <a:srgbClr val="596780"/>
                </a:solidFill>
              </a:rPr>
              <a:t>{{REC_4_LEGAL}}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74BE019-0BE6-4F99-AE06-186BB322C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2578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Критерий результата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7EB3BFB-C98C-4B97-84FB-0E16CAC40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457825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02A63"/>
                </a:solidFill>
              </a:defRPr>
            </a:pPr>
            <a:r>
              <a:rPr sz="900" b="1">
                <a:solidFill>
                  <a:srgbClr val="102A63"/>
                </a:solidFill>
              </a:rPr>
              <a:t>{{REC_4_METRIC}}</a:t>
            </a:r>
          </a:p>
        </p:txBody>
      </p:sp>
    </p:spTree>
    <p:extLst>
      <p:ext uri="{BB962C8B-B14F-4D97-AF65-F5344CB8AC3E}">
        <p14:creationId xmlns:p14="http://schemas.microsoft.com/office/powerpoint/2010/main" val="171994667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2377067-021F-4991-9CCA-C2D7BBB79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d8f55904914ee7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6CC591-43A6-44CD-B8C6-AE5D68680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Рекомендации: устойчивость ИТ и ИБ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61C4DD-ED2C-4E77-8327-D94D9A6EB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64DDF1-21D0-41CF-A526-DF21CFBFB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FD6658-A7EB-45B0-890A-B1EF4C945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A8570F-B10D-484F-BFBB-E7D0F1B56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457CB1-44D3-47A4-BA7B-C0C168EB2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0668000" cy="20764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09B84C-7F59-4A90-95E3-6893B9275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23950" cy="20764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B1000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2A6286-CC1D-40D8-A266-A87E5F08A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28775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B20005"/>
                </a:solidFill>
              </a:defRPr>
            </a:pPr>
            <a:r>
              <a:rPr sz="900" b="1">
                <a:solidFill>
                  <a:srgbClr val="B20005"/>
                </a:solidFill>
              </a:rPr>
              <a:t>{{REC_5_LEVEL}}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8113F8-E6B6-451D-AE69-ACF0E0330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62175"/>
            <a:ext cx="742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B20005"/>
                </a:solidFill>
              </a:defRPr>
            </a:pPr>
            <a:r>
              <a:rPr sz="2550" b="1">
                <a:solidFill>
                  <a:srgbClr val="B20005"/>
                </a:solidFill>
              </a:rPr>
              <a:t>05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12649B-BBFC-4FEC-83D9-59AA177EC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1524000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02A63"/>
                </a:solidFill>
              </a:defRPr>
            </a:pPr>
            <a:r>
              <a:rPr sz="1425" b="1">
                <a:solidFill>
                  <a:srgbClr val="102A63"/>
                </a:solidFill>
              </a:rPr>
              <a:t>{{REC_5_TITLE}}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A7241D-1634-403E-A346-BB67A94E1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1933575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Основание приоритета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19A6F2-488F-4187-9F57-41A911F39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124075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{{REC_5_EVIDENCE}}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1ADAA5-9E8D-4B3F-A242-A989057A8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63842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Что сделать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4DF360-3972-4327-86A1-C463DE371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828925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02A63"/>
                </a:solidFill>
              </a:defRPr>
            </a:pPr>
            <a:r>
              <a:rPr sz="975" b="1">
                <a:solidFill>
                  <a:srgbClr val="102A63"/>
                </a:solidFill>
              </a:rPr>
              <a:t>{{REC_5_ACTION}}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0BD061-FB07-46AE-BF29-BEBB5FEE2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552575"/>
            <a:ext cx="9525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97A789-D42C-48B6-97E8-85978B5E6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55257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Решение и производители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27FE9B7-EADB-4651-A845-0E20B6468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762125"/>
            <a:ext cx="4000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02A63"/>
                </a:solidFill>
              </a:defRPr>
            </a:pPr>
            <a:r>
              <a:rPr sz="975" b="1">
                <a:solidFill>
                  <a:srgbClr val="102A63"/>
                </a:solidFill>
              </a:rPr>
              <a:t>{{REC_5_SOLUTION}} · {{REC_5_VENDORS}}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D9558D6-C361-4B17-812D-5A690D75E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28600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Основание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AA6937-17CC-4FC9-ACD1-DC6751C26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486025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96780"/>
                </a:solidFill>
              </a:defRPr>
            </a:pPr>
            <a:r>
              <a:rPr sz="900">
                <a:solidFill>
                  <a:srgbClr val="596780"/>
                </a:solidFill>
              </a:rPr>
              <a:t>{{REC_5_LEGAL}}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28FAF96-3A38-45F1-83F0-484041D27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905125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Критерий результата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2226EB0-E6BA-4AB1-952C-E90E771C4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1051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02A63"/>
                </a:solidFill>
              </a:defRPr>
            </a:pPr>
            <a:r>
              <a:rPr sz="900" b="1">
                <a:solidFill>
                  <a:srgbClr val="102A63"/>
                </a:solidFill>
              </a:rPr>
              <a:t>{{REC_5_METRIC}}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D211DE1-E54C-4C6D-945E-C7DC1EE21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33800"/>
            <a:ext cx="10668000" cy="20764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B475253-7F7D-4823-8DEC-2B2797412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33800"/>
            <a:ext cx="1123950" cy="20764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B1000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B6A0FCB-D308-4E1D-B4F7-0234D2C9B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81450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B20006"/>
                </a:solidFill>
              </a:defRPr>
            </a:pPr>
            <a:r>
              <a:rPr sz="900" b="1">
                <a:solidFill>
                  <a:srgbClr val="B20006"/>
                </a:solidFill>
              </a:rPr>
              <a:t>{{REC_6_LEVEL}}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E217A7B-2375-4A4F-AB85-AD827EB9B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14850"/>
            <a:ext cx="742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B20006"/>
                </a:solidFill>
              </a:defRPr>
            </a:pPr>
            <a:r>
              <a:rPr sz="2550" b="1">
                <a:solidFill>
                  <a:srgbClr val="B20006"/>
                </a:solidFill>
              </a:rPr>
              <a:t>06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91BD7AF-8E07-4C5D-B4BF-7609C707A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3876675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02A63"/>
                </a:solidFill>
              </a:defRPr>
            </a:pPr>
            <a:r>
              <a:rPr sz="1425" b="1">
                <a:solidFill>
                  <a:srgbClr val="102A63"/>
                </a:solidFill>
              </a:rPr>
              <a:t>{{REC_6_TITLE}}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B13ACAB-C063-4763-BC2A-8A337957D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2862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Основание приоритета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18D0EF9-7E0D-4142-BFE4-D47CDED05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476750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{{REC_6_EVIDENCE}}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AF5EBDD-2FEE-4E23-A02A-958F94DC8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99110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Что сделать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7D26113-B2D2-4455-8578-D51B995E6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5181600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02A63"/>
                </a:solidFill>
              </a:defRPr>
            </a:pPr>
            <a:r>
              <a:rPr sz="975" b="1">
                <a:solidFill>
                  <a:srgbClr val="102A63"/>
                </a:solidFill>
              </a:rPr>
              <a:t>{{REC_6_ACTION}}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316B55F-7AE4-4511-8854-28E849155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905250"/>
            <a:ext cx="9525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23ABA02-3015-4EB1-9F14-8BD24858E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9052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Решение и производители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9222082-8AFD-4EF5-A002-22A9208D4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114800"/>
            <a:ext cx="4000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02A63"/>
                </a:solidFill>
              </a:defRPr>
            </a:pPr>
            <a:r>
              <a:rPr sz="975" b="1">
                <a:solidFill>
                  <a:srgbClr val="102A63"/>
                </a:solidFill>
              </a:rPr>
              <a:t>{{REC_6_SOLUTION}} · {{REC_6_VENDORS}}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E47E2B7-E532-4BC4-A8E7-96C849495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63867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Основание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AC6CA96-7F97-4E79-ACD1-0C6D5B295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83870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96780"/>
                </a:solidFill>
              </a:defRPr>
            </a:pPr>
            <a:r>
              <a:rPr sz="900">
                <a:solidFill>
                  <a:srgbClr val="596780"/>
                </a:solidFill>
              </a:rPr>
              <a:t>{{REC_6_LEGAL}}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92DFFDB-7096-4BAB-95BF-E9E33D7E9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2578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Критерий результата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F62A9F7-F787-40F8-B0F0-3171CCC9E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457825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02A63"/>
                </a:solidFill>
              </a:defRPr>
            </a:pPr>
            <a:r>
              <a:rPr sz="900" b="1">
                <a:solidFill>
                  <a:srgbClr val="102A63"/>
                </a:solidFill>
              </a:rPr>
              <a:t>{{REC_6_METRIC}}</a:t>
            </a:r>
          </a:p>
        </p:txBody>
      </p:sp>
    </p:spTree>
    <p:extLst>
      <p:ext uri="{BB962C8B-B14F-4D97-AF65-F5344CB8AC3E}">
        <p14:creationId xmlns:p14="http://schemas.microsoft.com/office/powerpoint/2010/main" val="82786485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555999E-4945-4E85-A086-A4F5F4055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53c05f93dc4797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CDEC67-8779-48FC-BEF6-060C41E4E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Рекомендации: следующий уровень зрелости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1DC3D6-53C8-4165-9B2A-2C8638EE7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37BCB4-52FA-4F94-81BC-B17AD63B5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C6A4F0-2041-48E8-BAA8-F6AF7C92D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0DE739-1AB2-44C6-B2CC-294ED6D2C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F67005-4B40-4FF1-8CEB-E1D7B15D9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0668000" cy="20764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7AB94E-867A-4295-AB4B-45DD4A1DE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23950" cy="20764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B1000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B3746C-3555-40A3-AD35-BACB53CD5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28775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B20007"/>
                </a:solidFill>
              </a:defRPr>
            </a:pPr>
            <a:r>
              <a:rPr sz="900" b="1">
                <a:solidFill>
                  <a:srgbClr val="B20007"/>
                </a:solidFill>
              </a:rPr>
              <a:t>{{REC_7_LEVEL}}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8ABE4E-0BFE-49B3-BC66-DAB850BC6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62175"/>
            <a:ext cx="742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B20007"/>
                </a:solidFill>
              </a:defRPr>
            </a:pPr>
            <a:r>
              <a:rPr sz="2550" b="1">
                <a:solidFill>
                  <a:srgbClr val="B20007"/>
                </a:solidFill>
              </a:rPr>
              <a:t>07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192A28-E918-4B1E-A123-5A9687FE4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1524000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02A63"/>
                </a:solidFill>
              </a:defRPr>
            </a:pPr>
            <a:r>
              <a:rPr sz="1425" b="1">
                <a:solidFill>
                  <a:srgbClr val="102A63"/>
                </a:solidFill>
              </a:rPr>
              <a:t>{{REC_7_TITLE}}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74F76A-6A4E-44D6-9BEC-CFBB77EEE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1933575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Основание приоритета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8BBB1C-D96C-4893-A95D-68FF103A4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124075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{{REC_7_EVIDENCE}}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DD81AF-25E0-471A-AFC1-52671DCFF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63842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Что сделать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036FE23-CC86-4FC9-A722-6C9EA9BA4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828925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02A63"/>
                </a:solidFill>
              </a:defRPr>
            </a:pPr>
            <a:r>
              <a:rPr sz="975" b="1">
                <a:solidFill>
                  <a:srgbClr val="102A63"/>
                </a:solidFill>
              </a:rPr>
              <a:t>{{REC_7_ACTION}}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14A961-982D-4885-8122-8FA0604C5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552575"/>
            <a:ext cx="9525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0EAE5E-0BE8-4DC0-BF9D-1BF683CCF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55257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Решение и производители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636FEE-F530-4991-A9DB-FEDA2F842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762125"/>
            <a:ext cx="4000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02A63"/>
                </a:solidFill>
              </a:defRPr>
            </a:pPr>
            <a:r>
              <a:rPr sz="975" b="1">
                <a:solidFill>
                  <a:srgbClr val="102A63"/>
                </a:solidFill>
              </a:rPr>
              <a:t>{{REC_7_SOLUTION}} · {{REC_7_VENDORS}}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C48FD4F-5912-4DC6-AD98-3B91DC384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28600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Основание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47EE9F4-A2CF-4A83-BD39-C0348AA66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486025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96780"/>
                </a:solidFill>
              </a:defRPr>
            </a:pPr>
            <a:r>
              <a:rPr sz="900">
                <a:solidFill>
                  <a:srgbClr val="596780"/>
                </a:solidFill>
              </a:rPr>
              <a:t>{{REC_7_LEGAL}}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2C23E2-5C35-4B63-813E-EA26FED16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905125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Критерий результата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C22D901-49A0-4B91-A104-C85076956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1051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02A63"/>
                </a:solidFill>
              </a:defRPr>
            </a:pPr>
            <a:r>
              <a:rPr sz="900" b="1">
                <a:solidFill>
                  <a:srgbClr val="102A63"/>
                </a:solidFill>
              </a:rPr>
              <a:t>{{REC_7_METRIC}}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5DF7EB6-4989-4353-B862-082A3FA46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33800"/>
            <a:ext cx="10668000" cy="2076450"/>
          </a:xfrm>
          <a:prstGeom xmlns:a="http://schemas.openxmlformats.org/drawingml/2006/main" prst="roundRect">
            <a:avLst>
              <a:gd name="adj" fmla="val 36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3EADDC8-32DD-4D4D-BFFB-9E8926051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33800"/>
            <a:ext cx="1123950" cy="20764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B1000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F29E33C-8BC5-4264-AAAB-8E2A23FFC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81450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B20008"/>
                </a:solidFill>
              </a:defRPr>
            </a:pPr>
            <a:r>
              <a:rPr sz="900" b="1">
                <a:solidFill>
                  <a:srgbClr val="B20008"/>
                </a:solidFill>
              </a:rPr>
              <a:t>{{REC_8_LEVEL}}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ECF0401-2288-4ADC-A97A-3D5423518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14850"/>
            <a:ext cx="742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B20008"/>
                </a:solidFill>
              </a:defRPr>
            </a:pPr>
            <a:r>
              <a:rPr sz="2550" b="1">
                <a:solidFill>
                  <a:srgbClr val="B20008"/>
                </a:solidFill>
              </a:rPr>
              <a:t>08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10BD6E7-20CB-495A-8006-90F078AF6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3876675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02A63"/>
                </a:solidFill>
              </a:defRPr>
            </a:pPr>
            <a:r>
              <a:rPr sz="1425" b="1">
                <a:solidFill>
                  <a:srgbClr val="102A63"/>
                </a:solidFill>
              </a:rPr>
              <a:t>{{REC_8_TITLE}}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E558BB1-B53B-4499-A559-97C8B36B3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2862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Основание приоритета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8A941EB-010C-4880-8EF8-0CBF1FEFC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476750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{{REC_8_EVIDENCE}}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8184940-B1F6-48B1-A9BD-6D44C17BD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99110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Что сделать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E410A87-CDFE-4849-8F07-4CB0BDCA4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5181600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02A63"/>
                </a:solidFill>
              </a:defRPr>
            </a:pPr>
            <a:r>
              <a:rPr sz="975" b="1">
                <a:solidFill>
                  <a:srgbClr val="102A63"/>
                </a:solidFill>
              </a:rPr>
              <a:t>{{REC_8_ACTION}}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9B1992C-3B8B-4118-A246-78DA6B5C0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905250"/>
            <a:ext cx="9525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9092869-8019-4B2F-B0E5-E77176F48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9052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Решение и производители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2907A0C-F793-4E51-831A-8238D56BB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114800"/>
            <a:ext cx="4000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02A63"/>
                </a:solidFill>
              </a:defRPr>
            </a:pPr>
            <a:r>
              <a:rPr sz="975" b="1">
                <a:solidFill>
                  <a:srgbClr val="102A63"/>
                </a:solidFill>
              </a:rPr>
              <a:t>{{REC_8_SOLUTION}} · {{REC_8_VENDORS}}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A55A772-0234-427C-A25B-FA31A7889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638675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Основание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1ECA08E-0F90-4740-95E2-3E11827E6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83870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96780"/>
                </a:solidFill>
              </a:defRPr>
            </a:pPr>
            <a:r>
              <a:rPr sz="900">
                <a:solidFill>
                  <a:srgbClr val="596780"/>
                </a:solidFill>
              </a:rPr>
              <a:t>{{REC_8_LEGAL}}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2D32C4E-30AA-46E2-97BB-BE2A08BDF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257800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Критерий результата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2820346-1C28-4126-840B-D12816441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457825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02A63"/>
                </a:solidFill>
              </a:defRPr>
            </a:pPr>
            <a:r>
              <a:rPr sz="900" b="1">
                <a:solidFill>
                  <a:srgbClr val="102A63"/>
                </a:solidFill>
              </a:rPr>
              <a:t>{{REC_8_METRIC}}</a:t>
            </a:r>
          </a:p>
        </p:txBody>
      </p:sp>
    </p:spTree>
    <p:extLst>
      <p:ext uri="{BB962C8B-B14F-4D97-AF65-F5344CB8AC3E}">
        <p14:creationId xmlns:p14="http://schemas.microsoft.com/office/powerpoint/2010/main" val="181435173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BB7A9AB-C0C4-4500-B125-76FC068E9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835bcd83384c7b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3FB3E2-EA7E-4F90-AA06-A2EFFEC47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План на 90 дней переводит выводы в действия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0EF87C-688A-4A46-B408-3D1FADFE6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F1F1C4-98C2-482D-88DC-373423307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6C33BE-5FE1-4949-9545-FC698C8F4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54B6F2-A267-4BA0-9D7D-333BA7F6C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11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DC8AF8-8EDA-4ADC-BA0D-EB25F3FC3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33500"/>
            <a:ext cx="1064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96780"/>
                </a:solidFill>
              </a:defRPr>
            </a:pPr>
            <a:r>
              <a:rPr sz="1275">
                <a:solidFill>
                  <a:srgbClr val="596780"/>
                </a:solidFill>
              </a:rPr>
              <a:t>Сначала 20% первоочередных мер, которые закрывают основную долю подтвержденных рисков.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CDBCF5-FDB7-43E7-9D48-77E89E234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1943100"/>
            <a:ext cx="38100" cy="3790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BAABFA-2886-46DB-92A7-03A2C0E25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DBBC0E-E4F7-4FB8-B613-A5250501E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38375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FB60BC-FD8A-4CA7-8CBF-B7BCDF290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752600"/>
            <a:ext cx="98107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382561-F0FF-42D9-88E1-D20211FDE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905000"/>
            <a:ext cx="1409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048A8"/>
                </a:solidFill>
              </a:defRPr>
            </a:pPr>
            <a:r>
              <a:rPr sz="1125" b="1">
                <a:solidFill>
                  <a:srgbClr val="2048A8"/>
                </a:solidFill>
              </a:rPr>
              <a:t>0–30 дней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EF72F4-6AC9-4563-8D77-B5BD615C7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19075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02A63"/>
                </a:solidFill>
              </a:defRPr>
            </a:pPr>
            <a:r>
              <a:rPr sz="1125" b="1">
                <a:solidFill>
                  <a:srgbClr val="102A63"/>
                </a:solidFill>
              </a:rPr>
              <a:t>ПРИОРИТЕТЫ И БЫСТРЫЕ МЕРЫ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08DE75-B51D-4944-94C7-CD6682CC5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933575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01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C5F3BD-22EB-44C9-BA72-1EC046A36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876425"/>
            <a:ext cx="27813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102A63"/>
                </a:solidFill>
              </a:defRPr>
            </a:pPr>
            <a:r>
              <a:rPr sz="900">
                <a:solidFill>
                  <a:srgbClr val="102A63"/>
                </a:solidFill>
              </a:rPr>
              <a:t>{{ROADMAP_1_1}}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8C74EF6-6DCC-436B-BBF3-3A56C683E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476500"/>
            <a:ext cx="7239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00" b="1">
                <a:solidFill>
                  <a:srgbClr val="2048A8"/>
                </a:solidFill>
              </a:defRPr>
            </a:pPr>
            <a:r>
              <a:rPr sz="600" b="1">
                <a:solidFill>
                  <a:srgbClr val="2048A8"/>
                </a:solidFill>
              </a:rPr>
              <a:t>РЕЗУЛЬТАТ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FE1AD9-4D7D-4E1E-8A44-DB472BF10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628900"/>
            <a:ext cx="2781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102A63"/>
                </a:solidFill>
              </a:defRPr>
            </a:pPr>
            <a:r>
              <a:rPr sz="750" b="1">
                <a:solidFill>
                  <a:srgbClr val="102A63"/>
                </a:solidFill>
              </a:rPr>
              <a:t>{{ROADMAP_1_1_RESULT}}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6AC4CB4-3F7A-4EB0-B2BC-99C07E020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1905000"/>
            <a:ext cx="952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F7A9E86-D5DA-4DC3-83CB-1E8B263CA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1933575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02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FD26E98-69D2-4178-B141-39D507BE5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876425"/>
            <a:ext cx="2705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102A63"/>
                </a:solidFill>
              </a:defRPr>
            </a:pPr>
            <a:r>
              <a:rPr sz="900">
                <a:solidFill>
                  <a:srgbClr val="102A63"/>
                </a:solidFill>
              </a:rPr>
              <a:t>{{ROADMAP_1_2}}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94D2861-404B-4A33-BE80-2BA755149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476500"/>
            <a:ext cx="7239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00" b="1">
                <a:solidFill>
                  <a:srgbClr val="2048A8"/>
                </a:solidFill>
              </a:defRPr>
            </a:pPr>
            <a:r>
              <a:rPr sz="600" b="1">
                <a:solidFill>
                  <a:srgbClr val="2048A8"/>
                </a:solidFill>
              </a:rPr>
              <a:t>РЕЗУЛЬТАТ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F358240-326C-4C39-A584-82F1EB4D8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628900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102A63"/>
                </a:solidFill>
              </a:defRPr>
            </a:pPr>
            <a:r>
              <a:rPr sz="750" b="1">
                <a:solidFill>
                  <a:srgbClr val="102A63"/>
                </a:solidFill>
              </a:rPr>
              <a:t>{{ROADMAP_1_2_RESULT}}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A37E8B7-23AD-46DC-AD02-B20A4E86B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814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2A6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69D64AC-4447-493C-A877-EBD3587D8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05225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CC04263-72A1-4196-990A-2D0BF4A6D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219450"/>
            <a:ext cx="98107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650970B-C9C6-4F18-8C72-3356F98B4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371850"/>
            <a:ext cx="1409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048A8"/>
                </a:solidFill>
              </a:defRPr>
            </a:pPr>
            <a:r>
              <a:rPr sz="1125" b="1">
                <a:solidFill>
                  <a:srgbClr val="2048A8"/>
                </a:solidFill>
              </a:rPr>
              <a:t>31–60 дней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8FBBE8F-00F2-4E66-AB12-1B46D7FC8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65760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02A63"/>
                </a:solidFill>
              </a:defRPr>
            </a:pPr>
            <a:r>
              <a:rPr sz="1125" b="1">
                <a:solidFill>
                  <a:srgbClr val="102A63"/>
                </a:solidFill>
              </a:rPr>
              <a:t>ПИЛОТЫ И РЕГЛАМЕНТЫ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F3B078A-7EB3-4B2D-BBDB-A0823C9AD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400425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01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6E49C64-6D8F-46F2-9A57-B64F822D3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343275"/>
            <a:ext cx="27813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102A63"/>
                </a:solidFill>
              </a:defRPr>
            </a:pPr>
            <a:r>
              <a:rPr sz="900">
                <a:solidFill>
                  <a:srgbClr val="102A63"/>
                </a:solidFill>
              </a:rPr>
              <a:t>{{ROADMAP_2_1}}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09D8BA8-6BDC-4C07-8D45-F38A677B8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943350"/>
            <a:ext cx="7239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00" b="1">
                <a:solidFill>
                  <a:srgbClr val="2048A8"/>
                </a:solidFill>
              </a:defRPr>
            </a:pPr>
            <a:r>
              <a:rPr sz="600" b="1">
                <a:solidFill>
                  <a:srgbClr val="2048A8"/>
                </a:solidFill>
              </a:rPr>
              <a:t>РЕЗУЛЬТАТ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3CEB6D5-FFD1-4FE5-8527-BF5A04A39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095750"/>
            <a:ext cx="2781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102A63"/>
                </a:solidFill>
              </a:defRPr>
            </a:pPr>
            <a:r>
              <a:rPr sz="750" b="1">
                <a:solidFill>
                  <a:srgbClr val="102A63"/>
                </a:solidFill>
              </a:rPr>
              <a:t>{{ROADMAP_2_1_RESULT}}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8F68C2B-D4D3-4685-971F-58FC1471C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371850"/>
            <a:ext cx="952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CDE2951-C29B-40B2-8565-6478986B4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400425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02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F733F13-35AD-47E6-97BA-AF790647E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343275"/>
            <a:ext cx="2705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102A63"/>
                </a:solidFill>
              </a:defRPr>
            </a:pPr>
            <a:r>
              <a:rPr sz="900">
                <a:solidFill>
                  <a:srgbClr val="102A63"/>
                </a:solidFill>
              </a:rPr>
              <a:t>{{ROADMAP_2_2}}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1057859-6FEF-42B8-98B0-2D8CE58B0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943350"/>
            <a:ext cx="7239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00" b="1">
                <a:solidFill>
                  <a:srgbClr val="2048A8"/>
                </a:solidFill>
              </a:defRPr>
            </a:pPr>
            <a:r>
              <a:rPr sz="600" b="1">
                <a:solidFill>
                  <a:srgbClr val="2048A8"/>
                </a:solidFill>
              </a:rPr>
              <a:t>РЕЗУЛЬТАТ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B9E746A-DE69-4946-A0E6-AAD1A9B28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095750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102A63"/>
                </a:solidFill>
              </a:defRPr>
            </a:pPr>
            <a:r>
              <a:rPr sz="750" b="1">
                <a:solidFill>
                  <a:srgbClr val="102A63"/>
                </a:solidFill>
              </a:rPr>
              <a:t>{{ROADMAP_2_2_RESULT}}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8B81A36-4ECA-49DD-AE12-04AAA4201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2A6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F2351F9-65C8-4962-B803-8799A3ED8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72075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951EADD-CBDD-44C8-9756-AA28F51FA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686300"/>
            <a:ext cx="98107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37C0B43-AC2C-4CF9-B19F-D26E6D440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838700"/>
            <a:ext cx="1409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048A8"/>
                </a:solidFill>
              </a:defRPr>
            </a:pPr>
            <a:r>
              <a:rPr sz="1125" b="1">
                <a:solidFill>
                  <a:srgbClr val="2048A8"/>
                </a:solidFill>
              </a:rPr>
              <a:t>61–90 дней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34E4B61-6009-4DF9-B4AD-FA27E2A58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12445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02A63"/>
                </a:solidFill>
              </a:defRPr>
            </a:pPr>
            <a:r>
              <a:rPr sz="1125" b="1">
                <a:solidFill>
                  <a:srgbClr val="102A63"/>
                </a:solidFill>
              </a:rPr>
              <a:t>МАСШТАБИРОВАНИЕ И КОНТРОЛЬ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FB97CD6-B642-4F9A-8CA7-77A7DECA7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867275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01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91E268D-12FA-4309-B811-35278C0AC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810125"/>
            <a:ext cx="27813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102A63"/>
                </a:solidFill>
              </a:defRPr>
            </a:pPr>
            <a:r>
              <a:rPr sz="900">
                <a:solidFill>
                  <a:srgbClr val="102A63"/>
                </a:solidFill>
              </a:rPr>
              <a:t>{{ROADMAP_3_1}}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FBA5673-6BAD-455B-B064-D968AFAAA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410200"/>
            <a:ext cx="7239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00" b="1">
                <a:solidFill>
                  <a:srgbClr val="2048A8"/>
                </a:solidFill>
              </a:defRPr>
            </a:pPr>
            <a:r>
              <a:rPr sz="600" b="1">
                <a:solidFill>
                  <a:srgbClr val="2048A8"/>
                </a:solidFill>
              </a:rPr>
              <a:t>РЕЗУЛЬТАТ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49B34D1-7188-4A8E-BF5B-6E05E0847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562600"/>
            <a:ext cx="2781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102A63"/>
                </a:solidFill>
              </a:defRPr>
            </a:pPr>
            <a:r>
              <a:rPr sz="750" b="1">
                <a:solidFill>
                  <a:srgbClr val="102A63"/>
                </a:solidFill>
              </a:rPr>
              <a:t>{{ROADMAP_3_1_RESULT}}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76D7B27-EDE6-423C-8A8A-3002DB67B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838700"/>
            <a:ext cx="952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4672DE8-94DF-4DCB-A126-E79B62880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867275"/>
            <a:ext cx="304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2048A8"/>
                </a:solidFill>
              </a:defRPr>
            </a:pPr>
            <a:r>
              <a:rPr sz="825" b="1">
                <a:solidFill>
                  <a:srgbClr val="2048A8"/>
                </a:solidFill>
              </a:rPr>
              <a:t>02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CA43316-0F87-4611-8EF9-56DD932A1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810125"/>
            <a:ext cx="2705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102A63"/>
                </a:solidFill>
              </a:defRPr>
            </a:pPr>
            <a:r>
              <a:rPr sz="900">
                <a:solidFill>
                  <a:srgbClr val="102A63"/>
                </a:solidFill>
              </a:rPr>
              <a:t>{{ROADMAP_3_2}}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2B2224A-1EC6-4E0E-847F-15D3FBBDF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410200"/>
            <a:ext cx="7239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00" b="1">
                <a:solidFill>
                  <a:srgbClr val="2048A8"/>
                </a:solidFill>
              </a:defRPr>
            </a:pPr>
            <a:r>
              <a:rPr sz="600" b="1">
                <a:solidFill>
                  <a:srgbClr val="2048A8"/>
                </a:solidFill>
              </a:rPr>
              <a:t>РЕЗУЛЬТАТ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61C4C67-C44A-492C-A9A3-9C05886E8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562600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102A63"/>
                </a:solidFill>
              </a:defRPr>
            </a:pPr>
            <a:r>
              <a:rPr sz="750" b="1">
                <a:solidFill>
                  <a:srgbClr val="102A63"/>
                </a:solidFill>
              </a:rPr>
              <a:t>{{ROADMAP_3_2_RESULT}}</a:t>
            </a:r>
          </a:p>
        </p:txBody>
      </p:sp>
    </p:spTree>
    <p:extLst>
      <p:ext uri="{BB962C8B-B14F-4D97-AF65-F5344CB8AC3E}">
        <p14:creationId xmlns:p14="http://schemas.microsoft.com/office/powerpoint/2010/main" val="92188642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1B16CB5-9E5F-44AD-878D-8CF46AA47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2aae64b92c4514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26A3D2-60C5-4D0A-A5D3-0BD382B88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Команда для реализации изменений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7CAC9D-9E88-4EF9-9A82-0787099D1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7DC0AE-EF3F-4C4C-B4F7-10C9B9912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6AED06-51D1-4E42-BACC-18F4699E0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B640FA-6622-4D3B-99AC-2E652C7D6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12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D7FEA9-E648-4EDA-A4DA-9D317B933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5143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02A63"/>
                </a:solidFill>
              </a:defRPr>
            </a:pPr>
            <a:r>
              <a:rPr sz="2025" b="1">
                <a:solidFill>
                  <a:srgbClr val="102A63"/>
                </a:solidFill>
              </a:rPr>
              <a:t>ТОО «Bolashak Tamer Group»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3B00E0-7880-4CD4-B1A9-F10EE5EBA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19300"/>
            <a:ext cx="5143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96780"/>
                </a:solidFill>
              </a:defRPr>
            </a:pPr>
            <a:r>
              <a:rPr sz="1350">
                <a:solidFill>
                  <a:srgbClr val="596780"/>
                </a:solidFill>
              </a:rPr>
              <a:t>Системный интегратор и поставщик ИТ-решений для государственных и корпоративных организаций.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AF28CD-3727-4A08-924D-E40A22A57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86100"/>
            <a:ext cx="5143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2048A8"/>
                </a:solidFill>
              </a:defRPr>
            </a:pPr>
            <a:r>
              <a:rPr sz="1650" b="1">
                <a:solidFill>
                  <a:srgbClr val="2048A8"/>
                </a:solidFill>
              </a:rPr>
              <a:t>От оценки и проектирования до внедрения, поддержки и развития.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6BC8E0-96F2-4124-AACC-135E2E86E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43400"/>
            <a:ext cx="1428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02A63"/>
                </a:solidFill>
              </a:defRPr>
            </a:pPr>
            <a:r>
              <a:rPr sz="2325" b="1">
                <a:solidFill>
                  <a:srgbClr val="102A63"/>
                </a:solidFill>
              </a:rPr>
              <a:t>2019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6FFFFE-92FE-40F1-9885-2AEDE519C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57750"/>
            <a:ext cx="1428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год основания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D6C55F-9908-4312-9979-7E32A4625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343400"/>
            <a:ext cx="1428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02A63"/>
                </a:solidFill>
              </a:defRPr>
            </a:pPr>
            <a:r>
              <a:rPr sz="2325" b="1">
                <a:solidFill>
                  <a:srgbClr val="102A63"/>
                </a:solidFill>
              </a:rPr>
              <a:t>70+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FE8F03-FE6B-41C8-8617-7B434E98F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857750"/>
            <a:ext cx="1428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крупных проектов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BF0C458-E08F-4A01-A6FE-8E1B4191A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4343400"/>
            <a:ext cx="1428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02A63"/>
                </a:solidFill>
              </a:defRPr>
            </a:pPr>
            <a:r>
              <a:rPr sz="2325" b="1">
                <a:solidFill>
                  <a:srgbClr val="102A63"/>
                </a:solidFill>
              </a:rPr>
              <a:t>40+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6897AF-A89E-4368-B7C9-A3CB026D9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4857750"/>
            <a:ext cx="1428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технологических партнеров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07F2737-8A0E-4578-BE27-2DB5A4EAA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390650"/>
            <a:ext cx="4953000" cy="4438650"/>
          </a:xfrm>
          <a:prstGeom xmlns:a="http://schemas.openxmlformats.org/drawingml/2006/main" prst="roundRect">
            <a:avLst>
              <a:gd name="adj" fmla="val 1717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40E2A76-9DF1-4FF4-92B1-830F15290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954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02A63"/>
                </a:solidFill>
              </a:defRPr>
            </a:pPr>
            <a:r>
              <a:rPr sz="1725" b="1">
                <a:solidFill>
                  <a:srgbClr val="102A63"/>
                </a:solidFill>
              </a:rPr>
              <a:t>Компетенции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6068CEB-89D2-4BBE-8204-97839BF58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3622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2048A8"/>
                </a:solidFill>
              </a:defRPr>
            </a:pPr>
            <a:r>
              <a:rPr sz="1050" b="1">
                <a:solidFill>
                  <a:srgbClr val="2048A8"/>
                </a:solidFill>
              </a:rPr>
              <a:t>01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847FF08-897B-400D-973F-EDF0B48C7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33625"/>
            <a:ext cx="3524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02A63"/>
                </a:solidFill>
              </a:defRPr>
            </a:pPr>
            <a:r>
              <a:rPr sz="1275" b="1">
                <a:solidFill>
                  <a:srgbClr val="102A63"/>
                </a:solidFill>
              </a:rPr>
              <a:t>Аудит и информационная безопасность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FEF0BA4-866D-4EC7-9718-23BB31A3F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14325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2048A8"/>
                </a:solidFill>
              </a:defRPr>
            </a:pPr>
            <a:r>
              <a:rPr sz="1050" b="1">
                <a:solidFill>
                  <a:srgbClr val="2048A8"/>
                </a:solidFill>
              </a:rPr>
              <a:t>02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5E0BBF4-047E-4961-8447-9D9DF1DC2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114675"/>
            <a:ext cx="3524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02A63"/>
                </a:solidFill>
              </a:defRPr>
            </a:pPr>
            <a:r>
              <a:rPr sz="1275" b="1">
                <a:solidFill>
                  <a:srgbClr val="102A63"/>
                </a:solidFill>
              </a:rPr>
              <a:t>Сетевая и серверная инфраструктура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4862232-775E-4DB5-838E-38E23710F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2430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2048A8"/>
                </a:solidFill>
              </a:defRPr>
            </a:pPr>
            <a:r>
              <a:rPr sz="1050" b="1">
                <a:solidFill>
                  <a:srgbClr val="2048A8"/>
                </a:solidFill>
              </a:rPr>
              <a:t>03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A20B640-AF45-4ED7-B912-98909E1D6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895725"/>
            <a:ext cx="3524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02A63"/>
                </a:solidFill>
              </a:defRPr>
            </a:pPr>
            <a:r>
              <a:rPr sz="1275" b="1">
                <a:solidFill>
                  <a:srgbClr val="102A63"/>
                </a:solidFill>
              </a:rPr>
              <a:t>Автоматизация и цифровые решения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5BA4AEC-FC24-41C4-BF81-E4043B7F9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705350"/>
            <a:ext cx="40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2048A8"/>
                </a:solidFill>
              </a:defRPr>
            </a:pPr>
            <a:r>
              <a:rPr sz="1050" b="1">
                <a:solidFill>
                  <a:srgbClr val="2048A8"/>
                </a:solidFill>
              </a:rPr>
              <a:t>04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C7404A8-A4C8-472D-A525-BC24202E0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676775"/>
            <a:ext cx="3524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02A63"/>
                </a:solidFill>
              </a:defRPr>
            </a:pPr>
            <a:r>
              <a:rPr sz="1275" b="1">
                <a:solidFill>
                  <a:srgbClr val="102A63"/>
                </a:solidFill>
              </a:rPr>
              <a:t>Внедрение, поддержка и передача знаний</a:t>
            </a:r>
          </a:p>
        </p:txBody>
      </p:sp>
    </p:spTree>
    <p:extLst>
      <p:ext uri="{BB962C8B-B14F-4D97-AF65-F5344CB8AC3E}">
        <p14:creationId xmlns:p14="http://schemas.microsoft.com/office/powerpoint/2010/main" val="23394731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4251923-4D43-4568-A274-DB78F7146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4ec0d2fac247c4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493E94-1D47-4918-961F-C04D29127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Зафиксируйте решения и следующий шаг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200A18-39E3-4933-9F63-5EC4FBF68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7469A8-37BD-4FAF-A17C-AC0C167A6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445A52-59D0-4693-9DC0-50E89D993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D2E3B0-FECB-43E6-B0D1-980C65B29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13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27D726-EA3F-4B24-8A0A-786685DCA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621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B6AC7E-0E62-4768-9AF7-F272C3C9F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524000"/>
            <a:ext cx="6419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63"/>
                </a:solidFill>
              </a:defRPr>
            </a:pPr>
            <a:r>
              <a:rPr sz="1275">
                <a:solidFill>
                  <a:srgbClr val="102A63"/>
                </a:solidFill>
              </a:rPr>
              <a:t>{{DECISION_1}}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A639E5-EF7C-428C-8CB4-3C8F630F1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00300"/>
            <a:ext cx="6419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07A1E1-A719-4209-8CF3-67D05B88F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289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563E50-3075-4D4B-B342-5AD282619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590800"/>
            <a:ext cx="6419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63"/>
                </a:solidFill>
              </a:defRPr>
            </a:pPr>
            <a:r>
              <a:rPr sz="1275">
                <a:solidFill>
                  <a:srgbClr val="102A63"/>
                </a:solidFill>
              </a:rPr>
              <a:t>{{DECISION_2}}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E6F8B7-0FA5-4AAC-AFF7-26C36ECDC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467100"/>
            <a:ext cx="6419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64CAB2-B447-40C8-91A5-B0D6D6843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E6D654-4C3E-4FF5-B668-69BA69A38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657600"/>
            <a:ext cx="6419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63"/>
                </a:solidFill>
              </a:defRPr>
            </a:pPr>
            <a:r>
              <a:rPr sz="1275">
                <a:solidFill>
                  <a:srgbClr val="102A63"/>
                </a:solidFill>
              </a:rPr>
              <a:t>{{DECISION_3}}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D3CC7E-8F74-48D6-8DE4-25208A676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533900"/>
            <a:ext cx="6419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6807E20-10B0-42D2-AD0F-7CAEF3F53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625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3E5D5C1-43B8-4978-9326-F61FB7C86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724400"/>
            <a:ext cx="6419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63"/>
                </a:solidFill>
              </a:defRPr>
            </a:pPr>
            <a:r>
              <a:rPr sz="1275">
                <a:solidFill>
                  <a:srgbClr val="102A63"/>
                </a:solidFill>
              </a:rPr>
              <a:t>{{DECISION_4}}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04BC706-4111-46B9-8915-1C3990967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390650"/>
            <a:ext cx="3467100" cy="4705350"/>
          </a:xfrm>
          <a:prstGeom xmlns:a="http://schemas.openxmlformats.org/drawingml/2006/main" prst="roundRect">
            <a:avLst>
              <a:gd name="adj" fmla="val 3297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C91868-F508-4247-ABF1-E266A2543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57350"/>
            <a:ext cx="285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02A63"/>
                </a:solidFill>
              </a:defRPr>
            </a:pPr>
            <a:r>
              <a:rPr sz="1875" b="1">
                <a:solidFill>
                  <a:srgbClr val="102A63"/>
                </a:solidFill>
              </a:rPr>
              <a:t>Хотите получить больше сведений?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4A7E006-60F3-4FD3-9088-B8D0367A3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305050"/>
            <a:ext cx="2781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>
                <a:solidFill>
                  <a:srgbClr val="596780"/>
                </a:solidFill>
              </a:defRPr>
            </a:pPr>
            <a:r>
              <a:rPr sz="1200">
                <a:solidFill>
                  <a:srgbClr val="596780"/>
                </a:solidFill>
              </a:rPr>
              <a:t>Обсудим приоритеты, варианты решений и практический план внедрения.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f417cc75844f0f"/>
          <a:stretch xmlns:a="http://schemas.openxmlformats.org/drawingml/2006/main"/>
        </p:blipFill>
        <p:spPr>
          <a:xfrm xmlns:a="http://schemas.openxmlformats.org/drawingml/2006/main">
            <a:off x="8705850" y="2990850"/>
            <a:ext cx="1866900" cy="1866900"/>
          </a:xfrm>
          <a:prstGeom xmlns:a="http://schemas.openxmlformats.org/drawingml/2006/main" prst="rect">
            <a:avLst/>
          </a:prstGeom>
        </p:spPr>
      </p:pic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95FCD1A-081E-43D8-B1BA-061687E9D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953000"/>
            <a:ext cx="289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Сканируйте QR, чтобы сохранить контакты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13B020D-1434-43F5-A0CC-9DF1606EC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314950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048A8"/>
                </a:solidFill>
              </a:defRPr>
            </a:pPr>
            <a:r>
              <a:rPr sz="1125" b="1">
                <a:solidFill>
                  <a:srgbClr val="2048A8"/>
                </a:solidFill>
              </a:rPr>
              <a:t>info@btgroup.kz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5FC47BA-A440-4A19-9A6C-12FF6001C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581650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A63"/>
                </a:solidFill>
              </a:defRPr>
            </a:pPr>
            <a:r>
              <a:rPr sz="1125" b="1">
                <a:solidFill>
                  <a:srgbClr val="102A63"/>
                </a:solidFill>
              </a:rPr>
              <a:t>+7 706 700 48 35</a:t>
            </a:r>
          </a:p>
        </p:txBody>
      </p:sp>
    </p:spTree>
    <p:extLst>
      <p:ext uri="{BB962C8B-B14F-4D97-AF65-F5344CB8AC3E}">
        <p14:creationId xmlns:p14="http://schemas.microsoft.com/office/powerpoint/2010/main" val="9938162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2026-07-17T21:15:32.4100000Z</dcterms:created>
  <dcterms:modified xsi:type="dcterms:W3CDTF">2026-07-17T21:15:32.4100000Z</dcterms:modified>
</coreProperties>
</file>