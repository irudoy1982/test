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9a2d5e7cfc14d66" /><Relationship Type="http://schemas.openxmlformats.org/officeDocument/2006/relationships/extended-properties" Target="/docProps/app.xml" Id="Rd2146a3ffa684a9a" /><Relationship Type="http://schemas.openxmlformats.org/officeDocument/2006/relationships/officeDocument" Target="/ppt/presentation.xml" Id="R08868a35382246b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9e1dcdeb9f24025"/>
  </p:sldMasterIdLst>
  <p:notesMasterIdLst>
    <p:notesMasterId xmlns:r="http://schemas.openxmlformats.org/officeDocument/2006/relationships" r:id="R5a8a457a88944c92"/>
  </p:notesMasterIdLst>
  <p:sldIdLst>
    <p:sldId xmlns:r="http://schemas.openxmlformats.org/officeDocument/2006/relationships" id="256" r:id="R3f0d107eaaed466f"/>
    <p:sldId xmlns:r="http://schemas.openxmlformats.org/officeDocument/2006/relationships" id="257" r:id="R9710d22508af418b"/>
    <p:sldId xmlns:r="http://schemas.openxmlformats.org/officeDocument/2006/relationships" id="258" r:id="R03811bc316224031"/>
    <p:sldId xmlns:r="http://schemas.openxmlformats.org/officeDocument/2006/relationships" id="259" r:id="R88756a043fae4de0"/>
    <p:sldId xmlns:r="http://schemas.openxmlformats.org/officeDocument/2006/relationships" id="260" r:id="R9b310c7ca2cb40fa"/>
    <p:sldId xmlns:r="http://schemas.openxmlformats.org/officeDocument/2006/relationships" id="261" r:id="R674a7fd83bc449e7"/>
    <p:sldId xmlns:r="http://schemas.openxmlformats.org/officeDocument/2006/relationships" id="262" r:id="R93747b400acd4407"/>
    <p:sldId xmlns:r="http://schemas.openxmlformats.org/officeDocument/2006/relationships" id="263" r:id="R170fcdff6832404d"/>
    <p:sldId xmlns:r="http://schemas.openxmlformats.org/officeDocument/2006/relationships" id="264" r:id="R9895b96869c74249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1bf37247f7e4b42" /><Relationship Type="http://schemas.openxmlformats.org/officeDocument/2006/relationships/slideMaster" Target="/ppt/slideMasters/slideMaster1.xml" Id="Re9e1dcdeb9f24025" /><Relationship Type="http://schemas.openxmlformats.org/officeDocument/2006/relationships/notesMaster" Target="/ppt/notesMasters/notesMaster1.xml" Id="R5a8a457a88944c92" /><Relationship Type="http://schemas.openxmlformats.org/officeDocument/2006/relationships/presProps" Target="/ppt/presProps.xml" Id="R151c6e7b78444dfa" /><Relationship Type="http://schemas.openxmlformats.org/officeDocument/2006/relationships/tableStyles" Target="/ppt/tableStyles.xml" Id="R29bb1a0d81c348c9" /><Relationship Type="http://schemas.openxmlformats.org/officeDocument/2006/relationships/slide" Target="/ppt/slides/slide1.xml" Id="R3f0d107eaaed466f" /><Relationship Type="http://schemas.openxmlformats.org/officeDocument/2006/relationships/slide" Target="/ppt/slides/slide2.xml" Id="R9710d22508af418b" /><Relationship Type="http://schemas.openxmlformats.org/officeDocument/2006/relationships/slide" Target="/ppt/slides/slide3.xml" Id="R03811bc316224031" /><Relationship Type="http://schemas.openxmlformats.org/officeDocument/2006/relationships/slide" Target="/ppt/slides/slide4.xml" Id="R88756a043fae4de0" /><Relationship Type="http://schemas.openxmlformats.org/officeDocument/2006/relationships/slide" Target="/ppt/slides/slide5.xml" Id="R9b310c7ca2cb40fa" /><Relationship Type="http://schemas.openxmlformats.org/officeDocument/2006/relationships/slide" Target="/ppt/slides/slide6.xml" Id="R674a7fd83bc449e7" /><Relationship Type="http://schemas.openxmlformats.org/officeDocument/2006/relationships/slide" Target="/ppt/slides/slide7.xml" Id="R93747b400acd4407" /><Relationship Type="http://schemas.openxmlformats.org/officeDocument/2006/relationships/slide" Target="/ppt/slides/slide8.xml" Id="R170fcdff6832404d" /><Relationship Type="http://schemas.openxmlformats.org/officeDocument/2006/relationships/slide" Target="/ppt/slides/slide9.xml" Id="R9895b96869c7424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40980ca3d8b443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dbf36ba82624eed" /><Relationship Type="http://schemas.openxmlformats.org/officeDocument/2006/relationships/notesMaster" Target="/ppt/notesMasters/notesMaster1.xml" Id="Rf09e1ad40b174a2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b658158a89e45a1" /><Relationship Type="http://schemas.openxmlformats.org/officeDocument/2006/relationships/notesMaster" Target="/ppt/notesMasters/notesMaster1.xml" Id="R76ba0ca26a5b4a2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6ba7f9e78b54c1f" /><Relationship Type="http://schemas.openxmlformats.org/officeDocument/2006/relationships/notesMaster" Target="/ppt/notesMasters/notesMaster1.xml" Id="Rab5f82ec089649f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93514565d2c457b" /><Relationship Type="http://schemas.openxmlformats.org/officeDocument/2006/relationships/notesMaster" Target="/ppt/notesMasters/notesMaster1.xml" Id="R80fbc1030d4342f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424c33dc5054b91" /><Relationship Type="http://schemas.openxmlformats.org/officeDocument/2006/relationships/notesMaster" Target="/ppt/notesMasters/notesMaster1.xml" Id="R373e391b1ba7452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bc594e7277e437e" /><Relationship Type="http://schemas.openxmlformats.org/officeDocument/2006/relationships/notesMaster" Target="/ppt/notesMasters/notesMaster1.xml" Id="R50bdd898764e4cf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46b310471bb4049" /><Relationship Type="http://schemas.openxmlformats.org/officeDocument/2006/relationships/notesMaster" Target="/ppt/notesMasters/notesMaster1.xml" Id="Rd9d7800a5139486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d891812b23849bf" /><Relationship Type="http://schemas.openxmlformats.org/officeDocument/2006/relationships/notesMaster" Target="/ppt/notesMasters/notesMaster1.xml" Id="Rd39fc15f1e0f49a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28a5c30cf794c03" /><Relationship Type="http://schemas.openxmlformats.org/officeDocument/2006/relationships/notesMaster" Target="/ppt/notesMasters/notesMaster1.xml" Id="R937fcd55507f4b1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edae62ff4034ff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0a0c43d79cb4e4d" /><Relationship Type="http://schemas.openxmlformats.org/officeDocument/2006/relationships/slideLayout" Target="/ppt/slideLayouts/slideLayout1.xml" Id="R51efdc50e13f4ca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1efdc50e13f4ca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38c098403e4f57" /><Relationship Type="http://schemas.openxmlformats.org/officeDocument/2006/relationships/image" Target="/ppt/media/image.png" Id="Rc08d76d5f2d645ec" /><Relationship Type="http://schemas.openxmlformats.org/officeDocument/2006/relationships/image" Target="/ppt/media/image2.png" Id="Rc7ce305609ba4486" /><Relationship Type="http://schemas.openxmlformats.org/officeDocument/2006/relationships/notesSlide" Target="/ppt/notesSlides/notesSlide1.xml" Id="R772273c3aacd43f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17c430ce714929" /><Relationship Type="http://schemas.openxmlformats.org/officeDocument/2006/relationships/image" Target="/ppt/media/image3.png" Id="R75a16de7a8354149" /><Relationship Type="http://schemas.openxmlformats.org/officeDocument/2006/relationships/notesSlide" Target="/ppt/notesSlides/notesSlide2.xml" Id="R7bcb045deddc4bd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1e996194af4737" /><Relationship Type="http://schemas.openxmlformats.org/officeDocument/2006/relationships/image" Target="/ppt/media/image4.png" Id="R8fdfd7f799904102" /><Relationship Type="http://schemas.openxmlformats.org/officeDocument/2006/relationships/notesSlide" Target="/ppt/notesSlides/notesSlide3.xml" Id="Rbd8a1991b5b9497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a43ff2f0444fd4" /><Relationship Type="http://schemas.openxmlformats.org/officeDocument/2006/relationships/image" Target="/ppt/media/image5.png" Id="R9c3b4b4292c6492e" /><Relationship Type="http://schemas.openxmlformats.org/officeDocument/2006/relationships/notesSlide" Target="/ppt/notesSlides/notesSlide4.xml" Id="R77456b5101f04e1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61da1fe5254295" /><Relationship Type="http://schemas.openxmlformats.org/officeDocument/2006/relationships/image" Target="/ppt/media/image6.png" Id="R8e94366b9a0242ca" /><Relationship Type="http://schemas.openxmlformats.org/officeDocument/2006/relationships/notesSlide" Target="/ppt/notesSlides/notesSlide5.xml" Id="R9833b56045fc4cb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c1198bc2894b19" /><Relationship Type="http://schemas.openxmlformats.org/officeDocument/2006/relationships/image" Target="/ppt/media/image7.png" Id="Rf91210db05ee4f02" /><Relationship Type="http://schemas.openxmlformats.org/officeDocument/2006/relationships/notesSlide" Target="/ppt/notesSlides/notesSlide6.xml" Id="Rcabd7a49f66c4a7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38efc4a2f44e5e" /><Relationship Type="http://schemas.openxmlformats.org/officeDocument/2006/relationships/image" Target="/ppt/media/image8.png" Id="R9d08e60b60c542c3" /><Relationship Type="http://schemas.openxmlformats.org/officeDocument/2006/relationships/notesSlide" Target="/ppt/notesSlides/notesSlide7.xml" Id="R59725be2cb424c1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1e9731534c4f74" /><Relationship Type="http://schemas.openxmlformats.org/officeDocument/2006/relationships/image" Target="/ppt/media/image9.png" Id="R174d3b86651e4bd5" /><Relationship Type="http://schemas.openxmlformats.org/officeDocument/2006/relationships/notesSlide" Target="/ppt/notesSlides/notesSlide8.xml" Id="Rdaaad346c4204d3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0927ff975340d2" /><Relationship Type="http://schemas.openxmlformats.org/officeDocument/2006/relationships/image" Target="/ppt/media/image10.png" Id="R6b615db394d54316" /><Relationship Type="http://schemas.openxmlformats.org/officeDocument/2006/relationships/image" Target="/ppt/media/image11.png" Id="R3f9c73364f024654" /><Relationship Type="http://schemas.openxmlformats.org/officeDocument/2006/relationships/notesSlide" Target="/ppt/notesSlides/notesSlide9.xml" Id="R8a9cbaded20a4dd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1E0ACD9-7817-4E59-ABE5-AE1AB81B1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28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3A391B-D541-4B97-9F08-637A0774B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0"/>
            <a:ext cx="7067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8d76d5f2d645ec"/>
          <a:stretch xmlns:a="http://schemas.openxmlformats.org/drawingml/2006/main"/>
        </p:blipFill>
        <p:spPr>
          <a:xfrm xmlns:a="http://schemas.openxmlformats.org/drawingml/2006/main">
            <a:off x="942635" y="523875"/>
            <a:ext cx="1867580" cy="8572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928623-384A-4A9F-BC5E-66F6373DE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62125"/>
            <a:ext cx="581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048A8"/>
                </a:solidFill>
              </a:defRPr>
            </a:pPr>
            <a:r>
              <a:rPr sz="1275" b="1">
                <a:solidFill>
                  <a:srgbClr val="2048A8"/>
                </a:solidFill>
              </a:rPr>
              <a:t>ЭКСПЕРТНЫЙ АУДИТ ИТ И ИБ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424EBF-55F5-46FC-84CB-0D48A6C32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38375"/>
            <a:ext cx="6000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02A63"/>
                </a:solidFill>
              </a:defRPr>
            </a:pPr>
            <a:r>
              <a:rPr sz="3750" b="1">
                <a:solidFill>
                  <a:srgbClr val="102A63"/>
                </a:solidFill>
              </a:rPr>
              <a:t>{{COMPANY}}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3F675F-40FD-4362-B94E-9AC6E95A5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33800"/>
            <a:ext cx="590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96780"/>
                </a:solidFill>
              </a:defRPr>
            </a:pPr>
            <a:r>
              <a:rPr sz="1650">
                <a:solidFill>
                  <a:srgbClr val="596780"/>
                </a:solidFill>
              </a:rPr>
              <a:t>{{INDUSTRY}}  •  {{CITY}}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AACEA4-1855-48BA-B3CB-54A0227FF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14875"/>
            <a:ext cx="18097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102A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03A26B-09BC-4C07-B15D-2881A5A98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76800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Зрелость ИТ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963A66-374A-4AA3-BC7F-B79481D66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153025"/>
            <a:ext cx="150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{{IT_SCORE}}%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01DF4C-3560-487B-9C35-F107C4583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714875"/>
            <a:ext cx="18097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787550-E20A-4CCE-8E16-0C89AAFEB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876800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Зрелость ИБ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50AB52-FF91-4706-A8A8-7E7CD9C98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5153025"/>
            <a:ext cx="150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{{SCORE}}%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7F45E6-12F2-4B22-8C75-CC6387DAC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51625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{{DATE}}</a:t>
            </a:r>
          </a:p>
        </p:txBody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ce305609ba4486"/>
          <a:srcRect xmlns:a="http://schemas.openxmlformats.org/drawingml/2006/main" l="0" t="132" r="0" b="13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96150" y="0"/>
            <a:ext cx="4895850" cy="6858000"/>
          </a:xfrm>
          <a:prstGeom xmlns:a="http://schemas.openxmlformats.org/drawingml/2006/main" prst="rect">
            <a:avLst/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71DAB60-BF66-4C65-BCC2-FF3B0B824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1EB1B3-C0C2-4D45-92D5-A0A595350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596780"/>
                </a:solidFill>
              </a:defRPr>
            </a:pPr>
            <a:r>
              <a:rPr sz="1050" b="1">
                <a:solidFill>
                  <a:srgbClr val="596780"/>
                </a:solidFill>
              </a:rPr>
              <a:t>by Ivan Rudoy</a:t>
            </a:r>
          </a:p>
        </p:txBody>
      </p:sp>
    </p:spTree>
    <p:extLst>
      <p:ext uri="{BB962C8B-B14F-4D97-AF65-F5344CB8AC3E}">
        <p14:creationId xmlns:p14="http://schemas.microsoft.com/office/powerpoint/2010/main" val="88408352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81B997D-973D-4B61-8455-12B9D8B24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5a16de7a8354149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8C1BC1-EBD5-4164-A62F-E39C8A2A4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Кто стоит за аудитом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5D95EC-41B6-48EC-A11E-BBFB8A806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B5624A-D172-4DDF-B74C-6EEDF1BDA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19A93C-6403-4FD8-8B12-AA8F6C466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4B4EE7-B455-4458-A5A9-9D55BD672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EFFD8A-951D-40C6-93D2-50574703E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495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048A8"/>
                </a:solidFill>
              </a:defRPr>
            </a:pPr>
            <a:r>
              <a:rPr sz="1875" b="1">
                <a:solidFill>
                  <a:srgbClr val="2048A8"/>
                </a:solidFill>
              </a:rPr>
              <a:t>ТОО «Bolashak Tamer Group»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60698D-C470-455D-A720-FAECF0AA6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52625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02A63"/>
                </a:solidFill>
              </a:defRPr>
            </a:pPr>
            <a:r>
              <a:rPr sz="1350">
                <a:solidFill>
                  <a:srgbClr val="102A63"/>
                </a:solidFill>
              </a:rPr>
              <a:t>Системный интегратор и поставщик ИТ-решений для государственных и корпоративных организаций.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BE864B-ECF1-4D9E-A195-57DA32B8E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67050"/>
            <a:ext cx="4953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02A63"/>
                </a:solidFill>
              </a:defRPr>
            </a:pPr>
            <a:r>
              <a:rPr sz="1500" b="1">
                <a:solidFill>
                  <a:srgbClr val="102A63"/>
                </a:solidFill>
              </a:rPr>
              <a:t>От аудита и проектирования - до внедрения, поддержки и развития.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8DCE81-5CA1-4DAC-BA6D-8F08CDDB8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14800"/>
            <a:ext cx="1409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02A63"/>
                </a:solidFill>
              </a:defRPr>
            </a:pPr>
            <a:r>
              <a:rPr sz="2325" b="1">
                <a:solidFill>
                  <a:srgbClr val="102A63"/>
                </a:solidFill>
              </a:rPr>
              <a:t>2019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6731F3-0E88-4AB1-A1FC-17A504E1D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81525"/>
            <a:ext cx="1409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год основания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881CD8-D798-4D41-BB67-83CAA2024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114800"/>
            <a:ext cx="1409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2048A8"/>
                </a:solidFill>
              </a:defRPr>
            </a:pPr>
            <a:r>
              <a:rPr sz="2700" b="1">
                <a:solidFill>
                  <a:srgbClr val="2048A8"/>
                </a:solidFill>
              </a:rPr>
              <a:t>70+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94A451-A296-41B6-A784-526F477F3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581525"/>
            <a:ext cx="1409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крупных проектов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505034F-730B-4E34-9E60-C8365C92F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114800"/>
            <a:ext cx="1409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02A63"/>
                </a:solidFill>
              </a:defRPr>
            </a:pPr>
            <a:r>
              <a:rPr sz="2325" b="1">
                <a:solidFill>
                  <a:srgbClr val="102A63"/>
                </a:solidFill>
              </a:rPr>
              <a:t>40+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AAA2F8-7DB4-44FA-949A-EF5E260F7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581525"/>
            <a:ext cx="1409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технологических партнеров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E3E949-B1F7-4179-A649-FC8CD0755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14950"/>
            <a:ext cx="4953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1CABD9-0D20-42D7-8543-EE76EADB9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44830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A63"/>
                </a:solidFill>
              </a:defRPr>
            </a:pPr>
            <a:r>
              <a:rPr sz="1125" b="1">
                <a:solidFill>
                  <a:srgbClr val="102A63"/>
                </a:solidFill>
              </a:rPr>
              <a:t>Одна команда отвечает за архитектуру, безопасность и практическую реализацию.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77FC1E5-5AB4-40B1-9C17-CABF22C4C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4668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9A7D36B-CC4A-414C-850B-9865B8C4B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428750"/>
            <a:ext cx="4629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2A63"/>
                </a:solidFill>
              </a:defRPr>
            </a:pPr>
            <a:r>
              <a:rPr sz="1425" b="1">
                <a:solidFill>
                  <a:srgbClr val="102A63"/>
                </a:solidFill>
              </a:rPr>
              <a:t>Информационная безопасность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E9E80F4-B43A-4452-9E39-826D0E2F4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71650"/>
            <a:ext cx="4629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Аудит, проектирование защиты, внедрение, поддержка и обучение.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ACBD3DE-81E6-4AB3-AA30-29A05B25B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409825"/>
            <a:ext cx="4629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BFBA0C8-577E-48BB-8E13-54E698EA7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600325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D6B414B-CA2A-46A3-BB5A-D823AD9B3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62225"/>
            <a:ext cx="4629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2A63"/>
                </a:solidFill>
              </a:defRPr>
            </a:pPr>
            <a:r>
              <a:rPr sz="1425" b="1">
                <a:solidFill>
                  <a:srgbClr val="102A63"/>
                </a:solidFill>
              </a:rPr>
              <a:t>Системная интеграция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82232E5-243A-4A9E-8558-24D2B166F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05125"/>
            <a:ext cx="4629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Сетевая, серверная и вычислительная инфраструктура под ключ.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0D21C90-4E44-4948-AD16-E6CAFD018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543300"/>
            <a:ext cx="4629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B632313-C087-41C3-AF87-ED1BB863D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73380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71DFC39-9D58-4746-8ADD-7846D2AA5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695700"/>
            <a:ext cx="4629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2A63"/>
                </a:solidFill>
              </a:defRPr>
            </a:pPr>
            <a:r>
              <a:rPr sz="1425" b="1">
                <a:solidFill>
                  <a:srgbClr val="102A63"/>
                </a:solidFill>
              </a:rPr>
              <a:t>Автоматизация процессов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54F0B55-0B54-41A8-9551-780B089F5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38600"/>
            <a:ext cx="4629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СЭД, low-code, ESM/BPM и цифровые решения для бизнеса.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C70828A-7FAA-464B-9D2D-43180111D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676775"/>
            <a:ext cx="4629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C0B97D6-9B23-4009-96C7-AD89A3C66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867275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04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F5A427E-24DA-4E40-BB03-549C1FAEB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829175"/>
            <a:ext cx="4629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02A63"/>
                </a:solidFill>
              </a:defRPr>
            </a:pPr>
            <a:r>
              <a:rPr sz="1425" b="1">
                <a:solidFill>
                  <a:srgbClr val="102A63"/>
                </a:solidFill>
              </a:rPr>
              <a:t>Сопровождение и развитие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FEE87E2-9BB5-40C6-8B5B-A3F375D48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172075"/>
            <a:ext cx="4629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Рабочие сессии, внедрение, поддержка и передача знаний команде.</a:t>
            </a:r>
          </a:p>
        </p:txBody>
      </p:sp>
    </p:spTree>
    <p:extLst>
      <p:ext uri="{BB962C8B-B14F-4D97-AF65-F5344CB8AC3E}">
        <p14:creationId xmlns:p14="http://schemas.microsoft.com/office/powerpoint/2010/main" val="117043929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575781F-A9C2-4787-B10B-0D2528547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dfd7f799904102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2F054B-C460-40FF-A6B3-2C88E04EE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Главный вывод аудита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1E3211-E972-4FA4-A67A-37DEA072F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17C176-0B6D-4458-B958-886558EA5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C30A59-30B4-46C4-99CF-7B80C8B41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7CD4E5-33BC-42F7-AB7E-BDFC9B6F1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DA2FD6-16AB-44E3-9EFD-9BEB6A225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0648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2048A8"/>
                </a:solidFill>
              </a:defRPr>
            </a:pPr>
            <a:r>
              <a:rPr sz="2100" b="1">
                <a:solidFill>
                  <a:srgbClr val="2048A8"/>
                </a:solidFill>
              </a:rPr>
              <a:t>{{SUMMARY_TITLE}}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17409D-ED99-48D1-A41E-0D290B016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048A8"/>
                </a:solidFill>
              </a:defRPr>
            </a:pPr>
            <a:r>
              <a:rPr sz="1275" b="1">
                <a:solidFill>
                  <a:srgbClr val="2048A8"/>
                </a:solidFill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9C4987-C791-4D97-BA12-25BE18DA0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343150"/>
            <a:ext cx="10048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02A63"/>
                </a:solidFill>
              </a:defRPr>
            </a:pPr>
            <a:r>
              <a:rPr sz="1350">
                <a:solidFill>
                  <a:srgbClr val="102A63"/>
                </a:solidFill>
              </a:rPr>
              <a:t>{{SUMMARY_1}}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62F2E4-CC1D-481C-BE0F-064892830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124200"/>
            <a:ext cx="10048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7B752D-0BB8-4259-903B-21528CD64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528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048A8"/>
                </a:solidFill>
              </a:defRPr>
            </a:pPr>
            <a:r>
              <a:rPr sz="1275" b="1">
                <a:solidFill>
                  <a:srgbClr val="2048A8"/>
                </a:solidFill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59E6BE-F3B8-4C12-9A83-729125265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295650"/>
            <a:ext cx="10048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02A63"/>
                </a:solidFill>
              </a:defRPr>
            </a:pPr>
            <a:r>
              <a:rPr sz="1350">
                <a:solidFill>
                  <a:srgbClr val="102A63"/>
                </a:solidFill>
              </a:rPr>
              <a:t>{{SUMMARY_2}}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6B58E3-1943-408D-9321-07B03B024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076700"/>
            <a:ext cx="10048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84AB50-A3E0-4947-A621-5E0EA7EEB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053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048A8"/>
                </a:solidFill>
              </a:defRPr>
            </a:pPr>
            <a:r>
              <a:rPr sz="1275" b="1">
                <a:solidFill>
                  <a:srgbClr val="2048A8"/>
                </a:solidFill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8B0287E-E1AD-4A8D-985C-92370459D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248150"/>
            <a:ext cx="10048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02A63"/>
                </a:solidFill>
              </a:defRPr>
            </a:pPr>
            <a:r>
              <a:rPr sz="1350">
                <a:solidFill>
                  <a:srgbClr val="102A63"/>
                </a:solidFill>
              </a:rPr>
              <a:t>{{SUMMARY_3}}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F6752F-6E8B-436B-9B74-12C323F24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029200"/>
            <a:ext cx="10048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9572A67-CF4B-4FA3-BC1B-3B7FEF364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048A8"/>
                </a:solidFill>
              </a:defRPr>
            </a:pPr>
            <a:r>
              <a:rPr sz="1275" b="1">
                <a:solidFill>
                  <a:srgbClr val="2048A8"/>
                </a:solidFill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5DAAD97-E76E-4D42-B5AE-2C44BD72A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200650"/>
            <a:ext cx="10048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02A63"/>
                </a:solidFill>
              </a:defRPr>
            </a:pPr>
            <a:r>
              <a:rPr sz="1350">
                <a:solidFill>
                  <a:srgbClr val="102A63"/>
                </a:solidFill>
              </a:rPr>
              <a:t>{{SUMMARY_4}}</a:t>
            </a:r>
          </a:p>
        </p:txBody>
      </p:sp>
    </p:spTree>
    <p:extLst>
      <p:ext uri="{BB962C8B-B14F-4D97-AF65-F5344CB8AC3E}">
        <p14:creationId xmlns:p14="http://schemas.microsoft.com/office/powerpoint/2010/main" val="7910295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BBF6472-24CA-4963-BC5B-C54863DBC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3b4b4292c6492e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F8FE3A-DC15-4715-9D09-2D481A2C2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Масштаб инфраструктуры задает три приоритета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3A7BE5-3F98-49D0-A913-924A4C7CF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9F953B-8E4E-4095-8871-07C44BF67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81245E-94EF-45EB-B1FB-876513B57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8BC06C-8C20-4502-BF0B-2B05CCD8F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885844-143A-4991-9B7D-3AE87DDCE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76375"/>
            <a:ext cx="2476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9525">
            <a:solidFill>
              <a:srgbClr val="2048A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3F32CA-40DA-4521-AA8A-F755E4131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573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{{USERS}}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DE48D5-C0A5-4000-B6D8-94438FAF3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812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FFFFFF"/>
                </a:solidFill>
              </a:defRPr>
            </a:pPr>
            <a:r>
              <a:rPr sz="1125">
                <a:solidFill>
                  <a:srgbClr val="FFFFFF"/>
                </a:solidFill>
              </a:rPr>
              <a:t>рабочих мест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B0BC1D-438C-492D-ADBE-2C047C536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1476375"/>
            <a:ext cx="2476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6C096F-4E78-43FB-BACF-DCBB47085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16573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02A63"/>
                </a:solidFill>
              </a:defRPr>
            </a:pPr>
            <a:r>
              <a:rPr sz="2400" b="1">
                <a:solidFill>
                  <a:srgbClr val="102A63"/>
                </a:solidFill>
              </a:rPr>
              <a:t>{{SERVERS}}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CAFFC82-E80E-4BD2-9256-8A7DE5EDB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1812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серверов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A84E13-8231-44C7-B999-3F3F483C2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476375"/>
            <a:ext cx="2476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A2C628-8267-4C59-9186-8727C3F9E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6573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02A63"/>
                </a:solidFill>
              </a:defRPr>
            </a:pPr>
            <a:r>
              <a:rPr sz="2400" b="1">
                <a:solidFill>
                  <a:srgbClr val="102A63"/>
                </a:solidFill>
              </a:rPr>
              <a:t>{{PUBLIC}}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6927E8-9B2D-4E50-A365-BBEFFF468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812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публичные сервисы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DFC20A-C3F6-4035-AB1C-EFC117BD4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1476375"/>
            <a:ext cx="2476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C9149D-5072-4E02-9CF2-99DE3D6C3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6573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02A63"/>
                </a:solidFill>
              </a:defRPr>
            </a:pPr>
            <a:r>
              <a:rPr sz="2400" b="1">
                <a:solidFill>
                  <a:srgbClr val="102A63"/>
                </a:solidFill>
              </a:rPr>
              <a:t>{{BUSINESS}}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E0C11E1-A581-4F72-9074-483FEEC9F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1812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бизнес-системы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7BCE147-A207-4C14-BED8-200056119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0990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048A8"/>
                </a:solidFill>
              </a:defRPr>
            </a:pPr>
            <a:r>
              <a:rPr sz="1275" b="1">
                <a:solidFill>
                  <a:srgbClr val="2048A8"/>
                </a:solidFill>
              </a:rPr>
              <a:t>Профиль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9A73BB-C64E-4B46-8380-4B7709B6B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14700"/>
            <a:ext cx="10648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{{PROFILE}}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89C8707-95A1-4C70-BE4B-470D4AC08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148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2048A8"/>
                </a:solidFill>
              </a:defRPr>
            </a:pPr>
            <a:r>
              <a:rPr sz="1350" b="1">
                <a:solidFill>
                  <a:srgbClr val="2048A8"/>
                </a:solidFill>
              </a:rPr>
              <a:t>Управленческий фокус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EC3D707-F914-4133-AE23-896C6F011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91050"/>
            <a:ext cx="66675" cy="1333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6DBD709-0EE5-43FB-AB64-5E828BADF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52950"/>
            <a:ext cx="3105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{{FOCUS_1_TITLE}}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732594D-D3EF-4BB1-9297-2F188294E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00625"/>
            <a:ext cx="31051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{{FOCUS_1_TEXT}}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083A6B4-3470-4ED4-B032-C065ED707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591050"/>
            <a:ext cx="66675" cy="1333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8456291-BF68-434F-9EC0-6D5F3F196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552950"/>
            <a:ext cx="3105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{{FOCUS_2_TITLE}}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8F65A14-6900-43F2-B12D-191253187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5000625"/>
            <a:ext cx="31051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{{FOCUS_2_TEXT}}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4B8DEDE-09C9-44F8-8F5D-ABF4B62B8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591050"/>
            <a:ext cx="66675" cy="1333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B7F9A80-E2E3-4538-8F3A-2452DADA7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552950"/>
            <a:ext cx="3105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{{FOCUS_3_TITLE}}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C03A88E-8420-4761-9716-582126D71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000625"/>
            <a:ext cx="31051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{{FOCUS_3_TEXT}}</a:t>
            </a:r>
          </a:p>
        </p:txBody>
      </p:sp>
    </p:spTree>
    <p:extLst>
      <p:ext uri="{BB962C8B-B14F-4D97-AF65-F5344CB8AC3E}">
        <p14:creationId xmlns:p14="http://schemas.microsoft.com/office/powerpoint/2010/main" val="124801486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162980B-EBAF-4653-B9D7-D10CB90EB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94366b9a0242ca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18BBFF-7FC0-4BF1-8CCC-87E03ED85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Четыре риска требуют управленческого внимания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EB4426-9622-4F84-B14A-09CCD5647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84C630-D0EA-4AB8-97FC-C41E495CC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FE119D-08D5-44C6-A618-E89BB74D9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726EC6-E25A-47BD-9187-58976966E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E20E81-AD23-46CD-8411-62FEA7F5B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04775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B423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4A2BBC-088A-40CD-9052-1D30C8797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4307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{{RISK_1_LEVEL}}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0EA229-1F86-4162-8C7F-7F7F49969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1390650"/>
            <a:ext cx="9334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{{RISK_1_TITLE}}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B421CE-D08B-4192-964F-D5CC1C9E7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1695450"/>
            <a:ext cx="933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96780"/>
                </a:solidFill>
              </a:defRPr>
            </a:pPr>
            <a:r>
              <a:rPr sz="1050">
                <a:solidFill>
                  <a:srgbClr val="596780"/>
                </a:solidFill>
              </a:rPr>
              <a:t>{{RISK_1_IMPACT}}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457D01-8D59-4A6A-B4B8-9885D4032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2114550"/>
            <a:ext cx="990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048A8"/>
                </a:solidFill>
              </a:defRPr>
            </a:pPr>
            <a:r>
              <a:rPr sz="975" b="1">
                <a:solidFill>
                  <a:srgbClr val="2048A8"/>
                </a:solidFill>
              </a:rPr>
              <a:t>Рекомендуем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CE8147-421B-46EB-8990-555475A9F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076450"/>
            <a:ext cx="830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{{RISK_1_RECOMMENDATION}}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7109FF-9B98-40DE-BC32-BC6CC73D9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2495550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54C0A0-D63F-4278-9C45-FC6FC1038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09850"/>
            <a:ext cx="104775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D9480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90167AC-A9D1-45F6-B369-4ABCB7FB4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6227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{{RISK_2_LEVEL}}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4EE988-8240-427F-BBCF-FDFBFB463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2609850"/>
            <a:ext cx="9334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{{RISK_2_TITLE}}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73B0386-415F-49CA-AD33-9326177D8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2914650"/>
            <a:ext cx="933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96780"/>
                </a:solidFill>
              </a:defRPr>
            </a:pPr>
            <a:r>
              <a:rPr sz="1050">
                <a:solidFill>
                  <a:srgbClr val="596780"/>
                </a:solidFill>
              </a:rPr>
              <a:t>{{RISK_2_IMPACT}}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BDEBE1B-3359-425F-AC3A-F5E51E8EC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3333750"/>
            <a:ext cx="990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048A8"/>
                </a:solidFill>
              </a:defRPr>
            </a:pPr>
            <a:r>
              <a:rPr sz="975" b="1">
                <a:solidFill>
                  <a:srgbClr val="2048A8"/>
                </a:solidFill>
              </a:rPr>
              <a:t>Рекомендуем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4CE21BD-E29E-4E9C-B006-750E332BF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295650"/>
            <a:ext cx="830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{{RISK_2_RECOMMENDATION}}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0BFD0C5-1469-496A-B6B7-5F0184BEA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3714750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CE0B9BB-CB0E-44C7-A5BA-F34179445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29050"/>
            <a:ext cx="104775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E677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61E7F11-3A6B-4C7F-929D-19E6FB453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8147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{{RISK_3_LEVEL}}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78DEA02-F3AD-4768-8C03-665247B20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3829050"/>
            <a:ext cx="9334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{{RISK_3_TITLE}}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0A85718-726C-413A-B0C5-311C591DE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4133850"/>
            <a:ext cx="933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96780"/>
                </a:solidFill>
              </a:defRPr>
            </a:pPr>
            <a:r>
              <a:rPr sz="1050">
                <a:solidFill>
                  <a:srgbClr val="596780"/>
                </a:solidFill>
              </a:rPr>
              <a:t>{{RISK_3_IMPACT}}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BB3A2F2-796B-42CB-9B56-2B9B72F62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4552950"/>
            <a:ext cx="990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048A8"/>
                </a:solidFill>
              </a:defRPr>
            </a:pPr>
            <a:r>
              <a:rPr sz="975" b="1">
                <a:solidFill>
                  <a:srgbClr val="2048A8"/>
                </a:solidFill>
              </a:rPr>
              <a:t>Рекомендуем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705CB99-70E0-4EFC-ADF0-94A2ADE8C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514850"/>
            <a:ext cx="830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{{RISK_3_RECOMMENDATION}}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D281430-0C99-4637-A2A8-BBB3A42A7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4933950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7E5DD79-9BA1-42C0-8C49-288F62803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0"/>
            <a:ext cx="104775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59C70DA-A6A3-4926-87B7-3675496D7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40067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{{RISK_4_LEVEL}}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447E14E-C317-4600-9762-DB809A08F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048250"/>
            <a:ext cx="9334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{{RISK_4_TITLE}}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DD63B95-EBB7-482A-8E02-D92B674EC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353050"/>
            <a:ext cx="933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96780"/>
                </a:solidFill>
              </a:defRPr>
            </a:pPr>
            <a:r>
              <a:rPr sz="1050">
                <a:solidFill>
                  <a:srgbClr val="596780"/>
                </a:solidFill>
              </a:rPr>
              <a:t>{{RISK_4_IMPACT}}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71BA078-B292-4428-853B-DA54E8FD1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772150"/>
            <a:ext cx="990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2048A8"/>
                </a:solidFill>
              </a:defRPr>
            </a:pPr>
            <a:r>
              <a:rPr sz="975" b="1">
                <a:solidFill>
                  <a:srgbClr val="2048A8"/>
                </a:solidFill>
              </a:rPr>
              <a:t>Рекомендуем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E76687A-0A0E-4C82-B1A5-1BBBF1BBA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5734050"/>
            <a:ext cx="830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{{RISK_4_RECOMMENDATION}}</a:t>
            </a:r>
          </a:p>
        </p:txBody>
      </p:sp>
    </p:spTree>
    <p:extLst>
      <p:ext uri="{BB962C8B-B14F-4D97-AF65-F5344CB8AC3E}">
        <p14:creationId xmlns:p14="http://schemas.microsoft.com/office/powerpoint/2010/main" val="76051680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ACD4B50-0031-4029-9103-520F5DDA4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1210db05ee4f02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4FBBF3-0D73-4A4C-9B81-6120EC8E7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Рекомендации: первоочередные меры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64B4FC-2319-448B-9879-007C265B8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70F37E-46E1-408B-99F0-D8462B224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C3FCF6-550D-4EB8-B586-4E77B85F1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FAB9F2-5EAC-4117-BA30-8A50FE326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9E4DE0-44A1-4083-A9B6-B34F69162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5162550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BF31BA-3AA1-4E5E-A423-69CF55635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00200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378161-F34D-4E49-B306-7AA46645C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571625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{{REC_1_TITLE}}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F97530-357E-42B4-845E-C3B5287BA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47875"/>
            <a:ext cx="4743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{{REC_1_ACTION}}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40DF49-AD89-43C8-9938-DDF243D27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86050"/>
            <a:ext cx="4743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12933B-E821-4D7B-81E8-018620347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2171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048A8"/>
                </a:solidFill>
              </a:defRPr>
            </a:pPr>
            <a:r>
              <a:rPr sz="900" b="1">
                <a:solidFill>
                  <a:srgbClr val="2048A8"/>
                </a:solidFill>
              </a:rPr>
              <a:t>Решение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AAF263-7518-47A7-B0F9-DEDFD584A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09900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{{REC_1_SOLUTION}}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B8833E-9A52-4B99-B554-C35D21B44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819400"/>
            <a:ext cx="2266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048A8"/>
                </a:solidFill>
              </a:defRPr>
            </a:pPr>
            <a:r>
              <a:rPr sz="900" b="1">
                <a:solidFill>
                  <a:srgbClr val="2048A8"/>
                </a:solidFill>
              </a:rPr>
              <a:t>Производители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07536A-012C-4BB5-8BF4-722985FA8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009900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{{REC_1_VENDORS}}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FFA2CC-9D59-4A28-A7AF-AF6D40EBC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428750"/>
            <a:ext cx="5162550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A66984-0401-4DA1-8033-D0A386F2D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00200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D1E1489-E24B-47E4-AA26-257AC7591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571625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{{REC_2_TITLE}}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F0013C-C7B7-4353-AA3B-3724BF426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47875"/>
            <a:ext cx="4743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{{REC_2_ACTION}}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6BB671B-5BCC-4FC9-8B39-45D95464A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686050"/>
            <a:ext cx="4743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1CABCB2-DB86-47EF-AD14-28DA22D1B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819400"/>
            <a:ext cx="2171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048A8"/>
                </a:solidFill>
              </a:defRPr>
            </a:pPr>
            <a:r>
              <a:rPr sz="900" b="1">
                <a:solidFill>
                  <a:srgbClr val="2048A8"/>
                </a:solidFill>
              </a:rPr>
              <a:t>Решение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8B6288F-90FC-42BD-9988-F33092C81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09900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{{REC_2_SOLUTION}}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4FA4F1D-E11A-475C-9697-73EC04980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819400"/>
            <a:ext cx="2266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048A8"/>
                </a:solidFill>
              </a:defRPr>
            </a:pPr>
            <a:r>
              <a:rPr sz="900" b="1">
                <a:solidFill>
                  <a:srgbClr val="2048A8"/>
                </a:solidFill>
              </a:rPr>
              <a:t>Производители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7968AC9-93DD-4E25-8623-A239EF2C7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009900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{{REC_2_VENDORS}}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B13CBAB-36F2-434A-A99B-70F583FBA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57625"/>
            <a:ext cx="5162550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9D101E8-19E2-48A5-8EF8-73B11735E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290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B46E4CB-6707-4654-9344-939BE81C8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000500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{{REC_3_TITLE}}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428D944-5E03-4DA4-AA68-A23A530B6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76750"/>
            <a:ext cx="4743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{{REC_3_ACTION}}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E8AD9F8-A088-46E0-93BB-A82D8E8E7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14925"/>
            <a:ext cx="4743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BDFE9C5-55DA-42BC-BE3C-54D5EE0FA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48275"/>
            <a:ext cx="2171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048A8"/>
                </a:solidFill>
              </a:defRPr>
            </a:pPr>
            <a:r>
              <a:rPr sz="900" b="1">
                <a:solidFill>
                  <a:srgbClr val="2048A8"/>
                </a:solidFill>
              </a:rPr>
              <a:t>Решение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481E88B-FD2F-4CCC-B281-7BC22BF16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38775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{{REC_3_SOLUTION}}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1E22C46-30F8-40D8-B9DA-02204B394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5248275"/>
            <a:ext cx="2266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048A8"/>
                </a:solidFill>
              </a:defRPr>
            </a:pPr>
            <a:r>
              <a:rPr sz="900" b="1">
                <a:solidFill>
                  <a:srgbClr val="2048A8"/>
                </a:solidFill>
              </a:rPr>
              <a:t>Производители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1C43CF9-A53B-4B41-819C-190DA1964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5438775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{{REC_3_VENDORS}}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8805F73-7FB1-439A-9BAB-3D68FCF9A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857625"/>
            <a:ext cx="5162550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4E865F2-CC26-4A1E-AD14-F16753C8B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0290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04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216B952-7601-406E-8A6C-F35C051B3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000500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{{REC_4_TITLE}}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37DEE80-4B3C-4029-9962-772E0A9E6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76750"/>
            <a:ext cx="4743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{{REC_4_ACTION}}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63FFCB4-F20A-4E69-A818-892BAE1F5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114925"/>
            <a:ext cx="4743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FD6F8DD-DEE6-4C80-AAC1-30E63C513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248275"/>
            <a:ext cx="2171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048A8"/>
                </a:solidFill>
              </a:defRPr>
            </a:pPr>
            <a:r>
              <a:rPr sz="900" b="1">
                <a:solidFill>
                  <a:srgbClr val="2048A8"/>
                </a:solidFill>
              </a:rPr>
              <a:t>Решение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42EB54D-8DF6-4419-A7EF-4765B9C30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438775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{{REC_4_SOLUTION}}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5EC3BA2-2D68-4E63-AA6D-5FC02217E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5248275"/>
            <a:ext cx="2266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048A8"/>
                </a:solidFill>
              </a:defRPr>
            </a:pPr>
            <a:r>
              <a:rPr sz="900" b="1">
                <a:solidFill>
                  <a:srgbClr val="2048A8"/>
                </a:solidFill>
              </a:rPr>
              <a:t>Производители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D6FC530-8CD3-4082-B914-FB679858B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5438775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{{REC_4_VENDORS}}</a:t>
            </a:r>
          </a:p>
        </p:txBody>
      </p:sp>
    </p:spTree>
    <p:extLst>
      <p:ext uri="{BB962C8B-B14F-4D97-AF65-F5344CB8AC3E}">
        <p14:creationId xmlns:p14="http://schemas.microsoft.com/office/powerpoint/2010/main" val="109258964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3173D83-03F8-4E10-8010-8654851F2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08e60b60c542c3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3F0AA2-7969-49C7-BC9C-1624770B4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Рекомендации: следующий этап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FE5A83-08E2-4075-80C7-D0DE0651A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2DF000-5D33-429D-B768-559112CA8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FC5D91-7743-40C3-8EA2-4D7B32400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193BDE-7FA8-4BE1-A366-3990B7E70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5BC97B-C697-409D-BBED-D479642B7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5162550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F9D21D-2C00-4631-B86E-7EB06495E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00200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A57478-1D77-4B43-BF97-080C2E234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571625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{{REC_5_TITLE}}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A89920-5305-43E1-93E4-E262E83E5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47875"/>
            <a:ext cx="4743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{{REC_5_ACTION}}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92AD69-ACAC-47F3-81EF-4A791CE7C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86050"/>
            <a:ext cx="4743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23A4EE-8854-4EC0-A4A8-E5D2D7518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2171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048A8"/>
                </a:solidFill>
              </a:defRPr>
            </a:pPr>
            <a:r>
              <a:rPr sz="900" b="1">
                <a:solidFill>
                  <a:srgbClr val="2048A8"/>
                </a:solidFill>
              </a:rPr>
              <a:t>Решение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6C5E8F-A7B1-4D4B-8537-2D8599FD8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09900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{{REC_5_SOLUTION}}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4572B3-859C-4B89-BB8A-FD76D7F58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819400"/>
            <a:ext cx="2266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048A8"/>
                </a:solidFill>
              </a:defRPr>
            </a:pPr>
            <a:r>
              <a:rPr sz="900" b="1">
                <a:solidFill>
                  <a:srgbClr val="2048A8"/>
                </a:solidFill>
              </a:rPr>
              <a:t>Производители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C48050-86FB-4CD1-9114-BE616CCBE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009900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{{REC_5_VENDORS}}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E5C7ED-BB59-4FB4-A314-5827695F3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428750"/>
            <a:ext cx="5162550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88F9388-71D0-47ED-87CD-EE50B9552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00200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302BBAD-26F2-4D06-A3E1-5144C90A8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571625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{{REC_6_TITLE}}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D0CB97B-CBB3-455E-9172-0961C363B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47875"/>
            <a:ext cx="4743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{{REC_6_ACTION}}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09470DA-BD4E-4C33-858F-E4CE567F3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686050"/>
            <a:ext cx="4743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D492A12-6E9F-4491-B8C2-02BDF06A1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819400"/>
            <a:ext cx="2171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048A8"/>
                </a:solidFill>
              </a:defRPr>
            </a:pPr>
            <a:r>
              <a:rPr sz="900" b="1">
                <a:solidFill>
                  <a:srgbClr val="2048A8"/>
                </a:solidFill>
              </a:rPr>
              <a:t>Решение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4429D8D-2AC1-4D07-802F-5645EA866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09900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{{REC_6_SOLUTION}}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21C3C21-681B-4062-BA0E-8B2FFD833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819400"/>
            <a:ext cx="2266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048A8"/>
                </a:solidFill>
              </a:defRPr>
            </a:pPr>
            <a:r>
              <a:rPr sz="900" b="1">
                <a:solidFill>
                  <a:srgbClr val="2048A8"/>
                </a:solidFill>
              </a:rPr>
              <a:t>Производители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0089A15-96F3-4CEF-92F3-9CB4E4DB7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009900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{{REC_6_VENDORS}}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92ACD9C-1B72-4DDF-99AB-ED92E62DC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57625"/>
            <a:ext cx="5162550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4BA7DF6-A44E-4D6B-9F03-65B72E9A7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290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07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D93AF1E-D694-41AA-92E8-E90B1E284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000500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{{REC_7_TITLE}}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9400B16-96C6-46E5-989A-BBEACE387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76750"/>
            <a:ext cx="4743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{{REC_7_ACTION}}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102E351-F33A-4857-A1BF-9CC218E6F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14925"/>
            <a:ext cx="4743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998CF72-8395-4726-B2FE-D9FAAA260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48275"/>
            <a:ext cx="2171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048A8"/>
                </a:solidFill>
              </a:defRPr>
            </a:pPr>
            <a:r>
              <a:rPr sz="900" b="1">
                <a:solidFill>
                  <a:srgbClr val="2048A8"/>
                </a:solidFill>
              </a:rPr>
              <a:t>Решение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1D5E29E-D798-4044-A1C3-1CA1B8447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38775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{{REC_7_SOLUTION}}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75BA0A3-C31F-4C96-8F8C-3F015F807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5248275"/>
            <a:ext cx="2266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048A8"/>
                </a:solidFill>
              </a:defRPr>
            </a:pPr>
            <a:r>
              <a:rPr sz="900" b="1">
                <a:solidFill>
                  <a:srgbClr val="2048A8"/>
                </a:solidFill>
              </a:rPr>
              <a:t>Производители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CB2515E-6C98-4AF3-9D97-C7C935337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5438775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{{REC_7_VENDORS}}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921A9D7-61B8-43C6-87DA-1A8F32D56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857625"/>
            <a:ext cx="5162550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E0D4418-A90B-4C02-8803-C1CA0A5F5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0290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08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93C24F0-FEAD-461F-A721-3548B0343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000500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02A63"/>
                </a:solidFill>
              </a:defRPr>
            </a:pPr>
            <a:r>
              <a:rPr sz="1350" b="1">
                <a:solidFill>
                  <a:srgbClr val="102A63"/>
                </a:solidFill>
              </a:rPr>
              <a:t>{{REC_8_TITLE}}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BA831C2-E2F4-413E-985D-59C42B121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76750"/>
            <a:ext cx="4743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780"/>
                </a:solidFill>
              </a:defRPr>
            </a:pPr>
            <a:r>
              <a:rPr sz="1125">
                <a:solidFill>
                  <a:srgbClr val="596780"/>
                </a:solidFill>
              </a:rPr>
              <a:t>{{REC_8_ACTION}}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42FD63B-86E6-4749-9C02-48C9AB583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114925"/>
            <a:ext cx="4743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B91843E-89EF-4705-9579-FCC9762C8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248275"/>
            <a:ext cx="2171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048A8"/>
                </a:solidFill>
              </a:defRPr>
            </a:pPr>
            <a:r>
              <a:rPr sz="900" b="1">
                <a:solidFill>
                  <a:srgbClr val="2048A8"/>
                </a:solidFill>
              </a:rPr>
              <a:t>Решение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1087939-8213-4151-9F57-862B49AA1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438775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{{REC_8_SOLUTION}}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1754668-1AA1-4F71-B0B1-DD5CBBBB5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5248275"/>
            <a:ext cx="2266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2048A8"/>
                </a:solidFill>
              </a:defRPr>
            </a:pPr>
            <a:r>
              <a:rPr sz="900" b="1">
                <a:solidFill>
                  <a:srgbClr val="2048A8"/>
                </a:solidFill>
              </a:rPr>
              <a:t>Производители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74861B6-2C3A-47D4-8B19-70262D5B0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5438775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02A63"/>
                </a:solidFill>
              </a:defRPr>
            </a:pPr>
            <a:r>
              <a:rPr sz="1050" b="1">
                <a:solidFill>
                  <a:srgbClr val="102A63"/>
                </a:solidFill>
              </a:rPr>
              <a:t>{{REC_8_VENDORS}}</a:t>
            </a:r>
          </a:p>
        </p:txBody>
      </p:sp>
    </p:spTree>
    <p:extLst>
      <p:ext uri="{BB962C8B-B14F-4D97-AF65-F5344CB8AC3E}">
        <p14:creationId xmlns:p14="http://schemas.microsoft.com/office/powerpoint/2010/main" val="184964848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30E5952-5003-48BC-B214-87C68C0FF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4d3b86651e4bd5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3284F9-382E-4067-9E47-D7D3E2102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План на 90 дней переводит выводы в действия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784C58-6C14-4F99-89A5-D6595521D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53DDD5-8599-43AB-B857-B416F0649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002768-E40E-46E9-A306-4683FBBA0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4B1E84-DD5B-4764-BD16-A26085F00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A4B69C-07E3-439F-BA21-F0386EB6A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04950"/>
            <a:ext cx="3371850" cy="4324350"/>
          </a:xfrm>
          <a:prstGeom xmlns:a="http://schemas.openxmlformats.org/drawingml/2006/main" prst="roundRect">
            <a:avLst>
              <a:gd name="adj" fmla="val 2260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A35BF6-938E-4181-9E80-760BEE89C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04950"/>
            <a:ext cx="33718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774FE4-9EAF-4BC6-8E52-B4D8E8B26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954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0–30 дней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585CCC-984D-4CF4-82C5-237E8FD9F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0507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C7CE2A-9D45-4A96-AC7B-0C96EABA5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428875"/>
            <a:ext cx="23812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{{ROADMAP_1_1}}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FC4DAA-2895-44FA-861C-0FAA780CA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05225"/>
            <a:ext cx="291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162B27-AF9E-4257-A7FF-94401DD4A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386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EF1566-4D64-4259-8631-B1EDA1D24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62400"/>
            <a:ext cx="23812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{{ROADMAP_1_2}}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BA11A85-4D30-4BE2-9359-7873CFC5C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504950"/>
            <a:ext cx="3371850" cy="4324350"/>
          </a:xfrm>
          <a:prstGeom xmlns:a="http://schemas.openxmlformats.org/drawingml/2006/main" prst="roundRect">
            <a:avLst>
              <a:gd name="adj" fmla="val 22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FDC769-5FDC-4A3B-BF82-87C601CF2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504950"/>
            <a:ext cx="33718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102A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4240EB-F642-4CD0-A86E-21B3A0810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6954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31–60 дней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605DBBF-A6FB-4EF1-90B1-12BE85918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50507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FBF1492-08BB-4A29-8C9B-CCC987990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428875"/>
            <a:ext cx="23812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{{ROADMAP_2_1}}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99E959A-AD55-4D9A-AB0B-F79252286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705225"/>
            <a:ext cx="291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E659E4C-5619-4B60-8AE9-21EAC8785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0386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3C73CBA-A40C-4A17-9414-7C238535A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962400"/>
            <a:ext cx="23812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{{ROADMAP_2_2}}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D57E13E-0FAC-4779-B10D-93934DC59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504950"/>
            <a:ext cx="3371850" cy="4324350"/>
          </a:xfrm>
          <a:prstGeom xmlns:a="http://schemas.openxmlformats.org/drawingml/2006/main" prst="roundRect">
            <a:avLst>
              <a:gd name="adj" fmla="val 22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EF939B9-7C84-474C-B0A4-D955E91AF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504950"/>
            <a:ext cx="33718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102A6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90B2CE9-0B64-495A-B4EE-78360EAB5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6954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61–90 дней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F884ABE-0288-4CCD-9F48-D743C956A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50507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BB68942-413D-4517-8484-081686B0F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428875"/>
            <a:ext cx="23812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{{ROADMAP_3_1}}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B1082BD-3C95-4BC4-BCD2-EBDBB64CB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705225"/>
            <a:ext cx="291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6548D08-469C-4E74-BD9B-15E5D2CB4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0386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9C237A6-7D78-4551-B173-EC406077E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962400"/>
            <a:ext cx="23812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{{ROADMAP_3_2}}</a:t>
            </a:r>
          </a:p>
        </p:txBody>
      </p:sp>
    </p:spTree>
    <p:extLst>
      <p:ext uri="{BB962C8B-B14F-4D97-AF65-F5344CB8AC3E}">
        <p14:creationId xmlns:p14="http://schemas.microsoft.com/office/powerpoint/2010/main" val="129580574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B311ED7-91E4-44AF-B414-194F76B51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615db394d54316"/>
          <a:stretch xmlns:a="http://schemas.openxmlformats.org/drawingml/2006/main"/>
        </p:blipFill>
        <p:spPr>
          <a:xfrm xmlns:a="http://schemas.openxmlformats.org/drawingml/2006/main">
            <a:off x="10093098" y="247650"/>
            <a:ext cx="1245054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D9B229-6FC3-49BD-92B2-72BFFEECD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63"/>
                </a:solidFill>
              </a:defRPr>
            </a:pPr>
            <a:r>
              <a:rPr sz="2550" b="1">
                <a:solidFill>
                  <a:srgbClr val="102A63"/>
                </a:solidFill>
              </a:rPr>
              <a:t>Зафиксируйте решения и следующий шаг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1DEE1C-7B7C-49D2-9850-EB8F7AE0F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D76CE4-410E-4FE1-BE19-2863FAB40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48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5AB591-ED3E-455C-82D3-23CE1AEAC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BTG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751A3C-E0E6-4FF0-8673-57372B227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5C9749-A68E-433E-A54C-9CF55FC93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621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7F892B-68C6-494E-9349-A1D248EF0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524000"/>
            <a:ext cx="6419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{{DECISION_1}}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92ABE1-C6A3-4FC8-8CC8-734C532CC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00300"/>
            <a:ext cx="6419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6D550B-3466-455A-9362-58A4A6C86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289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1E3E6D-6612-41B3-AD7A-234D6FA86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590800"/>
            <a:ext cx="6419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{{DECISION_2}}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EB3EDA-CEEC-40F8-9CE0-6B4E867F6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467100"/>
            <a:ext cx="6419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AB4149-2D21-4CDE-AF01-50A264583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33F9E0-876D-4EAD-9385-04A8909BE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657600"/>
            <a:ext cx="6419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{{DECISION_3}}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94D882-C6A2-475B-A8B5-14D8ED587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533900"/>
            <a:ext cx="6419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E6219C-6F6C-41AE-8B91-E153CAA75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625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2048A8"/>
                </a:solidFill>
              </a:defRPr>
            </a:pPr>
            <a:r>
              <a:rPr sz="1200" b="1">
                <a:solidFill>
                  <a:srgbClr val="2048A8"/>
                </a:solidFill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FF6413-AC80-4D9F-9EFA-589ABB869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724400"/>
            <a:ext cx="6419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02A63"/>
                </a:solidFill>
              </a:defRPr>
            </a:pPr>
            <a:r>
              <a:rPr sz="1275">
                <a:solidFill>
                  <a:srgbClr val="102A63"/>
                </a:solidFill>
              </a:rPr>
              <a:t>{{DECISION_4}}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33F9F5-36AA-4F59-9926-69B11E806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390650"/>
            <a:ext cx="3467100" cy="4705350"/>
          </a:xfrm>
          <a:prstGeom xmlns:a="http://schemas.openxmlformats.org/drawingml/2006/main" prst="roundRect">
            <a:avLst>
              <a:gd name="adj" fmla="val 3297"/>
            </a:avLst>
          </a:prstGeom>
          <a:solidFill xmlns:a="http://schemas.openxmlformats.org/drawingml/2006/main">
            <a:srgbClr val="EEF3FF"/>
          </a:solidFill>
          <a:ln xmlns:a="http://schemas.openxmlformats.org/drawingml/2006/main" w="9525">
            <a:solidFill>
              <a:srgbClr val="D7E0F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826B28E-9F46-4581-8FAE-1293C3A52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57350"/>
            <a:ext cx="285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02A63"/>
                </a:solidFill>
              </a:defRPr>
            </a:pPr>
            <a:r>
              <a:rPr sz="1875" b="1">
                <a:solidFill>
                  <a:srgbClr val="102A63"/>
                </a:solidFill>
              </a:rPr>
              <a:t>Хотите получить больше сведений?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399DA6A-C3DE-4384-A8F7-07B49F975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305050"/>
            <a:ext cx="2781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>
                <a:solidFill>
                  <a:srgbClr val="596780"/>
                </a:solidFill>
              </a:defRPr>
            </a:pPr>
            <a:r>
              <a:rPr sz="1200">
                <a:solidFill>
                  <a:srgbClr val="596780"/>
                </a:solidFill>
              </a:rPr>
              <a:t>Обсудим приоритеты, варианты решений и практический план внедрения.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9c73364f024654"/>
          <a:stretch xmlns:a="http://schemas.openxmlformats.org/drawingml/2006/main"/>
        </p:blipFill>
        <p:spPr>
          <a:xfrm xmlns:a="http://schemas.openxmlformats.org/drawingml/2006/main">
            <a:off x="8705850" y="2990850"/>
            <a:ext cx="1866900" cy="1866900"/>
          </a:xfrm>
          <a:prstGeom xmlns:a="http://schemas.openxmlformats.org/drawingml/2006/main" prst="rect">
            <a:avLst/>
          </a:prstGeom>
        </p:spPr>
      </p:pic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0698D56-F58D-41A1-9F79-0DEECB951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953000"/>
            <a:ext cx="289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>
                <a:solidFill>
                  <a:srgbClr val="596780"/>
                </a:solidFill>
              </a:defRPr>
            </a:pPr>
            <a:r>
              <a:rPr sz="975">
                <a:solidFill>
                  <a:srgbClr val="596780"/>
                </a:solidFill>
              </a:rPr>
              <a:t>Сканируйте QR, чтобы сохранить контакты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F339F28-F9B7-4898-9330-8D1C493F3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31495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048A8"/>
                </a:solidFill>
              </a:defRPr>
            </a:pPr>
            <a:r>
              <a:rPr sz="1125" b="1">
                <a:solidFill>
                  <a:srgbClr val="2048A8"/>
                </a:solidFill>
              </a:rPr>
              <a:t>info@btgroup.kz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2C9DD09-00D5-4719-9413-E079E8A84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58165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02A63"/>
                </a:solidFill>
              </a:defRPr>
            </a:pPr>
            <a:r>
              <a:rPr sz="1125" b="1">
                <a:solidFill>
                  <a:srgbClr val="102A63"/>
                </a:solidFill>
              </a:rPr>
              <a:t>+7 706 700 48 35</a:t>
            </a:r>
          </a:p>
        </p:txBody>
      </p:sp>
    </p:spTree>
    <p:extLst>
      <p:ext uri="{BB962C8B-B14F-4D97-AF65-F5344CB8AC3E}">
        <p14:creationId xmlns:p14="http://schemas.microsoft.com/office/powerpoint/2010/main" val="172478913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2026-07-17T09:58:20.7140000Z</dcterms:created>
  <dcterms:modified xsi:type="dcterms:W3CDTF">2026-07-17T09:58:20.7140000Z</dcterms:modified>
</coreProperties>
</file>