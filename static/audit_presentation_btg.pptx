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3102c38eca46b9" /><Relationship Type="http://schemas.openxmlformats.org/officeDocument/2006/relationships/extended-properties" Target="/docProps/app.xml" Id="R399949b65e824664" /><Relationship Type="http://schemas.openxmlformats.org/officeDocument/2006/relationships/officeDocument" Target="/ppt/presentation.xml" Id="Rca23c55c7e5343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3ae12163474e4d"/>
  </p:sldMasterIdLst>
  <p:notesMasterIdLst>
    <p:notesMasterId xmlns:r="http://schemas.openxmlformats.org/officeDocument/2006/relationships" r:id="R31f831c321e749cb"/>
  </p:notesMasterIdLst>
  <p:sldIdLst>
    <p:sldId xmlns:r="http://schemas.openxmlformats.org/officeDocument/2006/relationships" id="256" r:id="R430a630675a04467"/>
    <p:sldId xmlns:r="http://schemas.openxmlformats.org/officeDocument/2006/relationships" id="257" r:id="Rbef5b6f0c50547b7"/>
    <p:sldId xmlns:r="http://schemas.openxmlformats.org/officeDocument/2006/relationships" id="258" r:id="R65015bcbba6344a1"/>
    <p:sldId xmlns:r="http://schemas.openxmlformats.org/officeDocument/2006/relationships" id="259" r:id="Ra2c1b52a74944f18"/>
    <p:sldId xmlns:r="http://schemas.openxmlformats.org/officeDocument/2006/relationships" id="260" r:id="R79e1a67b4775494d"/>
    <p:sldId xmlns:r="http://schemas.openxmlformats.org/officeDocument/2006/relationships" id="261" r:id="R5af336cdb1b045de"/>
    <p:sldId xmlns:r="http://schemas.openxmlformats.org/officeDocument/2006/relationships" id="262" r:id="Rf81543f101904856"/>
    <p:sldId xmlns:r="http://schemas.openxmlformats.org/officeDocument/2006/relationships" id="263" r:id="Re461244ed5994d67"/>
    <p:sldId xmlns:r="http://schemas.openxmlformats.org/officeDocument/2006/relationships" id="264" r:id="Rc37fbec47d514608"/>
    <p:sldId xmlns:r="http://schemas.openxmlformats.org/officeDocument/2006/relationships" id="265" r:id="Reee92b6cef724ca7"/>
    <p:sldId xmlns:r="http://schemas.openxmlformats.org/officeDocument/2006/relationships" id="266" r:id="R2084266a83674a12"/>
    <p:sldId xmlns:r="http://schemas.openxmlformats.org/officeDocument/2006/relationships" id="267" r:id="R8af82a9903e14d3d"/>
    <p:sldId xmlns:r="http://schemas.openxmlformats.org/officeDocument/2006/relationships" id="268" r:id="R7cdf43c13863440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b7d1c7b4a84f70" /><Relationship Type="http://schemas.openxmlformats.org/officeDocument/2006/relationships/slideMaster" Target="/ppt/slideMasters/slideMaster1.xml" Id="R4e3ae12163474e4d" /><Relationship Type="http://schemas.openxmlformats.org/officeDocument/2006/relationships/notesMaster" Target="/ppt/notesMasters/notesMaster1.xml" Id="R31f831c321e749cb" /><Relationship Type="http://schemas.openxmlformats.org/officeDocument/2006/relationships/presProps" Target="/ppt/presProps.xml" Id="R99c8b9d8c6894aed" /><Relationship Type="http://schemas.openxmlformats.org/officeDocument/2006/relationships/tableStyles" Target="/ppt/tableStyles.xml" Id="R085a900b6e724756" /><Relationship Type="http://schemas.openxmlformats.org/officeDocument/2006/relationships/slide" Target="/ppt/slides/slide1.xml" Id="R430a630675a04467" /><Relationship Type="http://schemas.openxmlformats.org/officeDocument/2006/relationships/slide" Target="/ppt/slides/slide2.xml" Id="Rbef5b6f0c50547b7" /><Relationship Type="http://schemas.openxmlformats.org/officeDocument/2006/relationships/slide" Target="/ppt/slides/slide3.xml" Id="R65015bcbba6344a1" /><Relationship Type="http://schemas.openxmlformats.org/officeDocument/2006/relationships/slide" Target="/ppt/slides/slide4.xml" Id="Ra2c1b52a74944f18" /><Relationship Type="http://schemas.openxmlformats.org/officeDocument/2006/relationships/slide" Target="/ppt/slides/slide5.xml" Id="R79e1a67b4775494d" /><Relationship Type="http://schemas.openxmlformats.org/officeDocument/2006/relationships/slide" Target="/ppt/slides/slide6.xml" Id="R5af336cdb1b045de" /><Relationship Type="http://schemas.openxmlformats.org/officeDocument/2006/relationships/slide" Target="/ppt/slides/slide7.xml" Id="Rf81543f101904856" /><Relationship Type="http://schemas.openxmlformats.org/officeDocument/2006/relationships/slide" Target="/ppt/slides/slide8.xml" Id="Re461244ed5994d67" /><Relationship Type="http://schemas.openxmlformats.org/officeDocument/2006/relationships/slide" Target="/ppt/slides/slide9.xml" Id="Rc37fbec47d514608" /><Relationship Type="http://schemas.openxmlformats.org/officeDocument/2006/relationships/slide" Target="/ppt/slides/slide10.xml" Id="Reee92b6cef724ca7" /><Relationship Type="http://schemas.openxmlformats.org/officeDocument/2006/relationships/slide" Target="/ppt/slides/slide11.xml" Id="R2084266a83674a12" /><Relationship Type="http://schemas.openxmlformats.org/officeDocument/2006/relationships/slide" Target="/ppt/slides/slide12.xml" Id="R8af82a9903e14d3d" /><Relationship Type="http://schemas.openxmlformats.org/officeDocument/2006/relationships/slide" Target="/ppt/slides/slide13.xml" Id="R7cdf43c1386344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0746037bce44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2c83e78870470d" /><Relationship Type="http://schemas.openxmlformats.org/officeDocument/2006/relationships/notesMaster" Target="/ppt/notesMasters/notesMaster1.xml" Id="Rbfc0446d91be43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f25a7277f34d41" /><Relationship Type="http://schemas.openxmlformats.org/officeDocument/2006/relationships/notesMaster" Target="/ppt/notesMasters/notesMaster1.xml" Id="Radfddaf31f4941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427f75733448bc" /><Relationship Type="http://schemas.openxmlformats.org/officeDocument/2006/relationships/notesMaster" Target="/ppt/notesMasters/notesMaster1.xml" Id="Ref7515c1286a46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62814e66bf4db4" /><Relationship Type="http://schemas.openxmlformats.org/officeDocument/2006/relationships/notesMaster" Target="/ppt/notesMasters/notesMaster1.xml" Id="Re726832b128c40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1768cefa34498e" /><Relationship Type="http://schemas.openxmlformats.org/officeDocument/2006/relationships/notesMaster" Target="/ppt/notesMasters/notesMaster1.xml" Id="R1c514aca075748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e400f0a86949bc" /><Relationship Type="http://schemas.openxmlformats.org/officeDocument/2006/relationships/notesMaster" Target="/ppt/notesMasters/notesMaster1.xml" Id="R090b8f84f3354e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bd920789474112" /><Relationship Type="http://schemas.openxmlformats.org/officeDocument/2006/relationships/notesMaster" Target="/ppt/notesMasters/notesMaster1.xml" Id="Recb3497034cc4e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53bb1f32b24dab" /><Relationship Type="http://schemas.openxmlformats.org/officeDocument/2006/relationships/notesMaster" Target="/ppt/notesMasters/notesMaster1.xml" Id="Rb56a9cb3b35b4c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590ae0062d4b04" /><Relationship Type="http://schemas.openxmlformats.org/officeDocument/2006/relationships/notesMaster" Target="/ppt/notesMasters/notesMaster1.xml" Id="Rbc207253e6324b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6bf3f64c554cb3" /><Relationship Type="http://schemas.openxmlformats.org/officeDocument/2006/relationships/notesMaster" Target="/ppt/notesMasters/notesMaster1.xml" Id="Rd5038dad507147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8164f602ce4392" /><Relationship Type="http://schemas.openxmlformats.org/officeDocument/2006/relationships/notesMaster" Target="/ppt/notesMasters/notesMaster1.xml" Id="R16fc89131aa246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76b08791bd4d16" /><Relationship Type="http://schemas.openxmlformats.org/officeDocument/2006/relationships/notesMaster" Target="/ppt/notesMasters/notesMaster1.xml" Id="R85d089ae8699497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2cb7e01a3b340ee" /><Relationship Type="http://schemas.openxmlformats.org/officeDocument/2006/relationships/notesMaster" Target="/ppt/notesMasters/notesMaster1.xml" Id="R8ec67043554e46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ebf19be5544b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114cac02f74a5c" /><Relationship Type="http://schemas.openxmlformats.org/officeDocument/2006/relationships/slideLayout" Target="/ppt/slideLayouts/slideLayout1.xml" Id="R11d8cda569d247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d8cda569d247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36bed56c84f30" /><Relationship Type="http://schemas.openxmlformats.org/officeDocument/2006/relationships/image" Target="/ppt/media/image.jpeg" Id="R6300837bf4c84d04" /><Relationship Type="http://schemas.openxmlformats.org/officeDocument/2006/relationships/image" Target="/ppt/media/image.png" Id="R8109ceccf3754a2f" /><Relationship Type="http://schemas.openxmlformats.org/officeDocument/2006/relationships/notesSlide" Target="/ppt/notesSlides/notesSlide1.xml" Id="R1d322019e24845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462ec250e4f72" /><Relationship Type="http://schemas.openxmlformats.org/officeDocument/2006/relationships/image" Target="/ppt/media/image2.png" Id="R666a3e12b671494c" /><Relationship Type="http://schemas.openxmlformats.org/officeDocument/2006/relationships/image" Target="/ppt/media/image3.png" Id="R695a6a63a0644bc6" /><Relationship Type="http://schemas.openxmlformats.org/officeDocument/2006/relationships/notesSlide" Target="/ppt/notesSlides/notesSlide2.xml" Id="R7c11543c645b48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c3ac6092c4a92" /><Relationship Type="http://schemas.openxmlformats.org/officeDocument/2006/relationships/image" Target="/ppt/media/image4.png" Id="R087ef7ae03404b3c" /><Relationship Type="http://schemas.openxmlformats.org/officeDocument/2006/relationships/notesSlide" Target="/ppt/notesSlides/notesSlide3.xml" Id="Ref0608c2147a4f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55ccdb30a419b" /><Relationship Type="http://schemas.openxmlformats.org/officeDocument/2006/relationships/image" Target="/ppt/media/image5.png" Id="Rd19fc41d39054c5c" /><Relationship Type="http://schemas.openxmlformats.org/officeDocument/2006/relationships/notesSlide" Target="/ppt/notesSlides/notesSlide4.xml" Id="R0b93682926f446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7691c3d9d4549" /><Relationship Type="http://schemas.openxmlformats.org/officeDocument/2006/relationships/image" Target="/ppt/media/image6.png" Id="R4c6fb6d31b2f48e1" /><Relationship Type="http://schemas.openxmlformats.org/officeDocument/2006/relationships/notesSlide" Target="/ppt/notesSlides/notesSlide5.xml" Id="Rea9ededbc1d040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023fadc2c4adf" /><Relationship Type="http://schemas.openxmlformats.org/officeDocument/2006/relationships/image" Target="/ppt/media/image7.png" Id="R49661265c77a4327" /><Relationship Type="http://schemas.openxmlformats.org/officeDocument/2006/relationships/notesSlide" Target="/ppt/notesSlides/notesSlide6.xml" Id="R93fe3e7e0a2440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0b506d59b433e" /><Relationship Type="http://schemas.openxmlformats.org/officeDocument/2006/relationships/image" Target="/ppt/media/image8.png" Id="Rb0802322d22a40f5" /><Relationship Type="http://schemas.openxmlformats.org/officeDocument/2006/relationships/notesSlide" Target="/ppt/notesSlides/notesSlide7.xml" Id="R4f9894d0061d41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87bb7acbb4a0a" /><Relationship Type="http://schemas.openxmlformats.org/officeDocument/2006/relationships/image" Target="/ppt/media/image9.png" Id="R9508cdef541e4fda" /><Relationship Type="http://schemas.openxmlformats.org/officeDocument/2006/relationships/notesSlide" Target="/ppt/notesSlides/notesSlide8.xml" Id="R45118753ba584a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581f10c374844" /><Relationship Type="http://schemas.openxmlformats.org/officeDocument/2006/relationships/image" Target="/ppt/media/image10.png" Id="R9feea43934964407" /><Relationship Type="http://schemas.openxmlformats.org/officeDocument/2006/relationships/notesSlide" Target="/ppt/notesSlides/notesSlide9.xml" Id="Re4b9df803bb749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fbcb87ab049a4" /><Relationship Type="http://schemas.openxmlformats.org/officeDocument/2006/relationships/image" Target="/ppt/media/image11.png" Id="R4778e069d6cb45d2" /><Relationship Type="http://schemas.openxmlformats.org/officeDocument/2006/relationships/notesSlide" Target="/ppt/notesSlides/notesSlide10.xml" Id="R7fbba74a7b8b4f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7905dd38940b8" /><Relationship Type="http://schemas.openxmlformats.org/officeDocument/2006/relationships/image" Target="/ppt/media/image12.png" Id="Rb7136bc5711f4e0d" /><Relationship Type="http://schemas.openxmlformats.org/officeDocument/2006/relationships/notesSlide" Target="/ppt/notesSlides/notesSlide11.xml" Id="R84cd6ee45e3146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d67fce59c47a3" /><Relationship Type="http://schemas.openxmlformats.org/officeDocument/2006/relationships/image" Target="/ppt/media/image13.png" Id="Rd4f236852f184b4c" /><Relationship Type="http://schemas.openxmlformats.org/officeDocument/2006/relationships/notesSlide" Target="/ppt/notesSlides/notesSlide12.xml" Id="R8baed143a4b547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9e7b19f684e98" /><Relationship Type="http://schemas.openxmlformats.org/officeDocument/2006/relationships/image" Target="/ppt/media/image14.png" Id="R83fe51b89683493b" /><Relationship Type="http://schemas.openxmlformats.org/officeDocument/2006/relationships/image" Target="/ppt/media/image15.png" Id="R0402173db4af49f1" /><Relationship Type="http://schemas.openxmlformats.org/officeDocument/2006/relationships/notesSlide" Target="/ppt/notesSlides/notesSlide13.xml" Id="Rac6601f3706448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F7C33B-FE67-410E-ABB2-2167181A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0E257-82A2-4264-A421-4FD0E2A3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7010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00837bf4c84d04"/>
          <a:srcRect xmlns:a="http://schemas.openxmlformats.org/drawingml/2006/main" l="0" t="11037" r="0" b="110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D9262-1B5A-4128-BA28-69BA6BDD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09ceccf3754a2f"/>
          <a:stretch xmlns:a="http://schemas.openxmlformats.org/drawingml/2006/main"/>
        </p:blipFill>
        <p:spPr>
          <a:xfrm xmlns:a="http://schemas.openxmlformats.org/drawingml/2006/main">
            <a:off x="963386" y="514350"/>
            <a:ext cx="1826079" cy="838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46375-4C40-4453-93A7-C2A5D0AB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48A8"/>
                </a:solidFill>
              </a:defRPr>
            </a:pPr>
            <a:r>
              <a:rPr sz="1200" b="1">
                <a:solidFill>
                  <a:srgbClr val="2048A8"/>
                </a:solidFill>
              </a:rPr>
              <a:t>ЭКСПЕРТНЫЙ АУДИТ ИТ И ИБ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FA4E9-D709-440C-A616-ED57B326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A63"/>
                </a:solidFill>
              </a:defRPr>
            </a:pPr>
            <a:r>
              <a:rPr sz="3600" b="1">
                <a:solidFill>
                  <a:srgbClr val="102A63"/>
                </a:solidFill>
              </a:rPr>
              <a:t>{{COMPANY}}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7DFD3-BDA8-4E09-A987-4EB7E15B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780"/>
                </a:solidFill>
              </a:defRPr>
            </a:pPr>
            <a:r>
              <a:rPr sz="1500">
                <a:solidFill>
                  <a:srgbClr val="596780"/>
                </a:solidFill>
              </a:rPr>
              <a:t>{{INDUSTRY}}  •  {{CITY}}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36532-D9DA-4F17-9FA4-E30C6485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885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C10001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90C0D-6206-48D0-968C-CDD37E1B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20001"/>
                </a:solidFill>
              </a:defRPr>
            </a:pPr>
            <a:r>
              <a:rPr sz="1050" b="1">
                <a:solidFill>
                  <a:srgbClr val="C20001"/>
                </a:solidFill>
              </a:rPr>
              <a:t>Зрелость ИТ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8680A-2F2E-40C8-9481-1F7ACE82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20001"/>
                </a:solidFill>
              </a:defRPr>
            </a:pPr>
            <a:r>
              <a:rPr sz="2400" b="1">
                <a:solidFill>
                  <a:srgbClr val="C20001"/>
                </a:solidFill>
              </a:rPr>
              <a:t>{{IT_SCORE}}%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1790D3-3BE5-4B14-BDB5-730D2244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62500"/>
            <a:ext cx="1885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C10002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D2FB34-A9D3-4082-B39F-FAE04296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9339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20002"/>
                </a:solidFill>
              </a:defRPr>
            </a:pPr>
            <a:r>
              <a:rPr sz="1050" b="1">
                <a:solidFill>
                  <a:srgbClr val="C20002"/>
                </a:solidFill>
              </a:rPr>
              <a:t>Зрелость ИБ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66144D-B6C2-4601-8F53-36196BE8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1970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20002"/>
                </a:solidFill>
              </a:defRPr>
            </a:pPr>
            <a:r>
              <a:rPr sz="2400" b="1">
                <a:solidFill>
                  <a:srgbClr val="C20002"/>
                </a:solidFill>
              </a:rPr>
              <a:t>{{SCORE}}%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3B712D-5800-4D8E-B597-EECCC620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578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780"/>
                </a:solidFill>
              </a:defRPr>
            </a:pPr>
            <a:r>
              <a:rPr sz="1200" b="1">
                <a:solidFill>
                  <a:srgbClr val="596780"/>
                </a:solidFill>
              </a:rPr>
              <a:t>{{DATE}}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BB18E-EDDF-47C1-BB3A-FF743F8A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96780"/>
                </a:solidFill>
              </a:defRPr>
            </a:pPr>
            <a:r>
              <a:rPr sz="1050" b="1">
                <a:solidFill>
                  <a:srgbClr val="596780"/>
                </a:solidFill>
              </a:rPr>
              <a:t>by Ivan Rudoy</a:t>
            </a:r>
          </a:p>
        </p:txBody>
      </p:sp>
    </p:spTree>
    <p:extLst>
      <p:ext uri="{BB962C8B-B14F-4D97-AF65-F5344CB8AC3E}">
        <p14:creationId xmlns:p14="http://schemas.microsoft.com/office/powerpoint/2010/main" val="18784180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3CA5F3-E155-480D-B33D-3F68F102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a3e12b671494c"/>
          <a:stretch xmlns:a="http://schemas.openxmlformats.org/drawingml/2006/main"/>
        </p:blipFill>
        <p:spPr>
          <a:xfrm xmlns:a="http://schemas.openxmlformats.org/drawingml/2006/main">
            <a:off x="10093098" y="247650"/>
            <a:ext cx="1245054" cy="571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605AA-4D2B-432C-BAA5-A54F489E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63"/>
                </a:solidFill>
              </a:defRPr>
            </a:pPr>
            <a:r>
              <a:rPr sz="2550" b="1">
                <a:solidFill>
                  <a:srgbClr val="102A63"/>
                </a:solidFill>
              </a:rPr>
              <a:t>Кто стоит за аудитом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80314-8BB9-4E03-A402-38C6DC55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90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6EAFC-9C89-42D4-AE59-375F1809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F103B-BBD5-49E5-AA88-4727BDF6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579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BTG Audit System  |  by Ivan Rudoy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6A501-5EB3-46E9-BD1C-34170EDA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5797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8209D-9860-444E-86B1-8080CFC2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48A8"/>
                </a:solidFill>
              </a:defRPr>
            </a:pPr>
            <a:r>
              <a:rPr sz="1875" b="1">
                <a:solidFill>
                  <a:srgbClr val="2048A8"/>
                </a:solidFill>
              </a:rPr>
              <a:t>ТОО «Bolashak Tamer Group»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D7E1F-A003-4AAE-ACB0-DD3DA6BD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A63"/>
                </a:solidFill>
              </a:defRPr>
            </a:pPr>
            <a:r>
              <a:rPr sz="1350">
                <a:solidFill>
                  <a:srgbClr val="102A63"/>
                </a:solidFill>
              </a:rPr>
              <a:t>Системный интегратор и поставщик ИТ-решений для государственных и корпоративных организаций.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3599F-4633-4AD8-B51F-8A54A4D3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63"/>
                </a:solidFill>
              </a:defRPr>
            </a:pPr>
            <a:r>
              <a:rPr sz="1500" b="1">
                <a:solidFill>
                  <a:srgbClr val="102A63"/>
                </a:solidFill>
              </a:rPr>
              <a:t>От аудита и проектирования - до внедрения, поддержки и развития.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A7993-C7B0-4A00-A288-5A3E0909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63"/>
                </a:solidFill>
              </a:defRPr>
            </a:pPr>
            <a:r>
              <a:rPr sz="2325" b="1">
                <a:solidFill>
                  <a:srgbClr val="102A63"/>
                </a:solidFill>
              </a:rPr>
              <a:t>2019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4AE66-7149-4FBD-9CDE-F12C72D8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81525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780"/>
                </a:solidFill>
              </a:defRPr>
            </a:pPr>
            <a:r>
              <a:rPr sz="975">
                <a:solidFill>
                  <a:srgbClr val="596780"/>
                </a:solidFill>
              </a:rPr>
              <a:t>год основания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BB9DF-EFFC-496D-AC25-45D64AB6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114800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63"/>
                </a:solidFill>
              </a:defRPr>
            </a:pPr>
            <a:r>
              <a:rPr sz="2700" b="1">
                <a:solidFill>
                  <a:srgbClr val="102A63"/>
                </a:solidFill>
              </a:rPr>
              <a:t>70+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64D66-6876-4207-8819-9E91756E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81525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780"/>
                </a:solidFill>
              </a:defRPr>
            </a:pPr>
            <a:r>
              <a:rPr sz="975">
                <a:solidFill>
                  <a:srgbClr val="596780"/>
                </a:solidFill>
              </a:rPr>
              <a:t>крупных проектов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06A0E3-1EEC-4983-A05A-1DD294D1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14800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63"/>
                </a:solidFill>
              </a:defRPr>
            </a:pPr>
            <a:r>
              <a:rPr sz="2325" b="1">
                <a:solidFill>
                  <a:srgbClr val="102A63"/>
                </a:solidFill>
              </a:rPr>
              <a:t>40+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160CCA-FFAE-42D2-AD4B-FCFD434B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581525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780"/>
                </a:solidFill>
              </a:defRPr>
            </a:pPr>
            <a:r>
              <a:rPr sz="975">
                <a:solidFill>
                  <a:srgbClr val="596780"/>
                </a:solidFill>
              </a:rPr>
              <a:t>технологических партнеров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EE51D2-5891-4495-B738-46B1B717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EA5275-3F7A-4BB2-9BD2-48335D8A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483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63"/>
                </a:solidFill>
              </a:defRPr>
            </a:pPr>
            <a:r>
              <a:rPr sz="1125" b="1">
                <a:solidFill>
                  <a:srgbClr val="102A63"/>
                </a:solidFill>
              </a:rPr>
              <a:t>Одна команда отвечает за архитектуру, безопасность и практическую реализацию.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32725D-0437-4A19-BE88-1CA6869E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66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48A8"/>
                </a:solidFill>
              </a:defRPr>
            </a:pPr>
            <a:r>
              <a:rPr sz="1200" b="1">
                <a:solidFill>
                  <a:srgbClr val="2048A8"/>
                </a:solidFill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CDB076-C84E-4CBA-89C7-CB90D943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63"/>
                </a:solidFill>
              </a:defRPr>
            </a:pPr>
            <a:r>
              <a:rPr sz="1425" b="1">
                <a:solidFill>
                  <a:srgbClr val="102A63"/>
                </a:solidFill>
              </a:rPr>
              <a:t>Информационная безопасность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4854FC-CF7E-4D74-B50E-0CEA80BF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7165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780"/>
                </a:solidFill>
              </a:defRPr>
            </a:pPr>
            <a:r>
              <a:rPr sz="1125">
                <a:solidFill>
                  <a:srgbClr val="596780"/>
                </a:solidFill>
              </a:rPr>
              <a:t>Аудит, проектирование защиты, внедрение, поддержка и обучение.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57B1B4-2AD3-44AB-A596-2D832D31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982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D59198-099D-4AF7-910C-CD753B3B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003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48A8"/>
                </a:solidFill>
              </a:defRPr>
            </a:pPr>
            <a:r>
              <a:rPr sz="1200" b="1">
                <a:solidFill>
                  <a:srgbClr val="2048A8"/>
                </a:solidFill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1C43D4-CB9E-4FD7-A9DC-D49A94B8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62225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63"/>
                </a:solidFill>
              </a:defRPr>
            </a:pPr>
            <a:r>
              <a:rPr sz="1425" b="1">
                <a:solidFill>
                  <a:srgbClr val="102A63"/>
                </a:solidFill>
              </a:rPr>
              <a:t>Системная интеграция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CB6332-7A0D-461D-8805-D791F307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05125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780"/>
                </a:solidFill>
              </a:defRPr>
            </a:pPr>
            <a:r>
              <a:rPr sz="1125">
                <a:solidFill>
                  <a:srgbClr val="596780"/>
                </a:solidFill>
              </a:rPr>
              <a:t>Сетевая, серверная и вычислительная инфраструктура под ключ.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222D63-3550-44E5-BE04-EB777CEE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43300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AA0188-FE11-4CC6-ADC3-9738D63E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33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48A8"/>
                </a:solidFill>
              </a:defRPr>
            </a:pPr>
            <a:r>
              <a:rPr sz="1200" b="1">
                <a:solidFill>
                  <a:srgbClr val="2048A8"/>
                </a:solidFill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554835-06DA-48B0-A04B-C4FE4D05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9570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63"/>
                </a:solidFill>
              </a:defRPr>
            </a:pPr>
            <a:r>
              <a:rPr sz="1425" b="1">
                <a:solidFill>
                  <a:srgbClr val="102A63"/>
                </a:solidFill>
              </a:rPr>
              <a:t>Автоматизация процессов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20C438-815E-44F2-9E5B-DD3DCA04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3860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780"/>
                </a:solidFill>
              </a:defRPr>
            </a:pPr>
            <a:r>
              <a:rPr sz="1125">
                <a:solidFill>
                  <a:srgbClr val="596780"/>
                </a:solidFill>
              </a:rPr>
              <a:t>СЭД, low-code, ESM/BPM и цифровые решения для бизнеса.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47AFA7-BE95-4156-AC0B-CE3E2EF0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76775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E72EEF-FBD9-491C-B5BA-589B24C3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672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48A8"/>
                </a:solidFill>
              </a:defRPr>
            </a:pPr>
            <a:r>
              <a:rPr sz="1200" b="1">
                <a:solidFill>
                  <a:srgbClr val="2048A8"/>
                </a:solidFill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805DFD-9BD0-478E-8A97-FF76F17C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29175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63"/>
                </a:solidFill>
              </a:defRPr>
            </a:pPr>
            <a:r>
              <a:rPr sz="1425" b="1">
                <a:solidFill>
                  <a:srgbClr val="102A63"/>
                </a:solidFill>
              </a:rPr>
              <a:t>Сопровождение и развитие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E46A71-5656-4452-8518-EB26EECC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72075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780"/>
                </a:solidFill>
              </a:defRPr>
            </a:pPr>
            <a:r>
              <a:rPr sz="1125">
                <a:solidFill>
                  <a:srgbClr val="596780"/>
                </a:solidFill>
              </a:rPr>
              <a:t>Рабочие сессии, внедрение, поддержка и передача знаний команде.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F3B5F5-5CC1-4B64-897C-5113A6D5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BE67F8-5392-468D-BDDB-9B8BDEF6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5a6a63a0644bc6"/>
          <a:stretch xmlns:a="http://schemas.openxmlformats.org/drawingml/2006/main"/>
        </p:blipFill>
        <p:spPr>
          <a:xfrm xmlns:a="http://schemas.openxmlformats.org/drawingml/2006/main">
            <a:off x="10093098" y="247650"/>
            <a:ext cx="1245054" cy="57150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9B8B66-4BCE-414F-8646-E3DF2BE1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63"/>
                </a:solidFill>
              </a:defRPr>
            </a:pPr>
            <a:r>
              <a:rPr sz="2550" b="1">
                <a:solidFill>
                  <a:srgbClr val="102A63"/>
                </a:solidFill>
              </a:rPr>
              <a:t>Аудит в одном экране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1E774E-F2EA-4F68-ABAF-537F5D3A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90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6A698C-62A5-4EE2-AF90-A7C82BB5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66067A-B0B5-41D3-8EE7-0F04C249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579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BTG Audit System  |  by Ivan Rudoy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8B4BD4-2C48-4669-B2EB-4005F228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5797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192D22-0E51-40A5-A3EB-EFE3B9FC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85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A63"/>
                </a:solidFill>
              </a:defRPr>
            </a:pPr>
            <a:r>
              <a:rPr sz="2175" b="1">
                <a:solidFill>
                  <a:srgbClr val="102A63"/>
                </a:solidFill>
              </a:rPr>
              <a:t>{{SUMMARY_TITLE}}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F44767-2DD1-4E13-A92F-810BA33D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09700"/>
            <a:ext cx="1504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C1000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55EBB8-333E-4784-B9C8-E5F0B536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192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20001"/>
                </a:solidFill>
              </a:defRPr>
            </a:pPr>
            <a:r>
              <a:rPr sz="900" b="1">
                <a:solidFill>
                  <a:srgbClr val="C20001"/>
                </a:solidFill>
              </a:rPr>
              <a:t>ЗРЕЛОСТЬ ИТ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1AD0319-91CD-42EF-80C9-3224FD66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14525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20001"/>
                </a:solidFill>
              </a:defRPr>
            </a:pPr>
            <a:r>
              <a:rPr sz="2550" b="1">
                <a:solidFill>
                  <a:srgbClr val="C20001"/>
                </a:solidFill>
              </a:rPr>
              <a:t>{{IT_SCORE}}%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3474B3-B18E-4AAC-8AA8-7FDC612D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409700"/>
            <a:ext cx="1504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C100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2614BD-5CA2-4CB4-B443-268C2283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6192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20002"/>
                </a:solidFill>
              </a:defRPr>
            </a:pPr>
            <a:r>
              <a:rPr sz="900" b="1">
                <a:solidFill>
                  <a:srgbClr val="C20002"/>
                </a:solidFill>
              </a:rPr>
              <a:t>ЗРЕЛОСТЬ ИБ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3A8CA7C-FDD1-492E-98E4-88A64134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14525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20002"/>
                </a:solidFill>
              </a:defRPr>
            </a:pPr>
            <a:r>
              <a:rPr sz="2550" b="1">
                <a:solidFill>
                  <a:srgbClr val="C20002"/>
                </a:solidFill>
              </a:rPr>
              <a:t>{{SCORE}}%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E50914-09B7-4CD6-8BF2-4157AC8B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48A8"/>
                </a:solidFill>
              </a:defRPr>
            </a:pPr>
            <a:r>
              <a:rPr sz="1425" b="1">
                <a:solidFill>
                  <a:srgbClr val="2048A8"/>
                </a:solidFill>
              </a:rPr>
              <a:t>Ключевые наблюдения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5DD26E8-FBF1-487E-B974-C7B09942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48A8"/>
                </a:solidFill>
              </a:defRPr>
            </a:pPr>
            <a:r>
              <a:rPr sz="1275" b="1">
                <a:solidFill>
                  <a:srgbClr val="2048A8"/>
                </a:solidFill>
              </a:rPr>
              <a:t>01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0DE513-B22C-448B-ADC2-98C8840A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90900"/>
            <a:ext cx="10048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A63"/>
                </a:solidFill>
              </a:defRPr>
            </a:pPr>
            <a:r>
              <a:rPr sz="1350">
                <a:solidFill>
                  <a:srgbClr val="102A63"/>
                </a:solidFill>
              </a:rPr>
              <a:t>{{SUMMARY_1}}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E700A7D-D80B-493C-9865-310CAA39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E0B2316-7AB8-48D5-B0AE-6B7BF064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48A8"/>
                </a:solidFill>
              </a:defRPr>
            </a:pPr>
            <a:r>
              <a:rPr sz="1275" b="1">
                <a:solidFill>
                  <a:srgbClr val="2048A8"/>
                </a:solidFill>
              </a:rPr>
              <a:t>02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AAE0168-D48D-4B47-8B83-D02D5839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67200"/>
            <a:ext cx="10048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A63"/>
                </a:solidFill>
              </a:defRPr>
            </a:pPr>
            <a:r>
              <a:rPr sz="1350">
                <a:solidFill>
                  <a:srgbClr val="102A63"/>
                </a:solidFill>
              </a:rPr>
              <a:t>{{SUMMARY_2}}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D4B6FD-621E-49CF-B538-76BF5166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481ED83-6ED8-4852-ACAE-6A7046C7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48A8"/>
                </a:solidFill>
              </a:defRPr>
            </a:pPr>
            <a:r>
              <a:rPr sz="1275" b="1">
                <a:solidFill>
                  <a:srgbClr val="2048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FF9AA7A-38D5-41D0-BC3E-0C5FB124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0"/>
            <a:ext cx="10048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A63"/>
                </a:solidFill>
              </a:defRPr>
            </a:pPr>
            <a:r>
              <a:rPr sz="1350">
                <a:solidFill>
                  <a:srgbClr val="102A63"/>
                </a:solidFill>
              </a:rPr>
              <a:t>{{SUMMARY_3}}</a:t>
            </a:r>
          </a:p>
        </p:txBody>
      </p:sp>
    </p:spTree>
    <p:extLst>
      <p:ext uri="{BB962C8B-B14F-4D97-AF65-F5344CB8AC3E}">
        <p14:creationId xmlns:p14="http://schemas.microsoft.com/office/powerpoint/2010/main" val="6197091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C6D943-F140-48CE-B20D-80738B8E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ef7ae03404b3c"/>
          <a:stretch xmlns:a="http://schemas.openxmlformats.org/drawingml/2006/main"/>
        </p:blipFill>
        <p:spPr>
          <a:xfrm xmlns:a="http://schemas.openxmlformats.org/drawingml/2006/main">
            <a:off x="10093098" y="247650"/>
            <a:ext cx="1245054" cy="571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06AFA-6A18-485D-B9D3-976CB94B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63"/>
                </a:solidFill>
              </a:defRPr>
            </a:pPr>
            <a:r>
              <a:rPr sz="2550" b="1">
                <a:solidFill>
                  <a:srgbClr val="102A63"/>
                </a:solidFill>
              </a:rPr>
              <a:t>Что должно измениться за первые 90 дней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58343-08A2-48E8-8D89-68327405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90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7BA1E-3AF1-4E66-8C3D-27F19BF7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EB0D2-C901-454E-A1B7-38A4749D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579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BTG Audit System  |  by Ivan Rudoy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8D5CF1-61DE-4555-84AF-F25F6284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5797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25A12-0D94-4824-8FEC-377CB028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064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48A8"/>
                </a:solidFill>
              </a:defRPr>
            </a:pPr>
            <a:r>
              <a:rPr sz="1500" b="1">
                <a:solidFill>
                  <a:srgbClr val="2048A8"/>
                </a:solidFill>
              </a:rPr>
              <a:t>Четыре приоритета связывают факты анкеты с измеримым результатом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17D6D-1FB4-4990-8FD1-73D9767E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80"/>
                </a:solidFill>
              </a:defRPr>
            </a:pPr>
            <a:r>
              <a:rPr sz="825" b="1">
                <a:solidFill>
                  <a:srgbClr val="596780"/>
                </a:solidFill>
              </a:rPr>
              <a:t>ПРИОРИТЕТ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0EC19-C466-432D-A6C7-21DD0BAF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80"/>
                </a:solidFill>
              </a:defRPr>
            </a:pPr>
            <a:r>
              <a:rPr sz="825" b="1">
                <a:solidFill>
                  <a:srgbClr val="596780"/>
                </a:solidFill>
              </a:rPr>
              <a:t>СЕЙЧАС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2D1C5-FFB8-4B11-B9A6-CBCE571D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96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80"/>
                </a:solidFill>
              </a:defRPr>
            </a:pPr>
            <a:r>
              <a:rPr sz="825" b="1">
                <a:solidFill>
                  <a:srgbClr val="596780"/>
                </a:solidFill>
              </a:rPr>
              <a:t>ЦЕЛЬ 90 ДНЕЙ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C0D798-B16A-4237-A208-8CC41900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48A8"/>
                </a:solidFill>
              </a:defRPr>
            </a:pPr>
            <a:r>
              <a:rPr sz="1125" b="1">
                <a:solidFill>
                  <a:srgbClr val="2048A8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A16FE-4124-422E-A18A-0F46C89E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52650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63"/>
                </a:solidFill>
              </a:defRPr>
            </a:pPr>
            <a:r>
              <a:rPr sz="1275" b="1">
                <a:solidFill>
                  <a:srgbClr val="102A63"/>
                </a:solidFill>
              </a:rPr>
              <a:t>{{OUTCOME_1_TITLE}}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D32BCD-DBA2-43C1-94A2-76C81110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526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96780"/>
                </a:solidFill>
              </a:defRPr>
            </a:pPr>
            <a:r>
              <a:rPr sz="1050">
                <a:solidFill>
                  <a:srgbClr val="596780"/>
                </a:solidFill>
              </a:rPr>
              <a:t>{{OUTCOME_1_FROM}}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6CB32-2EA1-4B92-8F41-F0F96369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48A8"/>
                </a:solidFill>
              </a:defRPr>
            </a:pPr>
            <a:r>
              <a:rPr sz="1950" b="1">
                <a:solidFill>
                  <a:srgbClr val="2048A8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D3ACFD-A97C-4886-A2FB-C03204F5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962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A63"/>
                </a:solidFill>
              </a:defRPr>
            </a:pPr>
            <a:r>
              <a:rPr sz="1125" b="1">
                <a:solidFill>
                  <a:srgbClr val="102A63"/>
                </a:solidFill>
              </a:rPr>
              <a:t>{{OUTCOME_1_TO}}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2DAA41-2B15-43EF-850C-65711B36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27024C-F4FF-4F17-9673-D6A4F667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48A8"/>
                </a:solidFill>
              </a:defRPr>
            </a:pPr>
            <a:r>
              <a:rPr sz="1125" b="1">
                <a:solidFill>
                  <a:srgbClr val="2048A8"/>
                </a:solidFill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1DB472-6E30-4DC4-875C-22E179BB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63"/>
                </a:solidFill>
              </a:defRPr>
            </a:pPr>
            <a:r>
              <a:rPr sz="1275" b="1">
                <a:solidFill>
                  <a:srgbClr val="102A63"/>
                </a:solidFill>
              </a:rPr>
              <a:t>{{OUTCOME_2_TITLE}}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586501-30A1-4877-9030-B3721ABC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813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96780"/>
                </a:solidFill>
              </a:defRPr>
            </a:pPr>
            <a:r>
              <a:rPr sz="1050">
                <a:solidFill>
                  <a:srgbClr val="596780"/>
                </a:solidFill>
              </a:rPr>
              <a:t>{{OUTCOME_2_FROM}}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FFEE24-A6CE-47F4-9675-651B09C8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956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48A8"/>
                </a:solidFill>
              </a:defRPr>
            </a:pPr>
            <a:r>
              <a:rPr sz="1950" b="1">
                <a:solidFill>
                  <a:srgbClr val="2048A8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A49694-6F89-40B3-84B5-406B2F7C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81350"/>
            <a:ext cx="3962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A63"/>
                </a:solidFill>
              </a:defRPr>
            </a:pPr>
            <a:r>
              <a:rPr sz="1125" b="1">
                <a:solidFill>
                  <a:srgbClr val="102A63"/>
                </a:solidFill>
              </a:rPr>
              <a:t>{{OUTCOME_2_TO}}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A1FD24-4889-4645-9D62-3234E175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21EE08-6D3F-4B34-A0E2-AA059CCA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48A8"/>
                </a:solidFill>
              </a:defRPr>
            </a:pPr>
            <a:r>
              <a:rPr sz="1125" b="1">
                <a:solidFill>
                  <a:srgbClr val="2048A8"/>
                </a:solidFill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D87F42-11D0-4FA9-8123-A9741FFB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63"/>
                </a:solidFill>
              </a:defRPr>
            </a:pPr>
            <a:r>
              <a:rPr sz="1275" b="1">
                <a:solidFill>
                  <a:srgbClr val="102A63"/>
                </a:solidFill>
              </a:rPr>
              <a:t>{{OUTCOME_3_TITLE}}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9FAE05-9B5D-42DA-AA8C-6B693404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100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96780"/>
                </a:solidFill>
              </a:defRPr>
            </a:pPr>
            <a:r>
              <a:rPr sz="1050">
                <a:solidFill>
                  <a:srgbClr val="596780"/>
                </a:solidFill>
              </a:rPr>
              <a:t>{{OUTCOME_3_FROM}}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693378-9ED0-4CFC-8CA4-A9F1218C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48A8"/>
                </a:solidFill>
              </a:defRPr>
            </a:pPr>
            <a:r>
              <a:rPr sz="1950" b="1">
                <a:solidFill>
                  <a:srgbClr val="2048A8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50E112-CEE0-4489-AC61-E1D15B78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10050"/>
            <a:ext cx="3962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A63"/>
                </a:solidFill>
              </a:defRPr>
            </a:pPr>
            <a:r>
              <a:rPr sz="1125" b="1">
                <a:solidFill>
                  <a:srgbClr val="102A63"/>
                </a:solidFill>
              </a:rPr>
              <a:t>{{OUTCOME_3_TO}}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D78D58-B80A-4751-9718-38C075C5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40298D-AB48-4B4A-AF85-9AD58697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76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48A8"/>
                </a:solidFill>
              </a:defRPr>
            </a:pPr>
            <a:r>
              <a:rPr sz="1125" b="1">
                <a:solidFill>
                  <a:srgbClr val="2048A8"/>
                </a:solidFill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7E2AB1-E143-4A9F-973F-2E33C7FA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63"/>
                </a:solidFill>
              </a:defRPr>
            </a:pPr>
            <a:r>
              <a:rPr sz="1275" b="1">
                <a:solidFill>
                  <a:srgbClr val="102A63"/>
                </a:solidFill>
              </a:rPr>
              <a:t>{{OUTCOME_4_TITLE}}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0CFCEE-17A2-42B9-8BAD-22B9B227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387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96780"/>
                </a:solidFill>
              </a:defRPr>
            </a:pPr>
            <a:r>
              <a:rPr sz="1050">
                <a:solidFill>
                  <a:srgbClr val="596780"/>
                </a:solidFill>
              </a:rPr>
              <a:t>{{OUTCOME_4_FROM}}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FB8B0D-1814-4633-8DE1-6F69F86F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530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48A8"/>
                </a:solidFill>
              </a:defRPr>
            </a:pPr>
            <a:r>
              <a:rPr sz="1950" b="1">
                <a:solidFill>
                  <a:srgbClr val="2048A8"/>
                </a:solidFill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56E07E-474D-4F59-BABB-1CD5B655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38750"/>
            <a:ext cx="3962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A63"/>
                </a:solidFill>
              </a:defRPr>
            </a:pPr>
            <a:r>
              <a:rPr sz="1125" b="1">
                <a:solidFill>
                  <a:srgbClr val="102A63"/>
                </a:solidFill>
              </a:rPr>
              <a:t>{{OUTCOME_4_TO}}</a:t>
            </a:r>
          </a:p>
        </p:txBody>
      </p:sp>
    </p:spTree>
    <p:extLst>
      <p:ext uri="{BB962C8B-B14F-4D97-AF65-F5344CB8AC3E}">
        <p14:creationId xmlns:p14="http://schemas.microsoft.com/office/powerpoint/2010/main" val="15263515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CAFEE7-E720-4224-9242-A7254E85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fc41d39054c5c"/>
          <a:stretch xmlns:a="http://schemas.openxmlformats.org/drawingml/2006/main"/>
        </p:blipFill>
        <p:spPr>
          <a:xfrm xmlns:a="http://schemas.openxmlformats.org/drawingml/2006/main">
            <a:off x="10093098" y="247650"/>
            <a:ext cx="1245054" cy="571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DAD00-82C2-4178-85E8-70C03070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63"/>
                </a:solidFill>
              </a:defRPr>
            </a:pPr>
            <a:r>
              <a:rPr sz="2550" b="1">
                <a:solidFill>
                  <a:srgbClr val="102A63"/>
                </a:solidFill>
              </a:rPr>
              <a:t>Контекст среды и уже работающие контроли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E3E648-1F12-4B19-813E-2B1A03F7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90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5F0B7-AA8E-4CB0-8B06-E54E0406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89DCD-884D-4B70-9B7A-4C561171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579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BTG Audit System  |  by Ivan Rudoy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ECBA1-3D8B-41D8-B590-A571E9CA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5797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D307-BE29-4811-BF92-E2F44A59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2476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2048A8"/>
          </a:solidFill>
          <a:ln xmlns:a="http://schemas.openxmlformats.org/drawingml/2006/main" w="9525">
            <a:solidFill>
              <a:srgbClr val="2048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41FA8-705C-42ED-900A-69B52F63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{{USERS}}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7D5F4C-6041-4CC8-9E06-0B768D13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рабочих мест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15412-5F17-410F-94AB-85AC8FAE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76375"/>
            <a:ext cx="2476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AF9A1E-EC4A-4CD5-B482-A0D97AF5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573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A63"/>
                </a:solidFill>
              </a:defRPr>
            </a:pPr>
            <a:r>
              <a:rPr sz="2400" b="1">
                <a:solidFill>
                  <a:srgbClr val="102A63"/>
                </a:solidFill>
              </a:rPr>
              <a:t>{{SERVERS}}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46D0B-FCAB-49E4-B041-E5534A04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812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96780"/>
                </a:solidFill>
              </a:defRPr>
            </a:pPr>
            <a:r>
              <a:rPr sz="1125">
                <a:solidFill>
                  <a:srgbClr val="596780"/>
                </a:solidFill>
              </a:rPr>
              <a:t>серверов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5ED92E-5AD6-4CF5-9B0D-44CDA41C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476375"/>
            <a:ext cx="2476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E40F0-8C8B-4083-8D14-358BEE92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573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A63"/>
                </a:solidFill>
              </a:defRPr>
            </a:pPr>
            <a:r>
              <a:rPr sz="2400" b="1">
                <a:solidFill>
                  <a:srgbClr val="102A63"/>
                </a:solidFill>
              </a:rPr>
              <a:t>{{PUBLIC}}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A037FA-CF03-4C30-89AE-37C22E8F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812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96780"/>
                </a:solidFill>
              </a:defRPr>
            </a:pPr>
            <a:r>
              <a:rPr sz="1125">
                <a:solidFill>
                  <a:srgbClr val="596780"/>
                </a:solidFill>
              </a:rPr>
              <a:t>публичные сервисы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51DBEF-7475-4154-8647-CB432395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476375"/>
            <a:ext cx="2476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36BB73-E643-46B3-8F3F-3A7835DF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573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A63"/>
                </a:solidFill>
              </a:defRPr>
            </a:pPr>
            <a:r>
              <a:rPr sz="2400" b="1">
                <a:solidFill>
                  <a:srgbClr val="102A63"/>
                </a:solidFill>
              </a:rPr>
              <a:t>{{BUSINESS}}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13A5F5-7990-4623-8132-588EC8CE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812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96780"/>
                </a:solidFill>
              </a:defRPr>
            </a:pPr>
            <a:r>
              <a:rPr sz="1125">
                <a:solidFill>
                  <a:srgbClr val="596780"/>
                </a:solidFill>
              </a:rPr>
              <a:t>бизнес-системы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825856-B926-403A-98F6-85F07EF0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48A8"/>
                </a:solidFill>
              </a:defRPr>
            </a:pPr>
            <a:r>
              <a:rPr sz="1275" b="1">
                <a:solidFill>
                  <a:srgbClr val="2048A8"/>
                </a:solidFill>
              </a:rPr>
              <a:t>Профиль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0EFB83-2481-4EF1-9E46-AF43E1F2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10648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63"/>
                </a:solidFill>
              </a:defRPr>
            </a:pPr>
            <a:r>
              <a:rPr sz="1350" b="1">
                <a:solidFill>
                  <a:srgbClr val="102A63"/>
                </a:solidFill>
              </a:rPr>
              <a:t>{{PROFILE}}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20F937-C4E5-4B79-B3CD-F4550735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48A8"/>
                </a:solidFill>
              </a:defRPr>
            </a:pPr>
            <a:r>
              <a:rPr sz="1350" b="1">
                <a:solidFill>
                  <a:srgbClr val="2048A8"/>
                </a:solidFill>
              </a:rPr>
              <a:t>Подтвержденные сильные стороны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0C54A9-1E2F-460D-8621-FF8E53F1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66675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6578CE-C19D-44D6-BCD9-1C85A42A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3105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63"/>
                </a:solidFill>
              </a:defRPr>
            </a:pPr>
            <a:r>
              <a:rPr sz="1275" b="1">
                <a:solidFill>
                  <a:srgbClr val="102A63"/>
                </a:solidFill>
              </a:rPr>
              <a:t>{{STRENGTH_1}}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169720-4BC0-4906-8998-FD266C90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91050"/>
            <a:ext cx="66675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F2AA91-5602-4D4F-8F15-58022893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67250"/>
            <a:ext cx="3105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63"/>
                </a:solidFill>
              </a:defRPr>
            </a:pPr>
            <a:r>
              <a:rPr sz="1275" b="1">
                <a:solidFill>
                  <a:srgbClr val="102A63"/>
                </a:solidFill>
              </a:rPr>
              <a:t>{{STRENGTH_2}}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F9B972-FAD9-486A-8B32-C24D69CA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91050"/>
            <a:ext cx="66675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ABA8B6-FC04-48E6-9029-F56ED20F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67250"/>
            <a:ext cx="3105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63"/>
                </a:solidFill>
              </a:defRPr>
            </a:pPr>
            <a:r>
              <a:rPr sz="1275" b="1">
                <a:solidFill>
                  <a:srgbClr val="102A63"/>
                </a:solidFill>
              </a:rPr>
              <a:t>{{STRENGTH_3}}</a:t>
            </a:r>
          </a:p>
        </p:txBody>
      </p:sp>
    </p:spTree>
    <p:extLst>
      <p:ext uri="{BB962C8B-B14F-4D97-AF65-F5344CB8AC3E}">
        <p14:creationId xmlns:p14="http://schemas.microsoft.com/office/powerpoint/2010/main" val="1563166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113970-BA14-45E3-808A-35932506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fb6d31b2f48e1"/>
          <a:stretch xmlns:a="http://schemas.openxmlformats.org/drawingml/2006/main"/>
        </p:blipFill>
        <p:spPr>
          <a:xfrm xmlns:a="http://schemas.openxmlformats.org/drawingml/2006/main">
            <a:off x="10093098" y="247650"/>
            <a:ext cx="1245054" cy="571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F8BC0-F1E8-4B05-A4C8-6AF65EF1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63"/>
                </a:solidFill>
              </a:defRPr>
            </a:pPr>
            <a:r>
              <a:rPr sz="2550" b="1">
                <a:solidFill>
                  <a:srgbClr val="102A63"/>
                </a:solidFill>
              </a:rPr>
              <a:t>Карта подтвержденных рисков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CECE9-85C6-4745-9C30-AA33B479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90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4075E-66D7-461A-A80C-BC9971E4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6A65D-BBA3-4405-A6CE-8A9584B7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579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BTG Audit System  |  by Ivan Rudoy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BC32F-06D2-4AB0-900D-AA258B0D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5797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D4AC28-BB5B-42C4-BED9-A4C4D926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51625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C8EAF-DB9B-46DC-9F4A-A58BC537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028700" cy="13525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A1000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5F818-0A3B-44D6-A831-5CE75AE5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20001"/>
                </a:solidFill>
              </a:defRPr>
            </a:pPr>
            <a:r>
              <a:rPr sz="900" b="1">
                <a:solidFill>
                  <a:srgbClr val="A20001"/>
                </a:solidFill>
              </a:rPr>
              <a:t>{{RISK_1_LEVEL}}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8D5A1-D9D8-404F-97E0-19D14103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54305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63"/>
                </a:solidFill>
              </a:defRPr>
            </a:pPr>
            <a:r>
              <a:rPr sz="1275" b="1">
                <a:solidFill>
                  <a:srgbClr val="102A63"/>
                </a:solidFill>
              </a:rPr>
              <a:t>{{RISK_1_TITLE}}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5E295-CA0D-4FFD-844E-20B98A82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19300"/>
            <a:ext cx="3695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780"/>
                </a:solidFill>
              </a:defRPr>
            </a:pPr>
            <a:r>
              <a:rPr sz="975">
                <a:solidFill>
                  <a:srgbClr val="596780"/>
                </a:solidFill>
              </a:rPr>
              <a:t>{{RISK_1_IMPACT}}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37683B-3A46-421D-8451-33799753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390650"/>
            <a:ext cx="51625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DC2408-E87A-4B88-9925-ED90A238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390650"/>
            <a:ext cx="1028700" cy="13525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A100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0144A5-0E8D-4CC0-87E0-DD520772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050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20002"/>
                </a:solidFill>
              </a:defRPr>
            </a:pPr>
            <a:r>
              <a:rPr sz="900" b="1">
                <a:solidFill>
                  <a:srgbClr val="A20002"/>
                </a:solidFill>
              </a:rPr>
              <a:t>{{RISK_2_LEVEL}}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A278D3-C7D5-4136-A895-9DA860DF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54305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63"/>
                </a:solidFill>
              </a:defRPr>
            </a:pPr>
            <a:r>
              <a:rPr sz="1275" b="1">
                <a:solidFill>
                  <a:srgbClr val="102A63"/>
                </a:solidFill>
              </a:rPr>
              <a:t>{{RISK_2_TITLE}}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DDF32A-716D-4804-8C5E-DA95FD13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19300"/>
            <a:ext cx="3695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780"/>
                </a:solidFill>
              </a:defRPr>
            </a:pPr>
            <a:r>
              <a:rPr sz="975">
                <a:solidFill>
                  <a:srgbClr val="596780"/>
                </a:solidFill>
              </a:rPr>
              <a:t>{{RISK_2_IMPACT}}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AC4654-6B70-44FC-A384-2A720CF2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51625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9182D-5868-4D3A-8874-434B3398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1028700" cy="13525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A100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DA3D7D-2163-4468-BCED-E8D5E42F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671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20003"/>
                </a:solidFill>
              </a:defRPr>
            </a:pPr>
            <a:r>
              <a:rPr sz="900" b="1">
                <a:solidFill>
                  <a:srgbClr val="A20003"/>
                </a:solidFill>
              </a:rPr>
              <a:t>{{RISK_3_LEVEL}}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B62050-B94A-460D-AE94-1E42C11C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0515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63"/>
                </a:solidFill>
              </a:defRPr>
            </a:pPr>
            <a:r>
              <a:rPr sz="1275" b="1">
                <a:solidFill>
                  <a:srgbClr val="102A63"/>
                </a:solidFill>
              </a:rPr>
              <a:t>{{RISK_3_TITLE}}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A06EC4-63F8-484A-80D2-5B57C45F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581400"/>
            <a:ext cx="3695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780"/>
                </a:solidFill>
              </a:defRPr>
            </a:pPr>
            <a:r>
              <a:rPr sz="975">
                <a:solidFill>
                  <a:srgbClr val="596780"/>
                </a:solidFill>
              </a:rPr>
              <a:t>{{RISK_3_IMPACT}}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19C45A-B18B-48CE-BACD-8D9502A6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52750"/>
            <a:ext cx="51625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368C65-2882-48F6-8532-5006CAE4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52750"/>
            <a:ext cx="1028700" cy="13525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A100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A730CC-0C06-4571-AB4F-40D531D5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20004"/>
                </a:solidFill>
              </a:defRPr>
            </a:pPr>
            <a:r>
              <a:rPr sz="900" b="1">
                <a:solidFill>
                  <a:srgbClr val="A20004"/>
                </a:solidFill>
              </a:rPr>
              <a:t>{{RISK_4_LEVEL}}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E2FA1E-67FF-403C-BBFF-851B61C6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0515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63"/>
                </a:solidFill>
              </a:defRPr>
            </a:pPr>
            <a:r>
              <a:rPr sz="1275" b="1">
                <a:solidFill>
                  <a:srgbClr val="102A63"/>
                </a:solidFill>
              </a:rPr>
              <a:t>{{RISK_4_TITLE}}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CDAE5C-0733-4643-9284-958AED93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81400"/>
            <a:ext cx="3695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780"/>
                </a:solidFill>
              </a:defRPr>
            </a:pPr>
            <a:r>
              <a:rPr sz="975">
                <a:solidFill>
                  <a:srgbClr val="596780"/>
                </a:solidFill>
              </a:rPr>
              <a:t>{{RISK_4_IMPACT}}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0437EB-0761-4E58-A5AE-88C676C6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51625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072E4C-2002-40DF-BA00-FB9616F5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028700" cy="13525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A100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7A44EB-7820-4F48-829F-8F2A0A6F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20005"/>
                </a:solidFill>
              </a:defRPr>
            </a:pPr>
            <a:r>
              <a:rPr sz="900" b="1">
                <a:solidFill>
                  <a:srgbClr val="A20005"/>
                </a:solidFill>
              </a:rPr>
              <a:t>{{RISK_5_LEVEL}}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00C46F-F4C3-4D6E-8411-BC3582C1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66725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63"/>
                </a:solidFill>
              </a:defRPr>
            </a:pPr>
            <a:r>
              <a:rPr sz="1275" b="1">
                <a:solidFill>
                  <a:srgbClr val="102A63"/>
                </a:solidFill>
              </a:rPr>
              <a:t>{{RISK_5_TITLE}}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06C4BA-86B4-4F2E-830E-901D78FA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143500"/>
            <a:ext cx="3695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780"/>
                </a:solidFill>
              </a:defRPr>
            </a:pPr>
            <a:r>
              <a:rPr sz="975">
                <a:solidFill>
                  <a:srgbClr val="596780"/>
                </a:solidFill>
              </a:rPr>
              <a:t>{{RISK_5_IMPACT}}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91BDFD-75FF-46C4-91F9-A69D9580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14850"/>
            <a:ext cx="51625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851B1E-227D-480C-A318-696B3099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14850"/>
            <a:ext cx="1028700" cy="13525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A100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679B9F-B33A-4AB3-AB08-BD5036E7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029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20006"/>
                </a:solidFill>
              </a:defRPr>
            </a:pPr>
            <a:r>
              <a:rPr sz="900" b="1">
                <a:solidFill>
                  <a:srgbClr val="A20006"/>
                </a:solidFill>
              </a:rPr>
              <a:t>{{RISK_6_LEVEL}}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B2E88D-8D2C-472B-82F5-1E016373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6725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63"/>
                </a:solidFill>
              </a:defRPr>
            </a:pPr>
            <a:r>
              <a:rPr sz="1275" b="1">
                <a:solidFill>
                  <a:srgbClr val="102A63"/>
                </a:solidFill>
              </a:rPr>
              <a:t>{{RISK_6_TITLE}}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99192D-1D0E-4A20-90E7-CA10149B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143500"/>
            <a:ext cx="3695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780"/>
                </a:solidFill>
              </a:defRPr>
            </a:pPr>
            <a:r>
              <a:rPr sz="975">
                <a:solidFill>
                  <a:srgbClr val="596780"/>
                </a:solidFill>
              </a:rPr>
              <a:t>{{RISK_6_IMPACT}}</a:t>
            </a:r>
          </a:p>
        </p:txBody>
      </p:sp>
    </p:spTree>
    <p:extLst>
      <p:ext uri="{BB962C8B-B14F-4D97-AF65-F5344CB8AC3E}">
        <p14:creationId xmlns:p14="http://schemas.microsoft.com/office/powerpoint/2010/main" val="20703583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E52B14-9246-4378-BB56-3D79A46D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661265c77a4327"/>
          <a:stretch xmlns:a="http://schemas.openxmlformats.org/drawingml/2006/main"/>
        </p:blipFill>
        <p:spPr>
          <a:xfrm xmlns:a="http://schemas.openxmlformats.org/drawingml/2006/main">
            <a:off x="10093098" y="247650"/>
            <a:ext cx="1245054" cy="571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96CD3-4AAA-4F6F-AC4A-F566BC3C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63"/>
                </a:solidFill>
              </a:defRPr>
            </a:pPr>
            <a:r>
              <a:rPr sz="2550" b="1">
                <a:solidFill>
                  <a:srgbClr val="102A63"/>
                </a:solidFill>
              </a:rPr>
              <a:t>Почему требования применимы к вашей организации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8FEC5-F122-4F6D-8530-85EF645F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90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1CBCB-48DE-48EB-A6E0-9E94712D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DF76C-FE2F-4EF8-8919-896EDF60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579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BTG Audit System  |  by Ivan Rudoy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FFB4A-8A37-4D59-9696-D96E2B58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5797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9F007-3971-4E67-9BDE-7898A918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48A8"/>
                </a:solidFill>
              </a:defRPr>
            </a:pPr>
            <a:r>
              <a:rPr sz="2025" b="1">
                <a:solidFill>
                  <a:srgbClr val="2048A8"/>
                </a:solidFill>
              </a:rPr>
              <a:t>{{REG_TITLE}}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2774F-FFA7-4819-B533-50903122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48A8"/>
                </a:solidFill>
              </a:defRPr>
            </a:pPr>
            <a:r>
              <a:rPr sz="1125" b="1">
                <a:solidFill>
                  <a:srgbClr val="2048A8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92842-0A1F-4412-AA8C-C5FA8848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63"/>
                </a:solidFill>
              </a:defRPr>
            </a:pPr>
            <a:r>
              <a:rPr sz="1500" b="1">
                <a:solidFill>
                  <a:srgbClr val="102A63"/>
                </a:solidFill>
              </a:rPr>
              <a:t>Основание профиля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096B22-CEE7-4D49-B16C-363BF12B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780"/>
                </a:solidFill>
              </a:defRPr>
            </a:pPr>
            <a:r>
              <a:rPr sz="1200">
                <a:solidFill>
                  <a:srgbClr val="596780"/>
                </a:solidFill>
              </a:rPr>
              <a:t>{{REG_APPLICABILITY}}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2F427-E273-49BE-8CD8-9149A3D1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00300"/>
            <a:ext cx="952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64DAD-78B4-49E6-A4C2-39540203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193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48A8"/>
                </a:solidFill>
              </a:defRPr>
            </a:pPr>
            <a:r>
              <a:rPr sz="1125" b="1">
                <a:solidFill>
                  <a:srgbClr val="2048A8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3ED365-2EB5-44B4-8557-C51144EF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8130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63"/>
                </a:solidFill>
              </a:defRPr>
            </a:pPr>
            <a:r>
              <a:rPr sz="1500" b="1">
                <a:solidFill>
                  <a:srgbClr val="102A63"/>
                </a:solidFill>
              </a:rPr>
              <a:t>Что требуется подтвердить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10EA4C-F207-4ECC-8A0D-78BAB701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2900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780"/>
                </a:solidFill>
              </a:defRPr>
            </a:pPr>
            <a:r>
              <a:rPr sz="1200">
                <a:solidFill>
                  <a:srgbClr val="596780"/>
                </a:solidFill>
              </a:rPr>
              <a:t>{{REG_EXPECTATIONS}}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146565-7433-4DD2-B2DB-96C2F663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00300"/>
            <a:ext cx="952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6FF82C-1577-40CE-B31E-B95FF4A5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193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48A8"/>
                </a:solidFill>
              </a:defRPr>
            </a:pPr>
            <a:r>
              <a:rPr sz="1125" b="1">
                <a:solidFill>
                  <a:srgbClr val="2048A8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D3AE45-BDF1-4B5C-BC61-8CDF7F90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8130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63"/>
                </a:solidFill>
              </a:defRPr>
            </a:pPr>
            <a:r>
              <a:rPr sz="1500" b="1">
                <a:solidFill>
                  <a:srgbClr val="102A63"/>
                </a:solidFill>
              </a:rPr>
              <a:t>Как читать рекомендации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DC1575-3A96-49A5-A42B-E79A42CC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2900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780"/>
                </a:solidFill>
              </a:defRPr>
            </a:pPr>
            <a:r>
              <a:rPr sz="1200">
                <a:solidFill>
                  <a:srgbClr val="596780"/>
                </a:solidFill>
              </a:rPr>
              <a:t>{{REG_IMPLEMENTATION}}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BC5C77-F5D5-4723-A407-13AD37AA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106489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EB55F1-7A2F-416A-BFEB-88EA2EBB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Нормы Республики Казахстан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FDB2E6-144E-4498-97B6-8F09DBBB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63"/>
                </a:solidFill>
              </a:defRPr>
            </a:pPr>
            <a:r>
              <a:rPr sz="900" b="1">
                <a:solidFill>
                  <a:srgbClr val="102A63"/>
                </a:solidFill>
              </a:rPr>
              <a:t>{{REG_ANCHORS}}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20AF77-B21B-4D9C-A960-BA0F2591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0648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DCC88D-9E1C-4789-8E51-88288177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769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Стандарты при подтверждении применимости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CEA834-95F8-46AF-A4BA-F476166E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769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63"/>
                </a:solidFill>
              </a:defRPr>
            </a:pPr>
            <a:r>
              <a:rPr sz="900" b="1">
                <a:solidFill>
                  <a:srgbClr val="102A63"/>
                </a:solidFill>
              </a:rPr>
              <a:t>{{FRAMEWORKS}}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9E47EE-A60B-42EC-A493-4DB4B5D7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0648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96780"/>
                </a:solidFill>
              </a:defRPr>
            </a:pPr>
            <a:r>
              <a:rPr sz="750">
                <a:solidFill>
                  <a:srgbClr val="596780"/>
                </a:solidFill>
              </a:rPr>
              <a:t>PCI DSS и GDPR применяются только при наличии соответствующих данных и операций.</a:t>
            </a:r>
          </a:p>
        </p:txBody>
      </p:sp>
    </p:spTree>
    <p:extLst>
      <p:ext uri="{BB962C8B-B14F-4D97-AF65-F5344CB8AC3E}">
        <p14:creationId xmlns:p14="http://schemas.microsoft.com/office/powerpoint/2010/main" val="20245396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01D5AC-FB4B-42D0-B7F8-37D91CAD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02322d22a40f5"/>
          <a:stretch xmlns:a="http://schemas.openxmlformats.org/drawingml/2006/main"/>
        </p:blipFill>
        <p:spPr>
          <a:xfrm xmlns:a="http://schemas.openxmlformats.org/drawingml/2006/main">
            <a:off x="10093098" y="247650"/>
            <a:ext cx="1245054" cy="571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807FB-E423-4054-B5B2-A4CEF363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63"/>
                </a:solidFill>
              </a:defRPr>
            </a:pPr>
            <a:r>
              <a:rPr sz="2550" b="1">
                <a:solidFill>
                  <a:srgbClr val="102A63"/>
                </a:solidFill>
              </a:rPr>
              <a:t>Рекомендации: первоочередные меры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68684-6254-47CD-B426-A2E530B7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90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7E3C9-B13D-45DC-B52A-4F48660B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A51C8-D3DA-4C38-B18E-46DB9E95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579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BTG Audit System  |  by Ivan Rudoy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1CC9B5-E841-4B2C-852E-34A64801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5797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D1D92-F3F5-43A0-B0FA-45642320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06680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7DDA2-2738-435B-8F90-D4592B94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23950" cy="20764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B1000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E0F81C-D14D-4B88-9E85-AD64A87A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20001"/>
                </a:solidFill>
              </a:defRPr>
            </a:pPr>
            <a:r>
              <a:rPr sz="900" b="1">
                <a:solidFill>
                  <a:srgbClr val="B20001"/>
                </a:solidFill>
              </a:rPr>
              <a:t>{{REC_1_LEVEL}}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DDED0-6B8B-448F-BDDA-9376C3D7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62175"/>
            <a:ext cx="74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20001"/>
                </a:solidFill>
              </a:defRPr>
            </a:pPr>
            <a:r>
              <a:rPr sz="2550" b="1">
                <a:solidFill>
                  <a:srgbClr val="B20001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084AB8-639E-4E2D-9826-3C8A808E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524000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63"/>
                </a:solidFill>
              </a:defRPr>
            </a:pPr>
            <a:r>
              <a:rPr sz="1425" b="1">
                <a:solidFill>
                  <a:srgbClr val="102A63"/>
                </a:solidFill>
              </a:rPr>
              <a:t>{{REC_1_TITLE}}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3A0A83-740B-47CF-9887-740AF22C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9335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Основание приоритета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4E6D2E-94B0-478E-ACAA-8E73769C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240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780"/>
                </a:solidFill>
              </a:defRPr>
            </a:pPr>
            <a:r>
              <a:rPr sz="975">
                <a:solidFill>
                  <a:srgbClr val="596780"/>
                </a:solidFill>
              </a:rPr>
              <a:t>{{REC_1_EVIDENCE}}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11A974-84DB-4405-99BF-E4579ABD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384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Что сделать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628125-A080-44EE-A9A3-0AE3894B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2892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63"/>
                </a:solidFill>
              </a:defRPr>
            </a:pPr>
            <a:r>
              <a:rPr sz="975" b="1">
                <a:solidFill>
                  <a:srgbClr val="102A63"/>
                </a:solidFill>
              </a:rPr>
              <a:t>{{REC_1_ACTION}}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2D1B9B-004D-441E-B182-359B06D8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52575"/>
            <a:ext cx="952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3B75F-16B9-4D13-8791-D73818C5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525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Решение и производители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5A824F-42A6-467C-B8C2-972EA6E1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621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63"/>
                </a:solidFill>
              </a:defRPr>
            </a:pPr>
            <a:r>
              <a:rPr sz="975" b="1">
                <a:solidFill>
                  <a:srgbClr val="102A63"/>
                </a:solidFill>
              </a:rPr>
              <a:t>{{REC_1_SOLUTION}} · {{REC_1_VENDORS}}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8B387B-FECB-4C71-B97D-32BED95F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Основание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CF9655-96F9-4F2E-BB00-296CA6FC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860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780"/>
                </a:solidFill>
              </a:defRPr>
            </a:pPr>
            <a:r>
              <a:rPr sz="900">
                <a:solidFill>
                  <a:srgbClr val="596780"/>
                </a:solidFill>
              </a:rPr>
              <a:t>{{REC_1_LEGAL}}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A1C018-9C24-42DE-854E-D1FA6545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051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Критерий результата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7FF3A4-8052-4A0A-A405-F3EE596A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05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63"/>
                </a:solidFill>
              </a:defRPr>
            </a:pPr>
            <a:r>
              <a:rPr sz="900" b="1">
                <a:solidFill>
                  <a:srgbClr val="102A63"/>
                </a:solidFill>
              </a:rPr>
              <a:t>{{REC_1_METRIC}}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DAE83-1F0E-4FBD-B499-E1710685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106680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FD44A2-FB71-4225-8EA4-2357D929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1123950" cy="20764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B100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31F4B3-CC01-4262-A51E-3A638538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20002"/>
                </a:solidFill>
              </a:defRPr>
            </a:pPr>
            <a:r>
              <a:rPr sz="900" b="1">
                <a:solidFill>
                  <a:srgbClr val="B20002"/>
                </a:solidFill>
              </a:rPr>
              <a:t>{{REC_2_LEVEL}}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BDA1E5-1E34-4EC5-BD22-D1E6D756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74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20002"/>
                </a:solidFill>
              </a:defRPr>
            </a:pPr>
            <a:r>
              <a:rPr sz="2550" b="1">
                <a:solidFill>
                  <a:srgbClr val="B20002"/>
                </a:solidFill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6E678B-29D2-4C7C-9F40-C28103F2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76675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63"/>
                </a:solidFill>
              </a:defRPr>
            </a:pPr>
            <a:r>
              <a:rPr sz="1425" b="1">
                <a:solidFill>
                  <a:srgbClr val="102A63"/>
                </a:solidFill>
              </a:rPr>
              <a:t>{{REC_2_TITLE}}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E90FBE-27AA-41E7-9934-620F0D09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86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Основание приоритета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857481-6D20-401F-A377-A9FB4D9F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767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780"/>
                </a:solidFill>
              </a:defRPr>
            </a:pPr>
            <a:r>
              <a:rPr sz="975">
                <a:solidFill>
                  <a:srgbClr val="596780"/>
                </a:solidFill>
              </a:rPr>
              <a:t>{{REC_2_EVIDENCE}}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79D16C-E74F-47A4-A73F-A9B3192A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911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Что сделать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6FFB04-20D4-4099-9922-6B582913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816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63"/>
                </a:solidFill>
              </a:defRPr>
            </a:pPr>
            <a:r>
              <a:rPr sz="975" b="1">
                <a:solidFill>
                  <a:srgbClr val="102A63"/>
                </a:solidFill>
              </a:rPr>
              <a:t>{{REC_2_ACTION}}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1CEB11-D645-4D92-8A57-5E6EE2A0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05250"/>
            <a:ext cx="952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BF2AA0-1107-4D7F-A1C3-B171FF0E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Решение и производители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27CC2E-4ED6-4CF3-A3B1-4AD2D0C6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148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63"/>
                </a:solidFill>
              </a:defRPr>
            </a:pPr>
            <a:r>
              <a:rPr sz="975" b="1">
                <a:solidFill>
                  <a:srgbClr val="102A63"/>
                </a:solidFill>
              </a:rPr>
              <a:t>{{REC_2_SOLUTION}} · {{REC_2_VENDORS}}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F06A1F-2BFF-4D1B-94D9-10B4FA13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386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Основание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B9DA31-33F2-40A0-B823-104556D3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38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780"/>
                </a:solidFill>
              </a:defRPr>
            </a:pPr>
            <a:r>
              <a:rPr sz="900">
                <a:solidFill>
                  <a:srgbClr val="596780"/>
                </a:solidFill>
              </a:rPr>
              <a:t>{{REC_2_LEGAL}}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D0642A-0C4F-412C-94C0-723101E8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257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Критерий результата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F2B467-3598-406C-BFCB-F0C0C7FC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4578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63"/>
                </a:solidFill>
              </a:defRPr>
            </a:pPr>
            <a:r>
              <a:rPr sz="900" b="1">
                <a:solidFill>
                  <a:srgbClr val="102A63"/>
                </a:solidFill>
              </a:rPr>
              <a:t>{{REC_2_METRIC}}</a:t>
            </a:r>
          </a:p>
        </p:txBody>
      </p:sp>
    </p:spTree>
    <p:extLst>
      <p:ext uri="{BB962C8B-B14F-4D97-AF65-F5344CB8AC3E}">
        <p14:creationId xmlns:p14="http://schemas.microsoft.com/office/powerpoint/2010/main" val="17456542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AB1A7F-3059-4F2B-90D8-1232A738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08cdef541e4fda"/>
          <a:stretch xmlns:a="http://schemas.openxmlformats.org/drawingml/2006/main"/>
        </p:blipFill>
        <p:spPr>
          <a:xfrm xmlns:a="http://schemas.openxmlformats.org/drawingml/2006/main">
            <a:off x="10093098" y="247650"/>
            <a:ext cx="1245054" cy="571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4EAEF-3954-495E-8E57-13CA3311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63"/>
                </a:solidFill>
              </a:defRPr>
            </a:pPr>
            <a:r>
              <a:rPr sz="2550" b="1">
                <a:solidFill>
                  <a:srgbClr val="102A63"/>
                </a:solidFill>
              </a:rPr>
              <a:t>Рекомендации: снижение основных рисков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BC336-7D5D-420A-BA11-A97CBAE9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90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55500-B06D-4FE7-858A-55895536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3D55D-E6A4-4F14-8286-AB3A755F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579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BTG Audit System  |  by Ivan Rudoy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679D4-3FCD-4E91-B95B-3D9B995D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5797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DE0B20-8F32-492D-B050-CCBBDD4C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06680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0A69D-A698-4DBC-9071-A25C0D40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23950" cy="20764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B100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39F6E-FDC9-4866-A9AD-F0D16582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20003"/>
                </a:solidFill>
              </a:defRPr>
            </a:pPr>
            <a:r>
              <a:rPr sz="900" b="1">
                <a:solidFill>
                  <a:srgbClr val="B20003"/>
                </a:solidFill>
              </a:rPr>
              <a:t>{{REC_3_LEVEL}}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7B89DA-BD69-4D23-993A-8CF76B16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62175"/>
            <a:ext cx="74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20003"/>
                </a:solidFill>
              </a:defRPr>
            </a:pPr>
            <a:r>
              <a:rPr sz="2550" b="1">
                <a:solidFill>
                  <a:srgbClr val="B20003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0976F-185C-4EA8-8A73-D0D7B909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524000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63"/>
                </a:solidFill>
              </a:defRPr>
            </a:pPr>
            <a:r>
              <a:rPr sz="1425" b="1">
                <a:solidFill>
                  <a:srgbClr val="102A63"/>
                </a:solidFill>
              </a:rPr>
              <a:t>{{REC_3_TITLE}}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18FB71-F7A7-4D6D-A2C5-0BDF1634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9335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Основание приоритета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CA7427-4420-475F-8B68-D4C79F0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240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780"/>
                </a:solidFill>
              </a:defRPr>
            </a:pPr>
            <a:r>
              <a:rPr sz="975">
                <a:solidFill>
                  <a:srgbClr val="596780"/>
                </a:solidFill>
              </a:rPr>
              <a:t>{{REC_3_EVIDENCE}}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6A426-A459-45F8-BB92-4D4D283C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384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Что сделать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9D94DB-2A26-4B1B-B0D7-842264DE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2892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63"/>
                </a:solidFill>
              </a:defRPr>
            </a:pPr>
            <a:r>
              <a:rPr sz="975" b="1">
                <a:solidFill>
                  <a:srgbClr val="102A63"/>
                </a:solidFill>
              </a:rPr>
              <a:t>{{REC_3_ACTION}}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A006A2-F461-42BB-A154-8DB85D0D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52575"/>
            <a:ext cx="952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6F7181-10C0-4CC7-BA06-244A9E3D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525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Решение и производители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EEF9FE-8E18-4E70-915C-EDDC8158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621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63"/>
                </a:solidFill>
              </a:defRPr>
            </a:pPr>
            <a:r>
              <a:rPr sz="975" b="1">
                <a:solidFill>
                  <a:srgbClr val="102A63"/>
                </a:solidFill>
              </a:rPr>
              <a:t>{{REC_3_SOLUTION}} · {{REC_3_VENDORS}}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CE0A43-FAEF-4D5E-AF03-0213BA11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Основание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D70E00-A8D9-49A8-99CD-757AA8FC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860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780"/>
                </a:solidFill>
              </a:defRPr>
            </a:pPr>
            <a:r>
              <a:rPr sz="900">
                <a:solidFill>
                  <a:srgbClr val="596780"/>
                </a:solidFill>
              </a:rPr>
              <a:t>{{REC_3_LEGAL}}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56AEAF-39B9-4440-9619-E94031A2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051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Критерий результата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FB6804-002F-40E9-86A4-AED5E9E2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05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63"/>
                </a:solidFill>
              </a:defRPr>
            </a:pPr>
            <a:r>
              <a:rPr sz="900" b="1">
                <a:solidFill>
                  <a:srgbClr val="102A63"/>
                </a:solidFill>
              </a:rPr>
              <a:t>{{REC_3_METRIC}}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8EAB31-93F2-4FD8-B93F-D9BDAC86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106680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F36BC7-FCC4-45BA-82DD-738D19B8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1123950" cy="20764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B100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B0141F-00E0-404C-862C-11B69265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20004"/>
                </a:solidFill>
              </a:defRPr>
            </a:pPr>
            <a:r>
              <a:rPr sz="900" b="1">
                <a:solidFill>
                  <a:srgbClr val="B20004"/>
                </a:solidFill>
              </a:rPr>
              <a:t>{{REC_4_LEVEL}}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70ABB5-EDA7-4E28-9813-6134C2E1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74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20004"/>
                </a:solidFill>
              </a:defRPr>
            </a:pPr>
            <a:r>
              <a:rPr sz="2550" b="1">
                <a:solidFill>
                  <a:srgbClr val="B20004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08BAE4-1EBC-44C1-A570-38C6E453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76675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63"/>
                </a:solidFill>
              </a:defRPr>
            </a:pPr>
            <a:r>
              <a:rPr sz="1425" b="1">
                <a:solidFill>
                  <a:srgbClr val="102A63"/>
                </a:solidFill>
              </a:rPr>
              <a:t>{{REC_4_TITLE}}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FA186D-A794-4F01-9ADF-BB9AE727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86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Основание приоритета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4410DA-68FF-4AD5-96A7-26DBA450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767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780"/>
                </a:solidFill>
              </a:defRPr>
            </a:pPr>
            <a:r>
              <a:rPr sz="975">
                <a:solidFill>
                  <a:srgbClr val="596780"/>
                </a:solidFill>
              </a:rPr>
              <a:t>{{REC_4_EVIDENCE}}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56C18C-E0AF-4AD1-83A9-B3D088EF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911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Что сделать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E893C7-E1D0-4603-A9CB-C4E1EB63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816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63"/>
                </a:solidFill>
              </a:defRPr>
            </a:pPr>
            <a:r>
              <a:rPr sz="975" b="1">
                <a:solidFill>
                  <a:srgbClr val="102A63"/>
                </a:solidFill>
              </a:rPr>
              <a:t>{{REC_4_ACTION}}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3DCDF5-696C-49A2-8BAF-7B290404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05250"/>
            <a:ext cx="952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9A7D35-74A6-4741-A975-A36BCF0B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Решение и производители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FD6238-98F2-4CDF-BC47-16DFE5B8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148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63"/>
                </a:solidFill>
              </a:defRPr>
            </a:pPr>
            <a:r>
              <a:rPr sz="975" b="1">
                <a:solidFill>
                  <a:srgbClr val="102A63"/>
                </a:solidFill>
              </a:rPr>
              <a:t>{{REC_4_SOLUTION}} · {{REC_4_VENDORS}}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E91F52-2AFB-4084-9EE8-2040EFA0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386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Основание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C312B2-0112-46E9-B82B-868F8036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38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780"/>
                </a:solidFill>
              </a:defRPr>
            </a:pPr>
            <a:r>
              <a:rPr sz="900">
                <a:solidFill>
                  <a:srgbClr val="596780"/>
                </a:solidFill>
              </a:rPr>
              <a:t>{{REC_4_LEGAL}}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5255AD-908C-4E46-A4D5-DCCA2F86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257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Критерий результата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A93E70-BCB4-41ED-8B65-9D5F419F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4578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63"/>
                </a:solidFill>
              </a:defRPr>
            </a:pPr>
            <a:r>
              <a:rPr sz="900" b="1">
                <a:solidFill>
                  <a:srgbClr val="102A63"/>
                </a:solidFill>
              </a:rPr>
              <a:t>{{REC_4_METRIC}}</a:t>
            </a:r>
          </a:p>
        </p:txBody>
      </p:sp>
    </p:spTree>
    <p:extLst>
      <p:ext uri="{BB962C8B-B14F-4D97-AF65-F5344CB8AC3E}">
        <p14:creationId xmlns:p14="http://schemas.microsoft.com/office/powerpoint/2010/main" val="8738215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7E07C6-2088-486E-AC4C-682A318B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ea43934964407"/>
          <a:stretch xmlns:a="http://schemas.openxmlformats.org/drawingml/2006/main"/>
        </p:blipFill>
        <p:spPr>
          <a:xfrm xmlns:a="http://schemas.openxmlformats.org/drawingml/2006/main">
            <a:off x="10093098" y="247650"/>
            <a:ext cx="1245054" cy="571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64D15-C071-4ED5-AA9D-51C018C3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63"/>
                </a:solidFill>
              </a:defRPr>
            </a:pPr>
            <a:r>
              <a:rPr sz="2550" b="1">
                <a:solidFill>
                  <a:srgbClr val="102A63"/>
                </a:solidFill>
              </a:rPr>
              <a:t>Рекомендации: устойчивость ИТ и ИБ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2E67D-636D-4743-AFEA-1DE15793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90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1F80A-1DCC-4384-A3B3-81E790AA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FB692-40F4-40B9-B484-999986FA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579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BTG Audit System  |  by Ivan Rudoy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09004-9F2D-4873-9488-58522D54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5797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284D7-70B4-4BA1-A56D-846BCFA3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06680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745F9-2A73-4EE6-9E2F-BEED1296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23950" cy="20764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B100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BB67E-6134-4578-8B48-759B8B88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20005"/>
                </a:solidFill>
              </a:defRPr>
            </a:pPr>
            <a:r>
              <a:rPr sz="900" b="1">
                <a:solidFill>
                  <a:srgbClr val="B20005"/>
                </a:solidFill>
              </a:rPr>
              <a:t>{{REC_5_LEVEL}}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166F8-5E67-4C89-852B-1576DCD3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62175"/>
            <a:ext cx="74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20005"/>
                </a:solidFill>
              </a:defRPr>
            </a:pPr>
            <a:r>
              <a:rPr sz="2550" b="1">
                <a:solidFill>
                  <a:srgbClr val="B20005"/>
                </a:solidFill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C3CB9C-82A0-4432-AE8D-3571C33C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524000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63"/>
                </a:solidFill>
              </a:defRPr>
            </a:pPr>
            <a:r>
              <a:rPr sz="1425" b="1">
                <a:solidFill>
                  <a:srgbClr val="102A63"/>
                </a:solidFill>
              </a:rPr>
              <a:t>{{REC_5_TITLE}}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FA141-9AA8-44B7-97F9-181F2AA8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9335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Основание приоритета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B5FFCE-CCCF-4BF8-87A2-BCAF2AB1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240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780"/>
                </a:solidFill>
              </a:defRPr>
            </a:pPr>
            <a:r>
              <a:rPr sz="975">
                <a:solidFill>
                  <a:srgbClr val="596780"/>
                </a:solidFill>
              </a:rPr>
              <a:t>{{REC_5_EVIDENCE}}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A140C-0BA9-4C7E-810A-4DF3B506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384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Что сделать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5D14C5-2712-4AED-974D-1B373484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2892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63"/>
                </a:solidFill>
              </a:defRPr>
            </a:pPr>
            <a:r>
              <a:rPr sz="975" b="1">
                <a:solidFill>
                  <a:srgbClr val="102A63"/>
                </a:solidFill>
              </a:rPr>
              <a:t>{{REC_5_ACTION}}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14B91-AD78-4651-B5EE-C7CC65A1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52575"/>
            <a:ext cx="952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506436-D282-4A7E-A5D7-F13A050D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525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Решение и производители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FB40EC-D233-4FF6-A2DE-38C2D159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621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63"/>
                </a:solidFill>
              </a:defRPr>
            </a:pPr>
            <a:r>
              <a:rPr sz="975" b="1">
                <a:solidFill>
                  <a:srgbClr val="102A63"/>
                </a:solidFill>
              </a:rPr>
              <a:t>{{REC_5_SOLUTION}} · {{REC_5_VENDORS}}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B29666-CF80-458B-A646-5F58BD83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Основание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864375-0EA3-417B-B60F-3557A5CE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860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780"/>
                </a:solidFill>
              </a:defRPr>
            </a:pPr>
            <a:r>
              <a:rPr sz="900">
                <a:solidFill>
                  <a:srgbClr val="596780"/>
                </a:solidFill>
              </a:rPr>
              <a:t>{{REC_5_LEGAL}}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DF507E-8ACE-4DF2-9713-A7F7720A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051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Критерий результата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25DF8F-B3DF-48E0-B172-17A17BBE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05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63"/>
                </a:solidFill>
              </a:defRPr>
            </a:pPr>
            <a:r>
              <a:rPr sz="900" b="1">
                <a:solidFill>
                  <a:srgbClr val="102A63"/>
                </a:solidFill>
              </a:rPr>
              <a:t>{{REC_5_METRIC}}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88F581-8CD3-44B5-80AF-2DA54444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106680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C60832-305A-41F8-BA16-12205ED7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1123950" cy="20764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B100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2B6427-2170-4D92-9E47-E46B7715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20006"/>
                </a:solidFill>
              </a:defRPr>
            </a:pPr>
            <a:r>
              <a:rPr sz="900" b="1">
                <a:solidFill>
                  <a:srgbClr val="B20006"/>
                </a:solidFill>
              </a:rPr>
              <a:t>{{REC_6_LEVEL}}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5FB970-E282-4A1A-B7E8-8D8815BB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74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20006"/>
                </a:solidFill>
              </a:defRPr>
            </a:pPr>
            <a:r>
              <a:rPr sz="2550" b="1">
                <a:solidFill>
                  <a:srgbClr val="B20006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B174A7-2B94-4044-94D8-36B52285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76675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63"/>
                </a:solidFill>
              </a:defRPr>
            </a:pPr>
            <a:r>
              <a:rPr sz="1425" b="1">
                <a:solidFill>
                  <a:srgbClr val="102A63"/>
                </a:solidFill>
              </a:rPr>
              <a:t>{{REC_6_TITLE}}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57CFB7-AFFE-4AC5-8C00-3316E16A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86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Основание приоритета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AE4956-F662-46DD-B8B2-1DA0838F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767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780"/>
                </a:solidFill>
              </a:defRPr>
            </a:pPr>
            <a:r>
              <a:rPr sz="975">
                <a:solidFill>
                  <a:srgbClr val="596780"/>
                </a:solidFill>
              </a:rPr>
              <a:t>{{REC_6_EVIDENCE}}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A35CEC-511C-49B5-8570-94CF3059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911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Что сделать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25C003-9D14-48E0-834C-CD0B3BC4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816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63"/>
                </a:solidFill>
              </a:defRPr>
            </a:pPr>
            <a:r>
              <a:rPr sz="975" b="1">
                <a:solidFill>
                  <a:srgbClr val="102A63"/>
                </a:solidFill>
              </a:rPr>
              <a:t>{{REC_6_ACTION}}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688BD6-E410-41DD-A38A-DDD549FB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05250"/>
            <a:ext cx="952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CB524F-3B32-4BBA-8D5E-76C0D363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Решение и производители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C7ABE8-6E25-4F20-8EA7-FBC15A2E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148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63"/>
                </a:solidFill>
              </a:defRPr>
            </a:pPr>
            <a:r>
              <a:rPr sz="975" b="1">
                <a:solidFill>
                  <a:srgbClr val="102A63"/>
                </a:solidFill>
              </a:rPr>
              <a:t>{{REC_6_SOLUTION}} · {{REC_6_VENDORS}}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5443CA-E8F9-4F17-9A28-3509C93B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386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Основание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28CB5E-C2AF-4FB3-A7DB-0E0A00F2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38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780"/>
                </a:solidFill>
              </a:defRPr>
            </a:pPr>
            <a:r>
              <a:rPr sz="900">
                <a:solidFill>
                  <a:srgbClr val="596780"/>
                </a:solidFill>
              </a:rPr>
              <a:t>{{REC_6_LEGAL}}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F9D32B-2081-49C5-AD50-5B4CB44C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257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Критерий результата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CF942A-F3D7-4C57-AC3E-6C7FA2D6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4578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63"/>
                </a:solidFill>
              </a:defRPr>
            </a:pPr>
            <a:r>
              <a:rPr sz="900" b="1">
                <a:solidFill>
                  <a:srgbClr val="102A63"/>
                </a:solidFill>
              </a:rPr>
              <a:t>{{REC_6_METRIC}}</a:t>
            </a:r>
          </a:p>
        </p:txBody>
      </p:sp>
    </p:spTree>
    <p:extLst>
      <p:ext uri="{BB962C8B-B14F-4D97-AF65-F5344CB8AC3E}">
        <p14:creationId xmlns:p14="http://schemas.microsoft.com/office/powerpoint/2010/main" val="19312041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90AA48-EFC5-407A-B7DF-3F97D763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78e069d6cb45d2"/>
          <a:stretch xmlns:a="http://schemas.openxmlformats.org/drawingml/2006/main"/>
        </p:blipFill>
        <p:spPr>
          <a:xfrm xmlns:a="http://schemas.openxmlformats.org/drawingml/2006/main">
            <a:off x="10093098" y="247650"/>
            <a:ext cx="1245054" cy="571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2153B-1BF6-43F1-AFE1-1C11B348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63"/>
                </a:solidFill>
              </a:defRPr>
            </a:pPr>
            <a:r>
              <a:rPr sz="2550" b="1">
                <a:solidFill>
                  <a:srgbClr val="102A63"/>
                </a:solidFill>
              </a:rPr>
              <a:t>Рекомендации: следующий уровень зрелости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39732-4AD1-479B-9EDF-DC70BCB1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90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DC6B6-004E-47D5-AAB3-4B90D08F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74291-E523-4C4B-B674-192279A5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579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BTG Audit System  |  by Ivan Rudoy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CC403-DE94-40C3-8FE1-7007C9AA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5797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FD2B8-C03C-40EA-B1A8-66E5344E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06680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E97A8-1051-4956-9640-785F9302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23950" cy="20764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B100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E8AF44-E2AE-4A6B-B36A-33AA004A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20007"/>
                </a:solidFill>
              </a:defRPr>
            </a:pPr>
            <a:r>
              <a:rPr sz="900" b="1">
                <a:solidFill>
                  <a:srgbClr val="B20007"/>
                </a:solidFill>
              </a:rPr>
              <a:t>{{REC_7_LEVEL}}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9A6C9C-4B4F-4E9E-A2AC-DD103970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62175"/>
            <a:ext cx="74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20007"/>
                </a:solidFill>
              </a:defRPr>
            </a:pPr>
            <a:r>
              <a:rPr sz="2550" b="1">
                <a:solidFill>
                  <a:srgbClr val="B20007"/>
                </a:solidFill>
              </a:rPr>
              <a:t>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0C703-4885-4AA3-9BB4-6F66DF42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524000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63"/>
                </a:solidFill>
              </a:defRPr>
            </a:pPr>
            <a:r>
              <a:rPr sz="1425" b="1">
                <a:solidFill>
                  <a:srgbClr val="102A63"/>
                </a:solidFill>
              </a:rPr>
              <a:t>{{REC_7_TITLE}}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ED40A-AB62-41F6-B421-F2B35B66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9335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Основание приоритета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D69070-B229-4756-AE66-454F00EE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240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780"/>
                </a:solidFill>
              </a:defRPr>
            </a:pPr>
            <a:r>
              <a:rPr sz="975">
                <a:solidFill>
                  <a:srgbClr val="596780"/>
                </a:solidFill>
              </a:rPr>
              <a:t>{{REC_7_EVIDENCE}}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67A384-498A-4F72-AF21-64F9263A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384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Что сделать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00399F-7ED4-438A-941F-86332921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2892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63"/>
                </a:solidFill>
              </a:defRPr>
            </a:pPr>
            <a:r>
              <a:rPr sz="975" b="1">
                <a:solidFill>
                  <a:srgbClr val="102A63"/>
                </a:solidFill>
              </a:rPr>
              <a:t>{{REC_7_ACTION}}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975AF2-9B74-45A5-B657-D6E2C157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52575"/>
            <a:ext cx="952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534312-0297-40EF-9DAF-3BB3831E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525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Решение и производители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FB54C5-3D23-4CD2-A86C-142D69F4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621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63"/>
                </a:solidFill>
              </a:defRPr>
            </a:pPr>
            <a:r>
              <a:rPr sz="975" b="1">
                <a:solidFill>
                  <a:srgbClr val="102A63"/>
                </a:solidFill>
              </a:rPr>
              <a:t>{{REC_7_SOLUTION}} · {{REC_7_VENDORS}}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3E4D53-E61E-4ED8-A0EA-CD34AB28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Основание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2AE897-7179-4C10-A27D-4A6A0F7E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860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780"/>
                </a:solidFill>
              </a:defRPr>
            </a:pPr>
            <a:r>
              <a:rPr sz="900">
                <a:solidFill>
                  <a:srgbClr val="596780"/>
                </a:solidFill>
              </a:rPr>
              <a:t>{{REC_7_LEGAL}}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AFC877-5958-4CA7-B464-D0A2661A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051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Критерий результата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DAC203-9627-408D-9923-A05EDA1D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05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63"/>
                </a:solidFill>
              </a:defRPr>
            </a:pPr>
            <a:r>
              <a:rPr sz="900" b="1">
                <a:solidFill>
                  <a:srgbClr val="102A63"/>
                </a:solidFill>
              </a:rPr>
              <a:t>{{REC_7_METRIC}}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F24A0E-35D6-463B-963A-23D43CAC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106680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546424-5510-43E6-862F-C2B8D1DD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1123950" cy="20764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B100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760810-4B49-4757-88CE-802F4138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20008"/>
                </a:solidFill>
              </a:defRPr>
            </a:pPr>
            <a:r>
              <a:rPr sz="900" b="1">
                <a:solidFill>
                  <a:srgbClr val="B20008"/>
                </a:solidFill>
              </a:rPr>
              <a:t>{{REC_8_LEVEL}}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D4DD6E-05C0-4722-8710-586E92B3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74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20008"/>
                </a:solidFill>
              </a:defRPr>
            </a:pPr>
            <a:r>
              <a:rPr sz="2550" b="1">
                <a:solidFill>
                  <a:srgbClr val="B20008"/>
                </a:solidFill>
              </a:rPr>
              <a:t>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9F4B24-8C3A-4685-BF82-929E74BF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76675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63"/>
                </a:solidFill>
              </a:defRPr>
            </a:pPr>
            <a:r>
              <a:rPr sz="1425" b="1">
                <a:solidFill>
                  <a:srgbClr val="102A63"/>
                </a:solidFill>
              </a:rPr>
              <a:t>{{REC_8_TITLE}}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DBC71D-A210-42DA-8EA3-8226755B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86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Основание приоритета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B55997-1F54-4328-9834-E6BCB25F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767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780"/>
                </a:solidFill>
              </a:defRPr>
            </a:pPr>
            <a:r>
              <a:rPr sz="975">
                <a:solidFill>
                  <a:srgbClr val="596780"/>
                </a:solidFill>
              </a:rPr>
              <a:t>{{REC_8_EVIDENCE}}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A251DC-58F0-4D70-9263-16E6E665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911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Что сделать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5114BC-EC7D-4864-B585-148308E9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816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63"/>
                </a:solidFill>
              </a:defRPr>
            </a:pPr>
            <a:r>
              <a:rPr sz="975" b="1">
                <a:solidFill>
                  <a:srgbClr val="102A63"/>
                </a:solidFill>
              </a:rPr>
              <a:t>{{REC_8_ACTION}}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F2504E-1F15-402D-90BC-72E9CA2E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05250"/>
            <a:ext cx="952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EABEE4-3540-4234-A30F-09581605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Решение и производители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92AFBD-DF5B-4458-9874-D448DC0C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148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63"/>
                </a:solidFill>
              </a:defRPr>
            </a:pPr>
            <a:r>
              <a:rPr sz="975" b="1">
                <a:solidFill>
                  <a:srgbClr val="102A63"/>
                </a:solidFill>
              </a:rPr>
              <a:t>{{REC_8_SOLUTION}} · {{REC_8_VENDORS}}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C64BD1-01B0-4B03-BD41-30163A77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386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Основание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3A8AC0-734E-41FD-A201-49F3E7E4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38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780"/>
                </a:solidFill>
              </a:defRPr>
            </a:pPr>
            <a:r>
              <a:rPr sz="900">
                <a:solidFill>
                  <a:srgbClr val="596780"/>
                </a:solidFill>
              </a:rPr>
              <a:t>{{REC_8_LEGAL}}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66BBB8-3A1B-4789-8806-4BE243EE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257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48A8"/>
                </a:solidFill>
              </a:defRPr>
            </a:pPr>
            <a:r>
              <a:rPr sz="825" b="1">
                <a:solidFill>
                  <a:srgbClr val="2048A8"/>
                </a:solidFill>
              </a:rPr>
              <a:t>Критерий результата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5774AC-E98E-4FE0-8190-9921F9E7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4578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63"/>
                </a:solidFill>
              </a:defRPr>
            </a:pPr>
            <a:r>
              <a:rPr sz="900" b="1">
                <a:solidFill>
                  <a:srgbClr val="102A63"/>
                </a:solidFill>
              </a:rPr>
              <a:t>{{REC_8_METRIC}}</a:t>
            </a:r>
          </a:p>
        </p:txBody>
      </p:sp>
    </p:spTree>
    <p:extLst>
      <p:ext uri="{BB962C8B-B14F-4D97-AF65-F5344CB8AC3E}">
        <p14:creationId xmlns:p14="http://schemas.microsoft.com/office/powerpoint/2010/main" val="20468079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611DF0-4BF3-47C0-9901-A08E613D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36bc5711f4e0d"/>
          <a:stretch xmlns:a="http://schemas.openxmlformats.org/drawingml/2006/main"/>
        </p:blipFill>
        <p:spPr>
          <a:xfrm xmlns:a="http://schemas.openxmlformats.org/drawingml/2006/main">
            <a:off x="10093098" y="247650"/>
            <a:ext cx="1245054" cy="571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4CEAF-A834-41CA-AD32-A046D256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63"/>
                </a:solidFill>
              </a:defRPr>
            </a:pPr>
            <a:r>
              <a:rPr sz="2550" b="1">
                <a:solidFill>
                  <a:srgbClr val="102A63"/>
                </a:solidFill>
              </a:rPr>
              <a:t>План на 90 дней переводит выводы в действия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8AB02-7C7B-46A3-801E-BD15DD59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90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7D59D-A068-4C7E-8F01-6A4A74F9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44D8A-7C62-4446-A1D5-617C9600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579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BTG Audit System  |  by Ivan Rudoy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7A51D-F210-43BF-832B-B072CC11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5797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1A445-FB89-4CDF-AABF-01721B06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064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780"/>
                </a:solidFill>
              </a:defRPr>
            </a:pPr>
            <a:r>
              <a:rPr sz="1350">
                <a:solidFill>
                  <a:srgbClr val="596780"/>
                </a:solidFill>
              </a:rPr>
              <a:t>Сначала 20% первоочередных мер, которые закрывают основную долю подтвержденных рисков.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BBAF14-309F-43D0-A118-5D205C29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52650"/>
            <a:ext cx="876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AF68B-AEAC-4BF5-8880-EA1BB9D2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48A8"/>
                </a:solidFill>
              </a:defRPr>
            </a:pPr>
            <a:r>
              <a:rPr sz="1275" b="1">
                <a:solidFill>
                  <a:srgbClr val="2048A8"/>
                </a:solidFill>
              </a:rPr>
              <a:t>0–30 дней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967C2A-389F-45E1-A422-A2445646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924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5419B-C4DE-4470-84FA-ADE3C6B7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2882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D3CDB4-C576-439B-A048-91AAB4B2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8900"/>
            <a:ext cx="3181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48A8"/>
                </a:solidFill>
              </a:defRPr>
            </a:pPr>
            <a:r>
              <a:rPr sz="975" b="1">
                <a:solidFill>
                  <a:srgbClr val="2048A8"/>
                </a:solidFill>
              </a:rPr>
              <a:t>ПРИОРИТЕТЫ И БЫСТРЫЕ МЕРЫ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834E6A-8705-4940-AAF3-0D119DF8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048A8"/>
                </a:solidFill>
              </a:defRPr>
            </a:pPr>
            <a:r>
              <a:rPr sz="975" b="1">
                <a:solidFill>
                  <a:srgbClr val="2048A8"/>
                </a:solidFill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3D10BC-0612-434A-B32E-B947FCBC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278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2A63"/>
                </a:solidFill>
              </a:defRPr>
            </a:pPr>
            <a:r>
              <a:rPr sz="1125">
                <a:solidFill>
                  <a:srgbClr val="102A63"/>
                </a:solidFill>
              </a:rPr>
              <a:t>{{ROADMAP_1_1}}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ABF158-1694-4DA2-85CD-93A59482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048A8"/>
                </a:solidFill>
              </a:defRPr>
            </a:pPr>
            <a:r>
              <a:rPr sz="975" b="1">
                <a:solidFill>
                  <a:srgbClr val="2048A8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C4EFBB-50A7-46BE-90EF-1A11DDB8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278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2A63"/>
                </a:solidFill>
              </a:defRPr>
            </a:pPr>
            <a:r>
              <a:rPr sz="1125">
                <a:solidFill>
                  <a:srgbClr val="102A63"/>
                </a:solidFill>
              </a:rPr>
              <a:t>{{ROADMAP_1_2}}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02435-7CFD-439D-80E4-343E3AAF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2550"/>
            <a:ext cx="31813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CE3A2D-826F-445A-9413-87CC45DC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2876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048A8"/>
                </a:solidFill>
              </a:defRPr>
            </a:pPr>
            <a:r>
              <a:rPr sz="750" b="1">
                <a:solidFill>
                  <a:srgbClr val="2048A8"/>
                </a:solidFill>
              </a:rPr>
              <a:t>ЧТО ДАСТ ЭТАП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04CC32-6866-421A-8587-622E96D2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149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63"/>
                </a:solidFill>
              </a:defRPr>
            </a:pPr>
            <a:r>
              <a:rPr sz="975" b="1">
                <a:solidFill>
                  <a:srgbClr val="102A63"/>
                </a:solidFill>
              </a:rPr>
              <a:t>{{ROADMAP_1_RESULT}}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9EB4D6-9113-44A6-83A1-B8A45880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628900"/>
            <a:ext cx="9525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B35477-5280-4CE4-A354-C3BF2363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5260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63"/>
                </a:solidFill>
              </a:defRPr>
            </a:pPr>
            <a:r>
              <a:rPr sz="1275" b="1">
                <a:solidFill>
                  <a:srgbClr val="102A63"/>
                </a:solidFill>
              </a:rPr>
              <a:t>31–60 дней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D952D9-4FCA-40BF-87ED-7BC55D6E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924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BCC15C-1FE8-484B-A22C-6E0FB140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2882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5484CB-501C-4F54-9DBC-10FB0E6B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28900"/>
            <a:ext cx="3181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48A8"/>
                </a:solidFill>
              </a:defRPr>
            </a:pPr>
            <a:r>
              <a:rPr sz="975" b="1">
                <a:solidFill>
                  <a:srgbClr val="2048A8"/>
                </a:solidFill>
              </a:rPr>
              <a:t>ПИЛОТЫ И РЕГЛАМЕНТЫ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0E4F22-C28F-4212-9D59-362B2DE0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575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048A8"/>
                </a:solidFill>
              </a:defRPr>
            </a:pPr>
            <a:r>
              <a:rPr sz="975" b="1">
                <a:solidFill>
                  <a:srgbClr val="2048A8"/>
                </a:solidFill>
              </a:rPr>
              <a:t>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CDFED3-79E8-4E95-A3AF-0EDE6D82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00400"/>
            <a:ext cx="278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2A63"/>
                </a:solidFill>
              </a:defRPr>
            </a:pPr>
            <a:r>
              <a:rPr sz="1125">
                <a:solidFill>
                  <a:srgbClr val="102A63"/>
                </a:solidFill>
              </a:rPr>
              <a:t>{{ROADMAP_2_1}}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56AFC3-342C-4BEA-A108-624C5DEC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719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048A8"/>
                </a:solidFill>
              </a:defRPr>
            </a:pPr>
            <a:r>
              <a:rPr sz="975" b="1">
                <a:solidFill>
                  <a:srgbClr val="2048A8"/>
                </a:solidFill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44F6E7-3234-4D8F-A15E-FE34D12E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14800"/>
            <a:ext cx="278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2A63"/>
                </a:solidFill>
              </a:defRPr>
            </a:pPr>
            <a:r>
              <a:rPr sz="1125">
                <a:solidFill>
                  <a:srgbClr val="102A63"/>
                </a:solidFill>
              </a:rPr>
              <a:t>{{ROADMAP_2_2}}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7ABE7A-FE0A-487D-A555-C72FB151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62550"/>
            <a:ext cx="31813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32EDF3-6F9F-46B0-B8C1-FFA7A0A6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286375"/>
            <a:ext cx="2876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048A8"/>
                </a:solidFill>
              </a:defRPr>
            </a:pPr>
            <a:r>
              <a:rPr sz="750" b="1">
                <a:solidFill>
                  <a:srgbClr val="2048A8"/>
                </a:solidFill>
              </a:rPr>
              <a:t>ЧТО ДАСТ ЭТАП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FC5D15-6F9D-489C-AACC-9BACE33E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5149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63"/>
                </a:solidFill>
              </a:defRPr>
            </a:pPr>
            <a:r>
              <a:rPr sz="975" b="1">
                <a:solidFill>
                  <a:srgbClr val="102A63"/>
                </a:solidFill>
              </a:rPr>
              <a:t>{{ROADMAP_2_RESULT}}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4BF13B-81F7-40CF-9679-EED290B7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628900"/>
            <a:ext cx="9525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D616CF-019B-48EC-B351-CB969B20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5260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63"/>
                </a:solidFill>
              </a:defRPr>
            </a:pPr>
            <a:r>
              <a:rPr sz="1275" b="1">
                <a:solidFill>
                  <a:srgbClr val="102A63"/>
                </a:solidFill>
              </a:rPr>
              <a:t>61–90 дней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A7F4D3-E0BF-4202-AA93-5FD654B6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924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7623E7-C177-41B7-88C4-34589200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2882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9C1B22-88E8-418D-98DE-F07E95EC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28900"/>
            <a:ext cx="3181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48A8"/>
                </a:solidFill>
              </a:defRPr>
            </a:pPr>
            <a:r>
              <a:rPr sz="975" b="1">
                <a:solidFill>
                  <a:srgbClr val="2048A8"/>
                </a:solidFill>
              </a:rPr>
              <a:t>МАСШТАБИРОВАНИЕ И КОНТРОЛЬ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7415B1-98D0-4804-9C49-9E6318CC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575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048A8"/>
                </a:solidFill>
              </a:defRPr>
            </a:pPr>
            <a:r>
              <a:rPr sz="975" b="1">
                <a:solidFill>
                  <a:srgbClr val="2048A8"/>
                </a:solidFill>
              </a:rPr>
              <a:t>01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691976-A3F8-47FD-AB1D-353230BD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00400"/>
            <a:ext cx="278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2A63"/>
                </a:solidFill>
              </a:defRPr>
            </a:pPr>
            <a:r>
              <a:rPr sz="1125">
                <a:solidFill>
                  <a:srgbClr val="102A63"/>
                </a:solidFill>
              </a:rPr>
              <a:t>{{ROADMAP_3_1}}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1120A4-BCCD-4963-A3BC-BCA5B7AA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719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048A8"/>
                </a:solidFill>
              </a:defRPr>
            </a:pPr>
            <a:r>
              <a:rPr sz="975" b="1">
                <a:solidFill>
                  <a:srgbClr val="2048A8"/>
                </a:solidFill>
              </a:rPr>
              <a:t>02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BFA2EC-3765-4E65-B1D9-50E5A34E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14800"/>
            <a:ext cx="278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2A63"/>
                </a:solidFill>
              </a:defRPr>
            </a:pPr>
            <a:r>
              <a:rPr sz="1125">
                <a:solidFill>
                  <a:srgbClr val="102A63"/>
                </a:solidFill>
              </a:rPr>
              <a:t>{{ROADMAP_3_2}}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451643-AFFB-4BE9-8225-785007FC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62550"/>
            <a:ext cx="31813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2E3E69-3621-438A-8DA9-56A33801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86375"/>
            <a:ext cx="2876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048A8"/>
                </a:solidFill>
              </a:defRPr>
            </a:pPr>
            <a:r>
              <a:rPr sz="750" b="1">
                <a:solidFill>
                  <a:srgbClr val="2048A8"/>
                </a:solidFill>
              </a:rPr>
              <a:t>ЧТО ДАСТ ЭТАП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0818D7-F5EE-4444-902E-D4FECA1C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5149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63"/>
                </a:solidFill>
              </a:defRPr>
            </a:pPr>
            <a:r>
              <a:rPr sz="975" b="1">
                <a:solidFill>
                  <a:srgbClr val="102A63"/>
                </a:solidFill>
              </a:rPr>
              <a:t>{{ROADMAP_3_RESULT}}</a:t>
            </a:r>
          </a:p>
        </p:txBody>
      </p:sp>
    </p:spTree>
    <p:extLst>
      <p:ext uri="{BB962C8B-B14F-4D97-AF65-F5344CB8AC3E}">
        <p14:creationId xmlns:p14="http://schemas.microsoft.com/office/powerpoint/2010/main" val="8070362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B18783-AF8E-4262-AAFE-69A82773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236852f184b4c"/>
          <a:stretch xmlns:a="http://schemas.openxmlformats.org/drawingml/2006/main"/>
        </p:blipFill>
        <p:spPr>
          <a:xfrm xmlns:a="http://schemas.openxmlformats.org/drawingml/2006/main">
            <a:off x="10093098" y="247650"/>
            <a:ext cx="1245054" cy="571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0A187-B22D-4A91-8570-D97F8E81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63"/>
                </a:solidFill>
              </a:defRPr>
            </a:pPr>
            <a:r>
              <a:rPr sz="2550" b="1">
                <a:solidFill>
                  <a:srgbClr val="102A63"/>
                </a:solidFill>
              </a:rPr>
              <a:t>Команда для реализации изменений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4D72B-5E5E-4E89-89DE-F7A0F0BF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90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978E9-113A-4F97-B3A3-FC67272F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5B300-71FC-48FD-8C88-373A5169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579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BTG Audit System  |  by Ivan Rudoy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842606-0C89-4710-9C3A-431F86CB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5797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865FD-0D4D-4517-94BE-C51132B1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63"/>
                </a:solidFill>
              </a:defRPr>
            </a:pPr>
            <a:r>
              <a:rPr sz="2025" b="1">
                <a:solidFill>
                  <a:srgbClr val="102A63"/>
                </a:solidFill>
              </a:rPr>
              <a:t>ТОО «Bolashak Tamer Group»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117FF-7EDA-42E6-A6A3-043F6785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514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780"/>
                </a:solidFill>
              </a:defRPr>
            </a:pPr>
            <a:r>
              <a:rPr sz="1350">
                <a:solidFill>
                  <a:srgbClr val="596780"/>
                </a:solidFill>
              </a:rPr>
              <a:t>Системный интегратор и поставщик ИТ-решений для государственных и корпоративных организаций.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C7682-DE0F-4D14-B3FD-CC760B45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8610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48A8"/>
                </a:solidFill>
              </a:defRPr>
            </a:pPr>
            <a:r>
              <a:rPr sz="1650" b="1">
                <a:solidFill>
                  <a:srgbClr val="2048A8"/>
                </a:solidFill>
              </a:rPr>
              <a:t>От оценки и проектирования до внедрения, поддержки и развития.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E45710-394E-4FD3-9319-78534A1F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63"/>
                </a:solidFill>
              </a:defRPr>
            </a:pPr>
            <a:r>
              <a:rPr sz="2325" b="1">
                <a:solidFill>
                  <a:srgbClr val="102A63"/>
                </a:solidFill>
              </a:rPr>
              <a:t>2019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19953-A96B-4AFC-AC74-055BFC47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96780"/>
                </a:solidFill>
              </a:defRPr>
            </a:pPr>
            <a:r>
              <a:rPr sz="975">
                <a:solidFill>
                  <a:srgbClr val="596780"/>
                </a:solidFill>
              </a:rPr>
              <a:t>год основания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41A7B-1D99-414C-8B42-12E2D6FD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434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63"/>
                </a:solidFill>
              </a:defRPr>
            </a:pPr>
            <a:r>
              <a:rPr sz="2325" b="1">
                <a:solidFill>
                  <a:srgbClr val="102A63"/>
                </a:solidFill>
              </a:rPr>
              <a:t>70+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EBF81-F1EB-43D8-A988-952C0D0A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577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96780"/>
                </a:solidFill>
              </a:defRPr>
            </a:pPr>
            <a:r>
              <a:rPr sz="975">
                <a:solidFill>
                  <a:srgbClr val="596780"/>
                </a:solidFill>
              </a:rPr>
              <a:t>крупных проектов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EBC457-F841-4096-B389-D5E6DBB7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3434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63"/>
                </a:solidFill>
              </a:defRPr>
            </a:pPr>
            <a:r>
              <a:rPr sz="2325" b="1">
                <a:solidFill>
                  <a:srgbClr val="102A63"/>
                </a:solidFill>
              </a:rPr>
              <a:t>40+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943199-463C-458E-A7F5-9F602401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8577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96780"/>
                </a:solidFill>
              </a:defRPr>
            </a:pPr>
            <a:r>
              <a:rPr sz="975">
                <a:solidFill>
                  <a:srgbClr val="596780"/>
                </a:solidFill>
              </a:rPr>
              <a:t>технологических партнеров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14E535-CB82-4E7E-B691-2819E7A8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9065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FD33B0-90CF-4783-9234-39B798D0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63"/>
                </a:solidFill>
              </a:defRPr>
            </a:pPr>
            <a:r>
              <a:rPr sz="1725" b="1">
                <a:solidFill>
                  <a:srgbClr val="102A63"/>
                </a:solidFill>
              </a:rPr>
              <a:t>Компетенции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9CC15E-BADD-450C-9C61-21585E52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48A8"/>
                </a:solidFill>
              </a:defRPr>
            </a:pPr>
            <a:r>
              <a:rPr sz="1050" b="1">
                <a:solidFill>
                  <a:srgbClr val="2048A8"/>
                </a:solidFill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612196-CE7E-4C9F-897D-313B2DE9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33625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63"/>
                </a:solidFill>
              </a:defRPr>
            </a:pPr>
            <a:r>
              <a:rPr sz="1275" b="1">
                <a:solidFill>
                  <a:srgbClr val="102A63"/>
                </a:solidFill>
              </a:rPr>
              <a:t>Аудит и информационная безопасность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F2F9E6-92D2-4A90-AA9D-D7E1513B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48A8"/>
                </a:solidFill>
              </a:defRPr>
            </a:pPr>
            <a:r>
              <a:rPr sz="1050" b="1">
                <a:solidFill>
                  <a:srgbClr val="2048A8"/>
                </a:solidFill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FFE200-67E0-4961-B792-A1E8A9B1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14675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63"/>
                </a:solidFill>
              </a:defRPr>
            </a:pPr>
            <a:r>
              <a:rPr sz="1275" b="1">
                <a:solidFill>
                  <a:srgbClr val="102A63"/>
                </a:solidFill>
              </a:rPr>
              <a:t>Сетевая и серверная инфраструктура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F18B24-6D9D-4813-A29A-C315C4F5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243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48A8"/>
                </a:solidFill>
              </a:defRPr>
            </a:pPr>
            <a:r>
              <a:rPr sz="1050" b="1">
                <a:solidFill>
                  <a:srgbClr val="2048A8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B345EB-1EE0-4980-B6D8-1845C30E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95725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63"/>
                </a:solidFill>
              </a:defRPr>
            </a:pPr>
            <a:r>
              <a:rPr sz="1275" b="1">
                <a:solidFill>
                  <a:srgbClr val="102A63"/>
                </a:solidFill>
              </a:rPr>
              <a:t>Автоматизация и цифровые решения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8291FB-16C3-4BEE-9E15-1409895A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53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48A8"/>
                </a:solidFill>
              </a:defRPr>
            </a:pPr>
            <a:r>
              <a:rPr sz="1050" b="1">
                <a:solidFill>
                  <a:srgbClr val="2048A8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7BBDB6-2857-449A-9AA9-25A1B68D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76775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63"/>
                </a:solidFill>
              </a:defRPr>
            </a:pPr>
            <a:r>
              <a:rPr sz="1275" b="1">
                <a:solidFill>
                  <a:srgbClr val="102A63"/>
                </a:solidFill>
              </a:rPr>
              <a:t>Внедрение, поддержка и передача знаний</a:t>
            </a:r>
          </a:p>
        </p:txBody>
      </p:sp>
    </p:spTree>
    <p:extLst>
      <p:ext uri="{BB962C8B-B14F-4D97-AF65-F5344CB8AC3E}">
        <p14:creationId xmlns:p14="http://schemas.microsoft.com/office/powerpoint/2010/main" val="15364447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586B29-F35A-4627-A9EE-AE7FDE7D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fe51b89683493b"/>
          <a:stretch xmlns:a="http://schemas.openxmlformats.org/drawingml/2006/main"/>
        </p:blipFill>
        <p:spPr>
          <a:xfrm xmlns:a="http://schemas.openxmlformats.org/drawingml/2006/main">
            <a:off x="10093098" y="247650"/>
            <a:ext cx="1245054" cy="571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E92B7-C0D0-4CF8-8CC7-5E7B4332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63"/>
                </a:solidFill>
              </a:defRPr>
            </a:pPr>
            <a:r>
              <a:rPr sz="2550" b="1">
                <a:solidFill>
                  <a:srgbClr val="102A63"/>
                </a:solidFill>
              </a:rPr>
              <a:t>Зафиксируйте решения и следующий шаг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2E90C-6C2D-430C-AC61-B7CB38F6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90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5D872-B6EA-46F0-ABF2-C1A6273A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0920E-4EC6-4DCF-AA3A-0CC3D446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579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BTG Audit System  |  by Ivan Rudoy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DC03F-B6D3-4065-99A1-3AE2F34F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5797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5CFFE-0867-4640-82B3-7C2144A5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48A8"/>
                </a:solidFill>
              </a:defRPr>
            </a:pPr>
            <a:r>
              <a:rPr sz="1200" b="1">
                <a:solidFill>
                  <a:srgbClr val="2048A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B1A1B-C416-47E0-878C-8556C3DA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24000"/>
            <a:ext cx="6419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A63"/>
                </a:solidFill>
              </a:defRPr>
            </a:pPr>
            <a:r>
              <a:rPr sz="1275">
                <a:solidFill>
                  <a:srgbClr val="102A63"/>
                </a:solidFill>
              </a:rPr>
              <a:t>{{DECISION_1}}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1E1915-10C4-4DC8-A330-9EFD0CDB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E2450-F043-48DD-8E23-AEBA209D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48A8"/>
                </a:solidFill>
              </a:defRPr>
            </a:pPr>
            <a:r>
              <a:rPr sz="1200" b="1">
                <a:solidFill>
                  <a:srgbClr val="2048A8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83894C-97AA-4C46-B5AD-C89A9567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90800"/>
            <a:ext cx="6419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A63"/>
                </a:solidFill>
              </a:defRPr>
            </a:pPr>
            <a:r>
              <a:rPr sz="1275">
                <a:solidFill>
                  <a:srgbClr val="102A63"/>
                </a:solidFill>
              </a:rPr>
              <a:t>{{DECISION_2}}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FF582-BF45-4467-BDFB-9D115ED0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6710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671210-F536-4378-BFEE-4AE61CDC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48A8"/>
                </a:solidFill>
              </a:defRPr>
            </a:pPr>
            <a:r>
              <a:rPr sz="1200" b="1">
                <a:solidFill>
                  <a:srgbClr val="2048A8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C20EE-4A49-4E16-8BB9-F286D64B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6419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A63"/>
                </a:solidFill>
              </a:defRPr>
            </a:pPr>
            <a:r>
              <a:rPr sz="1275">
                <a:solidFill>
                  <a:srgbClr val="102A63"/>
                </a:solidFill>
              </a:rPr>
              <a:t>{{DECISION_3}}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000B54-5587-4F20-96E5-F22355F3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3390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3393D8-F02D-44B6-A583-16449076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48A8"/>
                </a:solidFill>
              </a:defRPr>
            </a:pPr>
            <a:r>
              <a:rPr sz="1200" b="1">
                <a:solidFill>
                  <a:srgbClr val="2048A8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E1E165-10C2-4D06-A6C3-4436FA5F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24400"/>
            <a:ext cx="6419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A63"/>
                </a:solidFill>
              </a:defRPr>
            </a:pPr>
            <a:r>
              <a:rPr sz="1275">
                <a:solidFill>
                  <a:srgbClr val="102A63"/>
                </a:solidFill>
              </a:rPr>
              <a:t>{{DECISION_4}}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C7784B-AD2D-4B92-93E5-4C0C9D4A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90650"/>
            <a:ext cx="3467100" cy="4705350"/>
          </a:xfrm>
          <a:prstGeom xmlns:a="http://schemas.openxmlformats.org/drawingml/2006/main" prst="roundRect">
            <a:avLst>
              <a:gd name="adj" fmla="val 3297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E905F1-9C57-45F1-8442-E19513BF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573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A63"/>
                </a:solidFill>
              </a:defRPr>
            </a:pPr>
            <a:r>
              <a:rPr sz="1875" b="1">
                <a:solidFill>
                  <a:srgbClr val="102A63"/>
                </a:solidFill>
              </a:rPr>
              <a:t>Хотите получить больше сведений?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C93D15-D1AA-4115-8D3D-E7F8B2DF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0505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96780"/>
                </a:solidFill>
              </a:defRPr>
            </a:pPr>
            <a:r>
              <a:rPr sz="1200">
                <a:solidFill>
                  <a:srgbClr val="596780"/>
                </a:solidFill>
              </a:rPr>
              <a:t>Обсудим приоритеты, варианты решений и практический план внедрения.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02173db4af49f1"/>
          <a:stretch xmlns:a="http://schemas.openxmlformats.org/drawingml/2006/main"/>
        </p:blipFill>
        <p:spPr>
          <a:xfrm xmlns:a="http://schemas.openxmlformats.org/drawingml/2006/main">
            <a:off x="8705850" y="2990850"/>
            <a:ext cx="1866900" cy="18669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93F615-762F-4C44-BF24-86BA5560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530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96780"/>
                </a:solidFill>
              </a:defRPr>
            </a:pPr>
            <a:r>
              <a:rPr sz="975">
                <a:solidFill>
                  <a:srgbClr val="596780"/>
                </a:solidFill>
              </a:rPr>
              <a:t>Сканируйте QR, чтобы сохранить контакты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7B3B2D-C052-40AF-9EDF-57F5D392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3149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48A8"/>
                </a:solidFill>
              </a:defRPr>
            </a:pPr>
            <a:r>
              <a:rPr sz="1125" b="1">
                <a:solidFill>
                  <a:srgbClr val="2048A8"/>
                </a:solidFill>
              </a:rPr>
              <a:t>info@btgroup.kz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46E877-F510-48B0-8B3F-D6CBEB05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5816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63"/>
                </a:solidFill>
              </a:defRPr>
            </a:pPr>
            <a:r>
              <a:rPr sz="1125" b="1">
                <a:solidFill>
                  <a:srgbClr val="102A63"/>
                </a:solidFill>
              </a:rPr>
              <a:t>+7 706 700 48 35</a:t>
            </a:r>
          </a:p>
        </p:txBody>
      </p:sp>
    </p:spTree>
    <p:extLst>
      <p:ext uri="{BB962C8B-B14F-4D97-AF65-F5344CB8AC3E}">
        <p14:creationId xmlns:p14="http://schemas.microsoft.com/office/powerpoint/2010/main" val="13970509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2026-07-17T15:38:55.8750000Z</dcterms:created>
  <dcterms:modified xsi:type="dcterms:W3CDTF">2026-07-17T15:38:55.8750000Z</dcterms:modified>
</coreProperties>
</file>